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theme/themeOverride1.xml" ContentType="application/vnd.openxmlformats-officedocument.themeOverr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4"/>
  </p:notesMasterIdLst>
  <p:sldIdLst>
    <p:sldId id="257" r:id="rId2"/>
    <p:sldId id="258" r:id="rId3"/>
    <p:sldId id="259" r:id="rId4"/>
    <p:sldId id="260" r:id="rId5"/>
    <p:sldId id="261" r:id="rId6"/>
    <p:sldId id="262" r:id="rId7"/>
    <p:sldId id="263" r:id="rId8"/>
    <p:sldId id="264" r:id="rId9"/>
    <p:sldId id="265" r:id="rId10"/>
    <p:sldId id="266" r:id="rId11"/>
    <p:sldId id="271" r:id="rId12"/>
    <p:sldId id="270"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704EA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82" d="100"/>
          <a:sy n="82" d="100"/>
        </p:scale>
        <p:origin x="720"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2CE9A8C-3F50-49F8-A835-316C22A1110D}" type="datetimeFigureOut">
              <a:rPr lang="en-IN" smtClean="0"/>
              <a:t>30-09-2026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F3343F9-2D09-4642-A3BD-5BF627A067F3}" type="slidenum">
              <a:rPr lang="en-IN" smtClean="0"/>
              <a:t>‹#›</a:t>
            </a:fld>
            <a:endParaRPr lang="en-IN"/>
          </a:p>
        </p:txBody>
      </p:sp>
    </p:spTree>
    <p:extLst>
      <p:ext uri="{BB962C8B-B14F-4D97-AF65-F5344CB8AC3E}">
        <p14:creationId xmlns:p14="http://schemas.microsoft.com/office/powerpoint/2010/main" val="56916316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slide for the 3rd edition of the PRISM Generative AI Hackathon. Replace the SAMSUNG PRISM pill with the official PRISM logo image if you have the asset. Confirm the academic year label (2026-27) before circulating.</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Closing slide. Add the Google Form URL and a contact email before sharing. Edition 2 organising team for reference: Language AI - Sourabh Tiwari, Gaurav, Sanjeeth Pothireddy, Gorang Maniar; PRISM - Binny Lakra, Prakhar Chandrakar, Vishu Kumar; Kick-off and mentors - Giridhar Jakki, Deepraj Prabhakar Patkar (Language AI), Srimanu Prasad Nagaraju, Ashish Kumar (Tech Strategy).</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2CFE64-7CE6-4299-B8FE-939866A3EB6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09E4360C-492F-4E2E-B967-599B2BD31D7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56870CDB-78C3-4602-B35C-A826CBF20916}"/>
              </a:ext>
            </a:extLst>
          </p:cNvPr>
          <p:cNvSpPr>
            <a:spLocks noGrp="1"/>
          </p:cNvSpPr>
          <p:nvPr>
            <p:ph type="dt" sz="half" idx="10"/>
          </p:nvPr>
        </p:nvSpPr>
        <p:spPr/>
        <p:txBody>
          <a:bodyPr/>
          <a:lstStyle/>
          <a:p>
            <a:fld id="{2AF27EEE-1B67-445E-AA5D-351EC91D1DEB}" type="datetimeFigureOut">
              <a:rPr lang="en-IN" smtClean="0"/>
              <a:t>30-09-2026</a:t>
            </a:fld>
            <a:endParaRPr lang="en-IN"/>
          </a:p>
        </p:txBody>
      </p:sp>
      <p:sp>
        <p:nvSpPr>
          <p:cNvPr id="5" name="Footer Placeholder 4">
            <a:extLst>
              <a:ext uri="{FF2B5EF4-FFF2-40B4-BE49-F238E27FC236}">
                <a16:creationId xmlns:a16="http://schemas.microsoft.com/office/drawing/2014/main" id="{F585EF81-E96A-4C8D-A4F0-A9DF05C49CC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9FA2448-68BE-42AE-8001-48ECE62DC431}"/>
              </a:ext>
            </a:extLst>
          </p:cNvPr>
          <p:cNvSpPr>
            <a:spLocks noGrp="1"/>
          </p:cNvSpPr>
          <p:nvPr>
            <p:ph type="sldNum" sz="quarter" idx="12"/>
          </p:nvPr>
        </p:nvSpPr>
        <p:spPr/>
        <p:txBody>
          <a:bodyPr/>
          <a:lstStyle/>
          <a:p>
            <a:fld id="{BF5B04A4-2082-4D7E-8466-9BA22C990A78}" type="slidenum">
              <a:rPr lang="en-IN" smtClean="0"/>
              <a:t>‹#›</a:t>
            </a:fld>
            <a:endParaRPr lang="en-IN"/>
          </a:p>
        </p:txBody>
      </p:sp>
    </p:spTree>
    <p:extLst>
      <p:ext uri="{BB962C8B-B14F-4D97-AF65-F5344CB8AC3E}">
        <p14:creationId xmlns:p14="http://schemas.microsoft.com/office/powerpoint/2010/main" val="355120668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2C5E08-CE8A-45BE-8C3E-C04A49CC8A66}"/>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65FCCB0C-95AB-4F7A-955D-2DC18750BFD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E96DA85-2FDE-4136-B9F6-AF0965475E5A}"/>
              </a:ext>
            </a:extLst>
          </p:cNvPr>
          <p:cNvSpPr>
            <a:spLocks noGrp="1"/>
          </p:cNvSpPr>
          <p:nvPr>
            <p:ph type="dt" sz="half" idx="10"/>
          </p:nvPr>
        </p:nvSpPr>
        <p:spPr/>
        <p:txBody>
          <a:bodyPr/>
          <a:lstStyle/>
          <a:p>
            <a:fld id="{2AF27EEE-1B67-445E-AA5D-351EC91D1DEB}" type="datetimeFigureOut">
              <a:rPr lang="en-IN" smtClean="0"/>
              <a:t>30-09-2026</a:t>
            </a:fld>
            <a:endParaRPr lang="en-IN"/>
          </a:p>
        </p:txBody>
      </p:sp>
      <p:sp>
        <p:nvSpPr>
          <p:cNvPr id="5" name="Footer Placeholder 4">
            <a:extLst>
              <a:ext uri="{FF2B5EF4-FFF2-40B4-BE49-F238E27FC236}">
                <a16:creationId xmlns:a16="http://schemas.microsoft.com/office/drawing/2014/main" id="{299B0367-ACE7-48B9-82C8-A7BFD1F98E9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C09A210-6017-4F71-9E78-B2C329B4A7E3}"/>
              </a:ext>
            </a:extLst>
          </p:cNvPr>
          <p:cNvSpPr>
            <a:spLocks noGrp="1"/>
          </p:cNvSpPr>
          <p:nvPr>
            <p:ph type="sldNum" sz="quarter" idx="12"/>
          </p:nvPr>
        </p:nvSpPr>
        <p:spPr/>
        <p:txBody>
          <a:bodyPr/>
          <a:lstStyle/>
          <a:p>
            <a:fld id="{BF5B04A4-2082-4D7E-8466-9BA22C990A78}" type="slidenum">
              <a:rPr lang="en-IN" smtClean="0"/>
              <a:t>‹#›</a:t>
            </a:fld>
            <a:endParaRPr lang="en-IN"/>
          </a:p>
        </p:txBody>
      </p:sp>
    </p:spTree>
    <p:extLst>
      <p:ext uri="{BB962C8B-B14F-4D97-AF65-F5344CB8AC3E}">
        <p14:creationId xmlns:p14="http://schemas.microsoft.com/office/powerpoint/2010/main" val="315812476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AE6C5-6752-4963-B842-280808B201D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2FEA6DFC-697D-4605-86C0-8572E022BEC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A341469-A18C-498E-BACC-28BCBFE904BB}"/>
              </a:ext>
            </a:extLst>
          </p:cNvPr>
          <p:cNvSpPr>
            <a:spLocks noGrp="1"/>
          </p:cNvSpPr>
          <p:nvPr>
            <p:ph type="dt" sz="half" idx="10"/>
          </p:nvPr>
        </p:nvSpPr>
        <p:spPr/>
        <p:txBody>
          <a:bodyPr/>
          <a:lstStyle/>
          <a:p>
            <a:fld id="{2AF27EEE-1B67-445E-AA5D-351EC91D1DEB}" type="datetimeFigureOut">
              <a:rPr lang="en-IN" smtClean="0"/>
              <a:t>30-09-2026</a:t>
            </a:fld>
            <a:endParaRPr lang="en-IN"/>
          </a:p>
        </p:txBody>
      </p:sp>
      <p:sp>
        <p:nvSpPr>
          <p:cNvPr id="5" name="Footer Placeholder 4">
            <a:extLst>
              <a:ext uri="{FF2B5EF4-FFF2-40B4-BE49-F238E27FC236}">
                <a16:creationId xmlns:a16="http://schemas.microsoft.com/office/drawing/2014/main" id="{FAED5D3B-1983-426F-A1AE-7470C43BB0E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135ABB1-45F2-4FEA-BB5A-3B053892DBC7}"/>
              </a:ext>
            </a:extLst>
          </p:cNvPr>
          <p:cNvSpPr>
            <a:spLocks noGrp="1"/>
          </p:cNvSpPr>
          <p:nvPr>
            <p:ph type="sldNum" sz="quarter" idx="12"/>
          </p:nvPr>
        </p:nvSpPr>
        <p:spPr/>
        <p:txBody>
          <a:bodyPr/>
          <a:lstStyle/>
          <a:p>
            <a:fld id="{BF5B04A4-2082-4D7E-8466-9BA22C990A78}" type="slidenum">
              <a:rPr lang="en-IN" smtClean="0"/>
              <a:t>‹#›</a:t>
            </a:fld>
            <a:endParaRPr lang="en-IN"/>
          </a:p>
        </p:txBody>
      </p:sp>
    </p:spTree>
    <p:extLst>
      <p:ext uri="{BB962C8B-B14F-4D97-AF65-F5344CB8AC3E}">
        <p14:creationId xmlns:p14="http://schemas.microsoft.com/office/powerpoint/2010/main" val="102653012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A3F4AE-F142-401B-A5D1-4A52FF92CA0A}"/>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BC7C9BD1-2876-4C52-83CF-1CBA9D931B3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6CE624D8-76A7-478F-ACA3-5749DEFD0E0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0F29A939-0957-4E96-B38D-0B2E39D4137F}"/>
              </a:ext>
            </a:extLst>
          </p:cNvPr>
          <p:cNvSpPr>
            <a:spLocks noGrp="1"/>
          </p:cNvSpPr>
          <p:nvPr>
            <p:ph type="dt" sz="half" idx="10"/>
          </p:nvPr>
        </p:nvSpPr>
        <p:spPr/>
        <p:txBody>
          <a:bodyPr/>
          <a:lstStyle/>
          <a:p>
            <a:fld id="{2AF27EEE-1B67-445E-AA5D-351EC91D1DEB}" type="datetimeFigureOut">
              <a:rPr lang="en-IN" smtClean="0"/>
              <a:t>30-09-2026</a:t>
            </a:fld>
            <a:endParaRPr lang="en-IN"/>
          </a:p>
        </p:txBody>
      </p:sp>
      <p:sp>
        <p:nvSpPr>
          <p:cNvPr id="6" name="Footer Placeholder 5">
            <a:extLst>
              <a:ext uri="{FF2B5EF4-FFF2-40B4-BE49-F238E27FC236}">
                <a16:creationId xmlns:a16="http://schemas.microsoft.com/office/drawing/2014/main" id="{C89D44E1-B8BA-490F-B30A-538CC4D48FF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9184BB79-7CA5-414E-B5B6-6A8E9AEE4A94}"/>
              </a:ext>
            </a:extLst>
          </p:cNvPr>
          <p:cNvSpPr>
            <a:spLocks noGrp="1"/>
          </p:cNvSpPr>
          <p:nvPr>
            <p:ph type="sldNum" sz="quarter" idx="12"/>
          </p:nvPr>
        </p:nvSpPr>
        <p:spPr/>
        <p:txBody>
          <a:bodyPr/>
          <a:lstStyle/>
          <a:p>
            <a:fld id="{BF5B04A4-2082-4D7E-8466-9BA22C990A78}" type="slidenum">
              <a:rPr lang="en-IN" smtClean="0"/>
              <a:t>‹#›</a:t>
            </a:fld>
            <a:endParaRPr lang="en-IN"/>
          </a:p>
        </p:txBody>
      </p:sp>
    </p:spTree>
    <p:extLst>
      <p:ext uri="{BB962C8B-B14F-4D97-AF65-F5344CB8AC3E}">
        <p14:creationId xmlns:p14="http://schemas.microsoft.com/office/powerpoint/2010/main" val="27435428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586CE8-8BA4-4FB1-ACAA-E38F8ED7F745}"/>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A2570902-F321-482A-924A-FF9A87CA5D6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85B6F67-E437-4FE8-851B-B016F33CFE9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37CE7897-2D17-49F8-8762-68F8D5794FB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63AE8E8-43BB-400D-8934-6D6B21D3A58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2FDB6608-03F3-45EF-80BD-C6E305C07128}"/>
              </a:ext>
            </a:extLst>
          </p:cNvPr>
          <p:cNvSpPr>
            <a:spLocks noGrp="1"/>
          </p:cNvSpPr>
          <p:nvPr>
            <p:ph type="dt" sz="half" idx="10"/>
          </p:nvPr>
        </p:nvSpPr>
        <p:spPr/>
        <p:txBody>
          <a:bodyPr/>
          <a:lstStyle/>
          <a:p>
            <a:fld id="{2AF27EEE-1B67-445E-AA5D-351EC91D1DEB}" type="datetimeFigureOut">
              <a:rPr lang="en-IN" smtClean="0"/>
              <a:t>30-09-2026</a:t>
            </a:fld>
            <a:endParaRPr lang="en-IN"/>
          </a:p>
        </p:txBody>
      </p:sp>
      <p:sp>
        <p:nvSpPr>
          <p:cNvPr id="8" name="Footer Placeholder 7">
            <a:extLst>
              <a:ext uri="{FF2B5EF4-FFF2-40B4-BE49-F238E27FC236}">
                <a16:creationId xmlns:a16="http://schemas.microsoft.com/office/drawing/2014/main" id="{E665D75D-3AD4-4D0E-A5BC-9000973FD8E7}"/>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7706A546-DC61-467F-A112-3AC0277BB9A8}"/>
              </a:ext>
            </a:extLst>
          </p:cNvPr>
          <p:cNvSpPr>
            <a:spLocks noGrp="1"/>
          </p:cNvSpPr>
          <p:nvPr>
            <p:ph type="sldNum" sz="quarter" idx="12"/>
          </p:nvPr>
        </p:nvSpPr>
        <p:spPr/>
        <p:txBody>
          <a:bodyPr/>
          <a:lstStyle/>
          <a:p>
            <a:fld id="{BF5B04A4-2082-4D7E-8466-9BA22C990A78}" type="slidenum">
              <a:rPr lang="en-IN" smtClean="0"/>
              <a:t>‹#›</a:t>
            </a:fld>
            <a:endParaRPr lang="en-IN"/>
          </a:p>
        </p:txBody>
      </p:sp>
    </p:spTree>
    <p:extLst>
      <p:ext uri="{BB962C8B-B14F-4D97-AF65-F5344CB8AC3E}">
        <p14:creationId xmlns:p14="http://schemas.microsoft.com/office/powerpoint/2010/main" val="317166924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CC8549-E392-4F05-B762-B5370E51C922}"/>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C1059880-A67D-4A24-9138-E937AE75075F}"/>
              </a:ext>
            </a:extLst>
          </p:cNvPr>
          <p:cNvSpPr>
            <a:spLocks noGrp="1"/>
          </p:cNvSpPr>
          <p:nvPr>
            <p:ph type="dt" sz="half" idx="10"/>
          </p:nvPr>
        </p:nvSpPr>
        <p:spPr/>
        <p:txBody>
          <a:bodyPr/>
          <a:lstStyle/>
          <a:p>
            <a:fld id="{2AF27EEE-1B67-445E-AA5D-351EC91D1DEB}" type="datetimeFigureOut">
              <a:rPr lang="en-IN" smtClean="0"/>
              <a:t>30-09-2026</a:t>
            </a:fld>
            <a:endParaRPr lang="en-IN"/>
          </a:p>
        </p:txBody>
      </p:sp>
      <p:sp>
        <p:nvSpPr>
          <p:cNvPr id="4" name="Footer Placeholder 3">
            <a:extLst>
              <a:ext uri="{FF2B5EF4-FFF2-40B4-BE49-F238E27FC236}">
                <a16:creationId xmlns:a16="http://schemas.microsoft.com/office/drawing/2014/main" id="{01BF6EC7-BFAB-4137-9343-C66B7829AB57}"/>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8FA6B929-B579-4261-8171-35357AE9A33C}"/>
              </a:ext>
            </a:extLst>
          </p:cNvPr>
          <p:cNvSpPr>
            <a:spLocks noGrp="1"/>
          </p:cNvSpPr>
          <p:nvPr>
            <p:ph type="sldNum" sz="quarter" idx="12"/>
          </p:nvPr>
        </p:nvSpPr>
        <p:spPr/>
        <p:txBody>
          <a:bodyPr/>
          <a:lstStyle/>
          <a:p>
            <a:fld id="{BF5B04A4-2082-4D7E-8466-9BA22C990A78}" type="slidenum">
              <a:rPr lang="en-IN" smtClean="0"/>
              <a:t>‹#›</a:t>
            </a:fld>
            <a:endParaRPr lang="en-IN"/>
          </a:p>
        </p:txBody>
      </p:sp>
    </p:spTree>
    <p:extLst>
      <p:ext uri="{BB962C8B-B14F-4D97-AF65-F5344CB8AC3E}">
        <p14:creationId xmlns:p14="http://schemas.microsoft.com/office/powerpoint/2010/main" val="233729450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CBAFEDF-BA35-4A7C-9388-604C048D57D0}"/>
              </a:ext>
            </a:extLst>
          </p:cNvPr>
          <p:cNvSpPr>
            <a:spLocks noGrp="1"/>
          </p:cNvSpPr>
          <p:nvPr>
            <p:ph type="dt" sz="half" idx="10"/>
          </p:nvPr>
        </p:nvSpPr>
        <p:spPr/>
        <p:txBody>
          <a:bodyPr/>
          <a:lstStyle/>
          <a:p>
            <a:fld id="{2AF27EEE-1B67-445E-AA5D-351EC91D1DEB}" type="datetimeFigureOut">
              <a:rPr lang="en-IN" smtClean="0"/>
              <a:t>30-09-2026</a:t>
            </a:fld>
            <a:endParaRPr lang="en-IN"/>
          </a:p>
        </p:txBody>
      </p:sp>
      <p:sp>
        <p:nvSpPr>
          <p:cNvPr id="3" name="Footer Placeholder 2">
            <a:extLst>
              <a:ext uri="{FF2B5EF4-FFF2-40B4-BE49-F238E27FC236}">
                <a16:creationId xmlns:a16="http://schemas.microsoft.com/office/drawing/2014/main" id="{11C80271-5700-43CC-A9BA-B2AAB47B2145}"/>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7EA712EA-BE6D-4AE5-B09E-215DE5B0EE93}"/>
              </a:ext>
            </a:extLst>
          </p:cNvPr>
          <p:cNvSpPr>
            <a:spLocks noGrp="1"/>
          </p:cNvSpPr>
          <p:nvPr>
            <p:ph type="sldNum" sz="quarter" idx="12"/>
          </p:nvPr>
        </p:nvSpPr>
        <p:spPr/>
        <p:txBody>
          <a:bodyPr/>
          <a:lstStyle/>
          <a:p>
            <a:fld id="{BF5B04A4-2082-4D7E-8466-9BA22C990A78}" type="slidenum">
              <a:rPr lang="en-IN" smtClean="0"/>
              <a:t>‹#›</a:t>
            </a:fld>
            <a:endParaRPr lang="en-IN"/>
          </a:p>
        </p:txBody>
      </p:sp>
    </p:spTree>
    <p:extLst>
      <p:ext uri="{BB962C8B-B14F-4D97-AF65-F5344CB8AC3E}">
        <p14:creationId xmlns:p14="http://schemas.microsoft.com/office/powerpoint/2010/main" val="175907212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2A6235-A416-4C23-BE8E-8FC1CF0EC17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B4A2C36B-7DDF-4371-9F0A-6E5B64554F5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813FA19A-E15E-47EA-B9B9-5F7FD0AA0B7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9E84724-CA93-4332-A03F-0909AC5249AD}"/>
              </a:ext>
            </a:extLst>
          </p:cNvPr>
          <p:cNvSpPr>
            <a:spLocks noGrp="1"/>
          </p:cNvSpPr>
          <p:nvPr>
            <p:ph type="dt" sz="half" idx="10"/>
          </p:nvPr>
        </p:nvSpPr>
        <p:spPr/>
        <p:txBody>
          <a:bodyPr/>
          <a:lstStyle/>
          <a:p>
            <a:fld id="{2AF27EEE-1B67-445E-AA5D-351EC91D1DEB}" type="datetimeFigureOut">
              <a:rPr lang="en-IN" smtClean="0"/>
              <a:t>30-09-2026</a:t>
            </a:fld>
            <a:endParaRPr lang="en-IN"/>
          </a:p>
        </p:txBody>
      </p:sp>
      <p:sp>
        <p:nvSpPr>
          <p:cNvPr id="6" name="Footer Placeholder 5">
            <a:extLst>
              <a:ext uri="{FF2B5EF4-FFF2-40B4-BE49-F238E27FC236}">
                <a16:creationId xmlns:a16="http://schemas.microsoft.com/office/drawing/2014/main" id="{E403302F-D853-499A-BB91-3BD5366E677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234AD427-BF9D-4A47-AF08-E4983B90C65A}"/>
              </a:ext>
            </a:extLst>
          </p:cNvPr>
          <p:cNvSpPr>
            <a:spLocks noGrp="1"/>
          </p:cNvSpPr>
          <p:nvPr>
            <p:ph type="sldNum" sz="quarter" idx="12"/>
          </p:nvPr>
        </p:nvSpPr>
        <p:spPr/>
        <p:txBody>
          <a:bodyPr/>
          <a:lstStyle/>
          <a:p>
            <a:fld id="{BF5B04A4-2082-4D7E-8466-9BA22C990A78}" type="slidenum">
              <a:rPr lang="en-IN" smtClean="0"/>
              <a:t>‹#›</a:t>
            </a:fld>
            <a:endParaRPr lang="en-IN"/>
          </a:p>
        </p:txBody>
      </p:sp>
    </p:spTree>
    <p:extLst>
      <p:ext uri="{BB962C8B-B14F-4D97-AF65-F5344CB8AC3E}">
        <p14:creationId xmlns:p14="http://schemas.microsoft.com/office/powerpoint/2010/main" val="404118808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C1B540-7747-44F5-A3A4-69F051F3632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FA4392B5-0943-4B18-9708-C9FA86F8353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547DFA04-BB4C-4DC0-9831-EB32549F5EA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101BDBD-01E1-44D7-AB93-513FF196A2C4}"/>
              </a:ext>
            </a:extLst>
          </p:cNvPr>
          <p:cNvSpPr>
            <a:spLocks noGrp="1"/>
          </p:cNvSpPr>
          <p:nvPr>
            <p:ph type="dt" sz="half" idx="10"/>
          </p:nvPr>
        </p:nvSpPr>
        <p:spPr/>
        <p:txBody>
          <a:bodyPr/>
          <a:lstStyle/>
          <a:p>
            <a:fld id="{2AF27EEE-1B67-445E-AA5D-351EC91D1DEB}" type="datetimeFigureOut">
              <a:rPr lang="en-IN" smtClean="0"/>
              <a:t>30-09-2026</a:t>
            </a:fld>
            <a:endParaRPr lang="en-IN"/>
          </a:p>
        </p:txBody>
      </p:sp>
      <p:sp>
        <p:nvSpPr>
          <p:cNvPr id="6" name="Footer Placeholder 5">
            <a:extLst>
              <a:ext uri="{FF2B5EF4-FFF2-40B4-BE49-F238E27FC236}">
                <a16:creationId xmlns:a16="http://schemas.microsoft.com/office/drawing/2014/main" id="{D87D7BDB-9CCD-44F3-A4FB-D4BAE589BE3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ABC8D8A-A70C-4D57-8271-DCF5EEFC33AE}"/>
              </a:ext>
            </a:extLst>
          </p:cNvPr>
          <p:cNvSpPr>
            <a:spLocks noGrp="1"/>
          </p:cNvSpPr>
          <p:nvPr>
            <p:ph type="sldNum" sz="quarter" idx="12"/>
          </p:nvPr>
        </p:nvSpPr>
        <p:spPr/>
        <p:txBody>
          <a:bodyPr/>
          <a:lstStyle/>
          <a:p>
            <a:fld id="{BF5B04A4-2082-4D7E-8466-9BA22C990A78}" type="slidenum">
              <a:rPr lang="en-IN" smtClean="0"/>
              <a:t>‹#›</a:t>
            </a:fld>
            <a:endParaRPr lang="en-IN"/>
          </a:p>
        </p:txBody>
      </p:sp>
    </p:spTree>
    <p:extLst>
      <p:ext uri="{BB962C8B-B14F-4D97-AF65-F5344CB8AC3E}">
        <p14:creationId xmlns:p14="http://schemas.microsoft.com/office/powerpoint/2010/main" val="21223624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5A63EB-C66D-4D2D-9928-25D57CFDCDD2}"/>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3D91A17B-5319-4265-82A2-5D286CFAFD8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E972F85-7902-4426-947E-3509F7A06CB1}"/>
              </a:ext>
            </a:extLst>
          </p:cNvPr>
          <p:cNvSpPr>
            <a:spLocks noGrp="1"/>
          </p:cNvSpPr>
          <p:nvPr>
            <p:ph type="dt" sz="half" idx="10"/>
          </p:nvPr>
        </p:nvSpPr>
        <p:spPr/>
        <p:txBody>
          <a:bodyPr/>
          <a:lstStyle/>
          <a:p>
            <a:fld id="{2AF27EEE-1B67-445E-AA5D-351EC91D1DEB}" type="datetimeFigureOut">
              <a:rPr lang="en-IN" smtClean="0"/>
              <a:t>30-09-2026</a:t>
            </a:fld>
            <a:endParaRPr lang="en-IN"/>
          </a:p>
        </p:txBody>
      </p:sp>
      <p:sp>
        <p:nvSpPr>
          <p:cNvPr id="5" name="Footer Placeholder 4">
            <a:extLst>
              <a:ext uri="{FF2B5EF4-FFF2-40B4-BE49-F238E27FC236}">
                <a16:creationId xmlns:a16="http://schemas.microsoft.com/office/drawing/2014/main" id="{FD08658F-7DA3-40F3-B6FA-CF740F858EB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F6B0DE9-130B-4DA8-9A0C-06A295C9D82C}"/>
              </a:ext>
            </a:extLst>
          </p:cNvPr>
          <p:cNvSpPr>
            <a:spLocks noGrp="1"/>
          </p:cNvSpPr>
          <p:nvPr>
            <p:ph type="sldNum" sz="quarter" idx="12"/>
          </p:nvPr>
        </p:nvSpPr>
        <p:spPr/>
        <p:txBody>
          <a:bodyPr/>
          <a:lstStyle/>
          <a:p>
            <a:fld id="{BF5B04A4-2082-4D7E-8466-9BA22C990A78}" type="slidenum">
              <a:rPr lang="en-IN" smtClean="0"/>
              <a:t>‹#›</a:t>
            </a:fld>
            <a:endParaRPr lang="en-IN"/>
          </a:p>
        </p:txBody>
      </p:sp>
    </p:spTree>
    <p:extLst>
      <p:ext uri="{BB962C8B-B14F-4D97-AF65-F5344CB8AC3E}">
        <p14:creationId xmlns:p14="http://schemas.microsoft.com/office/powerpoint/2010/main" val="348195054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54594E2-CBC8-4A0C-A110-E3B5A301CF62}"/>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8CFBD2EA-CB7C-4CAB-855D-57F79191044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D2348B0-3CBB-41FA-A8EC-5DFC833D7ECD}"/>
              </a:ext>
            </a:extLst>
          </p:cNvPr>
          <p:cNvSpPr>
            <a:spLocks noGrp="1"/>
          </p:cNvSpPr>
          <p:nvPr>
            <p:ph type="dt" sz="half" idx="10"/>
          </p:nvPr>
        </p:nvSpPr>
        <p:spPr/>
        <p:txBody>
          <a:bodyPr/>
          <a:lstStyle/>
          <a:p>
            <a:fld id="{2AF27EEE-1B67-445E-AA5D-351EC91D1DEB}" type="datetimeFigureOut">
              <a:rPr lang="en-IN" smtClean="0"/>
              <a:t>30-09-2026</a:t>
            </a:fld>
            <a:endParaRPr lang="en-IN"/>
          </a:p>
        </p:txBody>
      </p:sp>
      <p:sp>
        <p:nvSpPr>
          <p:cNvPr id="5" name="Footer Placeholder 4">
            <a:extLst>
              <a:ext uri="{FF2B5EF4-FFF2-40B4-BE49-F238E27FC236}">
                <a16:creationId xmlns:a16="http://schemas.microsoft.com/office/drawing/2014/main" id="{1A7E08DA-D399-4DC8-89B1-C4EBC64DC98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FDA6177-D647-4C5F-BA43-C02A1390F473}"/>
              </a:ext>
            </a:extLst>
          </p:cNvPr>
          <p:cNvSpPr>
            <a:spLocks noGrp="1"/>
          </p:cNvSpPr>
          <p:nvPr>
            <p:ph type="sldNum" sz="quarter" idx="12"/>
          </p:nvPr>
        </p:nvSpPr>
        <p:spPr/>
        <p:txBody>
          <a:bodyPr/>
          <a:lstStyle/>
          <a:p>
            <a:fld id="{BF5B04A4-2082-4D7E-8466-9BA22C990A78}" type="slidenum">
              <a:rPr lang="en-IN" smtClean="0"/>
              <a:t>‹#›</a:t>
            </a:fld>
            <a:endParaRPr lang="en-IN"/>
          </a:p>
        </p:txBody>
      </p:sp>
    </p:spTree>
    <p:extLst>
      <p:ext uri="{BB962C8B-B14F-4D97-AF65-F5344CB8AC3E}">
        <p14:creationId xmlns:p14="http://schemas.microsoft.com/office/powerpoint/2010/main" val="81468705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246345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CE67A62-7E64-4BE9-8EDF-4904E871A04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F8CA73B9-1A82-4479-978C-9C873CC677B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9977FC6-3D78-48A7-A3DB-BFC7C0EA3E8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AF27EEE-1B67-445E-AA5D-351EC91D1DEB}" type="datetimeFigureOut">
              <a:rPr lang="en-IN" smtClean="0"/>
              <a:t>30-09-2026</a:t>
            </a:fld>
            <a:endParaRPr lang="en-IN"/>
          </a:p>
        </p:txBody>
      </p:sp>
      <p:sp>
        <p:nvSpPr>
          <p:cNvPr id="5" name="Footer Placeholder 4">
            <a:extLst>
              <a:ext uri="{FF2B5EF4-FFF2-40B4-BE49-F238E27FC236}">
                <a16:creationId xmlns:a16="http://schemas.microsoft.com/office/drawing/2014/main" id="{27CDC877-1137-446E-919A-C66E313317C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8A258D39-C9B6-4DA9-9C05-38A0ECD4CE4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F5B04A4-2082-4D7E-8466-9BA22C990A78}" type="slidenum">
              <a:rPr lang="en-IN" smtClean="0"/>
              <a:t>‹#›</a:t>
            </a:fld>
            <a:endParaRPr lang="en-IN"/>
          </a:p>
        </p:txBody>
      </p:sp>
    </p:spTree>
    <p:extLst>
      <p:ext uri="{BB962C8B-B14F-4D97-AF65-F5344CB8AC3E}">
        <p14:creationId xmlns:p14="http://schemas.microsoft.com/office/powerpoint/2010/main" val="327917824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hemeOverride" Target="../theme/themeOverride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777240" y="676656"/>
            <a:ext cx="2423160" cy="347472"/>
          </a:xfrm>
          <a:prstGeom prst="roundRect">
            <a:avLst>
              <a:gd name="adj" fmla="val 50000"/>
            </a:avLst>
          </a:prstGeom>
          <a:solidFill>
            <a:srgbClr val="FFFFFF"/>
          </a:solidFill>
          <a:ln w="12700">
            <a:solidFill>
              <a:srgbClr val="D9D3F0"/>
            </a:solidFill>
            <a:prstDash val="solid"/>
          </a:ln>
        </p:spPr>
        <p:txBody>
          <a:bodyPr/>
          <a:lstStyle/>
          <a:p>
            <a:endParaRPr/>
          </a:p>
        </p:txBody>
      </p:sp>
      <p:sp>
        <p:nvSpPr>
          <p:cNvPr id="3" name="Text 1"/>
          <p:cNvSpPr txBox="1"/>
          <p:nvPr/>
        </p:nvSpPr>
        <p:spPr>
          <a:xfrm>
            <a:off x="777240" y="676656"/>
            <a:ext cx="2423160" cy="347472"/>
          </a:xfrm>
          <a:prstGeom prst="rect">
            <a:avLst/>
          </a:prstGeom>
          <a:noFill/>
          <a:ln/>
        </p:spPr>
        <p:txBody>
          <a:bodyPr wrap="square" lIns="0" tIns="0" rIns="0" bIns="0" rtlCol="0" anchor="ctr"/>
          <a:lstStyle/>
          <a:p>
            <a:pPr marL="0" indent="0" algn="ctr">
              <a:buNone/>
            </a:pPr>
            <a:r>
              <a:rPr lang="en-US" sz="1100" b="1" kern="0" spc="110" dirty="0">
                <a:solidFill>
                  <a:srgbClr val="6D28D9"/>
                </a:solidFill>
                <a:latin typeface="Arial" pitchFamily="34" charset="0"/>
                <a:ea typeface="Arial" pitchFamily="34" charset="-122"/>
                <a:cs typeface="Arial" pitchFamily="34" charset="-120"/>
              </a:rPr>
              <a:t>SAMSUNG PRISM</a:t>
            </a:r>
            <a:endParaRPr lang="en-US" sz="1100" dirty="0"/>
          </a:p>
        </p:txBody>
      </p:sp>
      <p:sp>
        <p:nvSpPr>
          <p:cNvPr id="4" name="Text 2"/>
          <p:cNvSpPr txBox="1"/>
          <p:nvPr/>
        </p:nvSpPr>
        <p:spPr>
          <a:xfrm>
            <a:off x="777240" y="1207008"/>
            <a:ext cx="6126480" cy="749808"/>
          </a:xfrm>
          <a:prstGeom prst="rect">
            <a:avLst/>
          </a:prstGeom>
          <a:noFill/>
          <a:ln/>
        </p:spPr>
        <p:txBody>
          <a:bodyPr wrap="square" lIns="0" tIns="0" rIns="0" bIns="0" rtlCol="0" anchor="ctr"/>
          <a:lstStyle/>
          <a:p>
            <a:pPr marL="0" indent="0">
              <a:buNone/>
            </a:pPr>
            <a:r>
              <a:rPr lang="en-US" sz="5000" b="1" dirty="0">
                <a:solidFill>
                  <a:srgbClr val="14142B"/>
                </a:solidFill>
                <a:latin typeface="Arial" pitchFamily="34" charset="0"/>
                <a:ea typeface="Arial" pitchFamily="34" charset="-122"/>
                <a:cs typeface="Arial" pitchFamily="34" charset="-120"/>
              </a:rPr>
              <a:t>Generative AI</a:t>
            </a:r>
            <a:endParaRPr lang="en-US" sz="5000" dirty="0"/>
          </a:p>
        </p:txBody>
      </p:sp>
      <p:sp>
        <p:nvSpPr>
          <p:cNvPr id="5" name="Text 3"/>
          <p:cNvSpPr txBox="1"/>
          <p:nvPr/>
        </p:nvSpPr>
        <p:spPr>
          <a:xfrm>
            <a:off x="777240" y="1901952"/>
            <a:ext cx="6126480" cy="749808"/>
          </a:xfrm>
          <a:prstGeom prst="rect">
            <a:avLst/>
          </a:prstGeom>
          <a:noFill/>
          <a:ln/>
        </p:spPr>
        <p:txBody>
          <a:bodyPr wrap="square" lIns="0" tIns="0" rIns="0" bIns="0" rtlCol="0" anchor="ctr"/>
          <a:lstStyle/>
          <a:p>
            <a:pPr marL="0" indent="0">
              <a:buNone/>
            </a:pPr>
            <a:r>
              <a:rPr lang="en-US" sz="5000" b="1" dirty="0">
                <a:solidFill>
                  <a:srgbClr val="6D28D9"/>
                </a:solidFill>
                <a:latin typeface="Arial" pitchFamily="34" charset="0"/>
                <a:ea typeface="Arial" pitchFamily="34" charset="-122"/>
                <a:cs typeface="Arial" pitchFamily="34" charset="-120"/>
              </a:rPr>
              <a:t>Hackathon</a:t>
            </a:r>
            <a:endParaRPr lang="en-US" sz="5000" dirty="0"/>
          </a:p>
        </p:txBody>
      </p:sp>
      <p:sp>
        <p:nvSpPr>
          <p:cNvPr id="6" name="Text 4"/>
          <p:cNvSpPr txBox="1"/>
          <p:nvPr/>
        </p:nvSpPr>
        <p:spPr>
          <a:xfrm>
            <a:off x="777240" y="2724912"/>
            <a:ext cx="6126480" cy="457200"/>
          </a:xfrm>
          <a:prstGeom prst="rect">
            <a:avLst/>
          </a:prstGeom>
          <a:noFill/>
          <a:ln/>
        </p:spPr>
        <p:txBody>
          <a:bodyPr wrap="square" lIns="0" tIns="0" rIns="0" bIns="0" rtlCol="0" anchor="ctr"/>
          <a:lstStyle/>
          <a:p>
            <a:pPr marL="0" indent="0">
              <a:buNone/>
            </a:pPr>
            <a:r>
              <a:rPr lang="en-US" sz="2500" b="1" dirty="0">
                <a:solidFill>
                  <a:srgbClr val="14142B"/>
                </a:solidFill>
                <a:latin typeface="Arial" pitchFamily="34" charset="0"/>
                <a:ea typeface="Arial" pitchFamily="34" charset="-122"/>
                <a:cs typeface="Arial" pitchFamily="34" charset="-120"/>
              </a:rPr>
              <a:t>3rd Edition</a:t>
            </a:r>
            <a:r>
              <a:rPr lang="en-US" sz="2000" dirty="0">
                <a:solidFill>
                  <a:srgbClr val="63637E"/>
                </a:solidFill>
                <a:latin typeface="Calibri" pitchFamily="34" charset="0"/>
                <a:ea typeface="Calibri" pitchFamily="34" charset="-122"/>
                <a:cs typeface="Calibri" pitchFamily="34" charset="-120"/>
              </a:rPr>
              <a:t>   2026 – 27</a:t>
            </a:r>
            <a:endParaRPr lang="en-US" sz="2500" dirty="0"/>
          </a:p>
        </p:txBody>
      </p:sp>
      <p:sp>
        <p:nvSpPr>
          <p:cNvPr id="7" name="Text 5"/>
          <p:cNvSpPr txBox="1"/>
          <p:nvPr/>
        </p:nvSpPr>
        <p:spPr>
          <a:xfrm>
            <a:off x="777239" y="3310128"/>
            <a:ext cx="6528629" cy="2496312"/>
          </a:xfrm>
          <a:prstGeom prst="rect">
            <a:avLst/>
          </a:prstGeom>
          <a:noFill/>
          <a:ln/>
        </p:spPr>
        <p:txBody>
          <a:bodyPr wrap="square" lIns="0" tIns="0" rIns="0" bIns="0" rtlCol="0" anchor="t"/>
          <a:lstStyle/>
          <a:p>
            <a:pPr marL="177800" indent="-177800">
              <a:spcAft>
                <a:spcPts val="500"/>
              </a:spcAft>
              <a:buSzPct val="100000"/>
              <a:buChar char="•"/>
            </a:pPr>
            <a:r>
              <a:rPr lang="en-US" sz="1600" dirty="0">
                <a:solidFill>
                  <a:srgbClr val="63637E"/>
                </a:solidFill>
                <a:latin typeface="Calibri" pitchFamily="34" charset="0"/>
                <a:ea typeface="Calibri" pitchFamily="34" charset="-122"/>
                <a:cs typeface="Calibri" pitchFamily="34" charset="-120"/>
              </a:rPr>
              <a:t>Theme ID - 02 — Smart Guided Troubleshooting Engine</a:t>
            </a:r>
          </a:p>
          <a:p>
            <a:pPr marL="177800" indent="-177800">
              <a:spcAft>
                <a:spcPts val="500"/>
              </a:spcAft>
              <a:buSzPct val="100000"/>
              <a:buChar char="•"/>
            </a:pPr>
            <a:r>
              <a:rPr lang="en-US" sz="1600" dirty="0">
                <a:solidFill>
                  <a:srgbClr val="63637E"/>
                </a:solidFill>
                <a:latin typeface="Calibri" pitchFamily="34" charset="0"/>
                <a:ea typeface="Calibri" pitchFamily="34" charset="-122"/>
                <a:cs typeface="Calibri" pitchFamily="34" charset="-120"/>
              </a:rPr>
              <a:t>Team Name - Order 66</a:t>
            </a:r>
          </a:p>
          <a:p>
            <a:pPr marL="177800" indent="-177800">
              <a:spcAft>
                <a:spcPts val="500"/>
              </a:spcAft>
              <a:buSzPct val="100000"/>
              <a:buChar char="•"/>
            </a:pPr>
            <a:r>
              <a:rPr lang="en-US" sz="1600" dirty="0">
                <a:solidFill>
                  <a:srgbClr val="63637E"/>
                </a:solidFill>
                <a:latin typeface="Calibri" pitchFamily="34" charset="0"/>
                <a:ea typeface="Calibri" pitchFamily="34" charset="-122"/>
                <a:cs typeface="Calibri" pitchFamily="34" charset="-120"/>
              </a:rPr>
              <a:t>College Name - Thapar Institute of Engineering &amp; Technology</a:t>
            </a:r>
          </a:p>
          <a:p>
            <a:pPr marL="177800" indent="-177800">
              <a:spcAft>
                <a:spcPts val="500"/>
              </a:spcAft>
              <a:buSzPct val="100000"/>
              <a:buChar char="•"/>
            </a:pPr>
            <a:r>
              <a:rPr lang="en-US" sz="1600" dirty="0">
                <a:solidFill>
                  <a:srgbClr val="63637E"/>
                </a:solidFill>
                <a:latin typeface="Calibri" pitchFamily="34" charset="0"/>
                <a:ea typeface="Calibri" pitchFamily="34" charset="-122"/>
                <a:cs typeface="Calibri" pitchFamily="34" charset="-120"/>
              </a:rPr>
              <a:t>Member Name &amp; Email 1- Aaryaman Arora – aarora_btech24@thapar.edu</a:t>
            </a:r>
          </a:p>
          <a:p>
            <a:pPr marL="177800" indent="-177800">
              <a:spcAft>
                <a:spcPts val="500"/>
              </a:spcAft>
              <a:buSzPct val="100000"/>
              <a:buChar char="•"/>
            </a:pPr>
            <a:r>
              <a:rPr lang="en-US" sz="1600" dirty="0">
                <a:solidFill>
                  <a:srgbClr val="63637E"/>
                </a:solidFill>
                <a:latin typeface="Calibri" pitchFamily="34" charset="0"/>
                <a:ea typeface="Calibri" pitchFamily="34" charset="-122"/>
                <a:cs typeface="Calibri" pitchFamily="34" charset="-120"/>
              </a:rPr>
              <a:t>Member Name &amp; Email 2- Pragati Singh – psingh_btech24@thapar.edu</a:t>
            </a:r>
          </a:p>
          <a:p>
            <a:pPr marL="177800" indent="-177800">
              <a:spcAft>
                <a:spcPts val="500"/>
              </a:spcAft>
              <a:buSzPct val="100000"/>
              <a:buFontTx/>
              <a:buChar char="•"/>
            </a:pPr>
            <a:r>
              <a:rPr lang="en-US" sz="1600" dirty="0">
                <a:solidFill>
                  <a:srgbClr val="63637E"/>
                </a:solidFill>
                <a:latin typeface="Calibri" pitchFamily="34" charset="0"/>
                <a:ea typeface="Calibri" pitchFamily="34" charset="-122"/>
                <a:cs typeface="Calibri" pitchFamily="34" charset="-120"/>
              </a:rPr>
              <a:t>Member Name &amp; Email 3- Mandira Datta – mdatta_btech24@thapar.edu</a:t>
            </a:r>
          </a:p>
          <a:p>
            <a:pPr marL="177800" indent="-177800">
              <a:spcAft>
                <a:spcPts val="500"/>
              </a:spcAft>
              <a:buSzPct val="100000"/>
              <a:buFontTx/>
              <a:buChar char="•"/>
            </a:pPr>
            <a:r>
              <a:rPr lang="en-US" sz="1600" dirty="0">
                <a:solidFill>
                  <a:srgbClr val="63637E"/>
                </a:solidFill>
                <a:latin typeface="Calibri" pitchFamily="34" charset="0"/>
                <a:ea typeface="Calibri" pitchFamily="34" charset="-122"/>
                <a:cs typeface="Calibri" pitchFamily="34" charset="-120"/>
              </a:rPr>
              <a:t>Member Name &amp; Email 4- Om Kaushik – okaushik_btech24@thapar.edu</a:t>
            </a:r>
          </a:p>
          <a:p>
            <a:pPr marL="177800" indent="-177800">
              <a:spcAft>
                <a:spcPts val="500"/>
              </a:spcAft>
              <a:buSzPct val="100000"/>
              <a:buFontTx/>
              <a:buChar char="•"/>
            </a:pPr>
            <a:r>
              <a:rPr lang="en-US" sz="1600" dirty="0">
                <a:solidFill>
                  <a:srgbClr val="63637E"/>
                </a:solidFill>
                <a:latin typeface="Calibri" pitchFamily="34" charset="0"/>
                <a:ea typeface="Calibri" pitchFamily="34" charset="-122"/>
                <a:cs typeface="Calibri" pitchFamily="34" charset="-120"/>
              </a:rPr>
              <a:t>Submission github.com/Aaryaman-147/prism-troubleshoot</a:t>
            </a:r>
          </a:p>
          <a:p>
            <a:pPr marL="177800" indent="-177800">
              <a:spcAft>
                <a:spcPts val="500"/>
              </a:spcAft>
              <a:buSzPct val="100000"/>
              <a:buChar char="•"/>
            </a:pPr>
            <a:endParaRPr lang="en-US" sz="1600" dirty="0">
              <a:solidFill>
                <a:srgbClr val="63637E"/>
              </a:solidFill>
              <a:latin typeface="Calibri" pitchFamily="34" charset="0"/>
              <a:ea typeface="Calibri" pitchFamily="34" charset="-122"/>
              <a:cs typeface="Calibri" pitchFamily="34" charset="-120"/>
            </a:endParaRPr>
          </a:p>
        </p:txBody>
      </p:sp>
      <p:pic>
        <p:nvPicPr>
          <p:cNvPr id="14" name="Image 0" descr="hero_network.png"/>
          <p:cNvPicPr>
            <a:picLocks noChangeAspect="1"/>
          </p:cNvPicPr>
          <p:nvPr/>
        </p:nvPicPr>
        <p:blipFill>
          <a:blip r:embed="rId3"/>
          <a:stretch>
            <a:fillRect/>
          </a:stretch>
        </p:blipFill>
        <p:spPr>
          <a:xfrm>
            <a:off x="7059168" y="1051560"/>
            <a:ext cx="4572000" cy="4572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353DB3-FB86-4452-A4FB-E7F4BEA62856}"/>
              </a:ext>
            </a:extLst>
          </p:cNvPr>
          <p:cNvSpPr>
            <a:spLocks noGrp="1"/>
          </p:cNvSpPr>
          <p:nvPr>
            <p:ph type="title"/>
          </p:nvPr>
        </p:nvSpPr>
        <p:spPr/>
        <p:txBody>
          <a:bodyPr>
            <a:normAutofit/>
          </a:bodyPr>
          <a:lstStyle/>
          <a:p>
            <a:r>
              <a:rPr lang="en-IN" b="1" dirty="0">
                <a:solidFill>
                  <a:srgbClr val="704EA6"/>
                </a:solidFill>
                <a:latin typeface="+mn-lt"/>
                <a:cs typeface="Arial" pitchFamily="34" charset="-120"/>
              </a:rPr>
              <a:t>Theme</a:t>
            </a:r>
          </a:p>
        </p:txBody>
      </p:sp>
      <p:sp>
        <p:nvSpPr>
          <p:cNvPr id="3" name="TextBox 2"/>
          <p:cNvSpPr txBox="1"/>
          <p:nvPr/>
        </p:nvSpPr>
        <p:spPr>
          <a:xfrm>
            <a:off x="841248" y="1417320"/>
            <a:ext cx="10515600" cy="457200"/>
          </a:xfrm>
          <a:prstGeom prst="rect">
            <a:avLst/>
          </a:prstGeom>
          <a:noFill/>
        </p:spPr>
        <p:txBody>
          <a:bodyPr wrap="square" lIns="0" tIns="0" rIns="0" bIns="0" anchor="t">
            <a:spAutoFit/>
          </a:bodyPr>
          <a:lstStyle/>
          <a:p>
            <a:pPr algn="l">
              <a:spcAft>
                <a:spcPts val="400"/>
              </a:spcAft>
            </a:pPr>
            <a:r>
              <a:rPr sz="2200" b="1" i="0">
                <a:solidFill>
                  <a:srgbClr val="14142B"/>
                </a:solidFill>
                <a:latin typeface="Calibri"/>
              </a:rPr>
              <a:t>Theme 02 — Smart Guided Troubleshooting Engine</a:t>
            </a:r>
          </a:p>
        </p:txBody>
      </p:sp>
      <p:sp>
        <p:nvSpPr>
          <p:cNvPr id="4" name="Rounded Rectangle 3"/>
          <p:cNvSpPr/>
          <p:nvPr/>
        </p:nvSpPr>
        <p:spPr>
          <a:xfrm>
            <a:off x="841248" y="2103120"/>
            <a:ext cx="10515600" cy="1051560"/>
          </a:xfrm>
          <a:prstGeom prst="roundRect">
            <a:avLst>
              <a:gd name="adj" fmla="val 6000"/>
            </a:avLst>
          </a:prstGeom>
          <a:solidFill>
            <a:srgbClr val="F5F3FF"/>
          </a:solidFill>
          <a:ln w="12700">
            <a:solidFill>
              <a:srgbClr val="DDD6F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161288" y="2103120"/>
            <a:ext cx="9875520" cy="1051560"/>
          </a:xfrm>
          <a:prstGeom prst="rect">
            <a:avLst/>
          </a:prstGeom>
          <a:noFill/>
        </p:spPr>
        <p:txBody>
          <a:bodyPr wrap="square" lIns="0" tIns="0" rIns="0" bIns="0" anchor="ctr">
            <a:spAutoFit/>
          </a:bodyPr>
          <a:lstStyle/>
          <a:p>
            <a:pPr algn="l">
              <a:spcAft>
                <a:spcPts val="0"/>
              </a:spcAft>
            </a:pPr>
            <a:r>
              <a:rPr sz="2200" b="1" i="1">
                <a:solidFill>
                  <a:srgbClr val="6D28D9"/>
                </a:solidFill>
                <a:latin typeface="Calibri"/>
              </a:rPr>
              <a:t>“My screen flickers and the battery dies fast.”</a:t>
            </a:r>
          </a:p>
        </p:txBody>
      </p:sp>
      <p:sp>
        <p:nvSpPr>
          <p:cNvPr id="6" name="TextBox 5"/>
          <p:cNvSpPr txBox="1"/>
          <p:nvPr/>
        </p:nvSpPr>
        <p:spPr>
          <a:xfrm>
            <a:off x="841248" y="3383280"/>
            <a:ext cx="10515600" cy="365760"/>
          </a:xfrm>
          <a:prstGeom prst="rect">
            <a:avLst/>
          </a:prstGeom>
          <a:noFill/>
        </p:spPr>
        <p:txBody>
          <a:bodyPr wrap="square" lIns="0" tIns="0" rIns="0" bIns="0" anchor="t">
            <a:spAutoFit/>
          </a:bodyPr>
          <a:lstStyle/>
          <a:p>
            <a:pPr algn="l">
              <a:spcAft>
                <a:spcPts val="400"/>
              </a:spcAft>
            </a:pPr>
            <a:r>
              <a:rPr sz="1600" b="1" i="0">
                <a:solidFill>
                  <a:srgbClr val="14142B"/>
                </a:solidFill>
                <a:latin typeface="Calibri"/>
              </a:rPr>
              <a:t>The problem, in our words</a:t>
            </a:r>
          </a:p>
        </p:txBody>
      </p:sp>
      <p:sp>
        <p:nvSpPr>
          <p:cNvPr id="7" name="Oval 6"/>
          <p:cNvSpPr/>
          <p:nvPr/>
        </p:nvSpPr>
        <p:spPr>
          <a:xfrm>
            <a:off x="841248" y="3822192"/>
            <a:ext cx="365760" cy="365760"/>
          </a:xfrm>
          <a:prstGeom prst="ellipse">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FFFFFF"/>
                </a:solidFill>
                <a:latin typeface="Calibri"/>
              </a:rPr>
              <a:t>1</a:t>
            </a:r>
          </a:p>
        </p:txBody>
      </p:sp>
      <p:sp>
        <p:nvSpPr>
          <p:cNvPr id="8" name="TextBox 7"/>
          <p:cNvSpPr txBox="1"/>
          <p:nvPr/>
        </p:nvSpPr>
        <p:spPr>
          <a:xfrm>
            <a:off x="1389888" y="3794760"/>
            <a:ext cx="9966960" cy="320040"/>
          </a:xfrm>
          <a:prstGeom prst="rect">
            <a:avLst/>
          </a:prstGeom>
          <a:noFill/>
        </p:spPr>
        <p:txBody>
          <a:bodyPr wrap="square" lIns="0" tIns="0" rIns="0" bIns="0" anchor="t">
            <a:spAutoFit/>
          </a:bodyPr>
          <a:lstStyle/>
          <a:p>
            <a:pPr algn="l">
              <a:spcAft>
                <a:spcPts val="400"/>
              </a:spcAft>
            </a:pPr>
            <a:r>
              <a:rPr sz="1500" b="1" i="0">
                <a:solidFill>
                  <a:srgbClr val="14142B"/>
                </a:solidFill>
                <a:latin typeface="Calibri"/>
              </a:rPr>
              <a:t>Customers describe problems informally</a:t>
            </a:r>
          </a:p>
        </p:txBody>
      </p:sp>
      <p:sp>
        <p:nvSpPr>
          <p:cNvPr id="9" name="TextBox 8"/>
          <p:cNvSpPr txBox="1"/>
          <p:nvPr/>
        </p:nvSpPr>
        <p:spPr>
          <a:xfrm>
            <a:off x="1389888" y="4123944"/>
            <a:ext cx="9966960" cy="457200"/>
          </a:xfrm>
          <a:prstGeom prst="rect">
            <a:avLst/>
          </a:prstGeom>
          <a:noFill/>
        </p:spPr>
        <p:txBody>
          <a:bodyPr wrap="square" lIns="0" tIns="0" rIns="0" bIns="0" anchor="t">
            <a:spAutoFit/>
          </a:bodyPr>
          <a:lstStyle/>
          <a:p>
            <a:pPr algn="l">
              <a:spcAft>
                <a:spcPts val="400"/>
              </a:spcAft>
            </a:pPr>
            <a:r>
              <a:rPr sz="1250" b="0" i="0">
                <a:solidFill>
                  <a:srgbClr val="63637E"/>
                </a:solidFill>
                <a:latin typeface="Calibri"/>
              </a:rPr>
              <a:t>“Screen flickers”, not “display refresh-rate fault” — far from the technical language support articles are written in.</a:t>
            </a:r>
          </a:p>
        </p:txBody>
      </p:sp>
      <p:sp>
        <p:nvSpPr>
          <p:cNvPr id="10" name="Oval 9"/>
          <p:cNvSpPr/>
          <p:nvPr/>
        </p:nvSpPr>
        <p:spPr>
          <a:xfrm>
            <a:off x="841248" y="4690872"/>
            <a:ext cx="365760" cy="365760"/>
          </a:xfrm>
          <a:prstGeom prst="ellipse">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FFFFFF"/>
                </a:solidFill>
                <a:latin typeface="Calibri"/>
              </a:rPr>
              <a:t>2</a:t>
            </a:r>
          </a:p>
        </p:txBody>
      </p:sp>
      <p:sp>
        <p:nvSpPr>
          <p:cNvPr id="11" name="TextBox 10"/>
          <p:cNvSpPr txBox="1"/>
          <p:nvPr/>
        </p:nvSpPr>
        <p:spPr>
          <a:xfrm>
            <a:off x="1389888" y="4663440"/>
            <a:ext cx="9966960" cy="320040"/>
          </a:xfrm>
          <a:prstGeom prst="rect">
            <a:avLst/>
          </a:prstGeom>
          <a:noFill/>
        </p:spPr>
        <p:txBody>
          <a:bodyPr wrap="square" lIns="0" tIns="0" rIns="0" bIns="0" anchor="t">
            <a:spAutoFit/>
          </a:bodyPr>
          <a:lstStyle/>
          <a:p>
            <a:pPr algn="l">
              <a:spcAft>
                <a:spcPts val="400"/>
              </a:spcAft>
            </a:pPr>
            <a:r>
              <a:rPr sz="1500" b="1" i="0">
                <a:solidFill>
                  <a:srgbClr val="14142B"/>
                </a:solidFill>
                <a:latin typeface="Calibri"/>
              </a:rPr>
              <a:t>Turning that into a fix is manual</a:t>
            </a:r>
          </a:p>
        </p:txBody>
      </p:sp>
      <p:sp>
        <p:nvSpPr>
          <p:cNvPr id="12" name="TextBox 11"/>
          <p:cNvSpPr txBox="1"/>
          <p:nvPr/>
        </p:nvSpPr>
        <p:spPr>
          <a:xfrm>
            <a:off x="1389888" y="4992624"/>
            <a:ext cx="9966960" cy="457200"/>
          </a:xfrm>
          <a:prstGeom prst="rect">
            <a:avLst/>
          </a:prstGeom>
          <a:noFill/>
        </p:spPr>
        <p:txBody>
          <a:bodyPr wrap="square" lIns="0" tIns="0" rIns="0" bIns="0" anchor="t">
            <a:spAutoFit/>
          </a:bodyPr>
          <a:lstStyle/>
          <a:p>
            <a:pPr algn="l">
              <a:spcAft>
                <a:spcPts val="400"/>
              </a:spcAft>
            </a:pPr>
            <a:r>
              <a:rPr sz="1250" b="0" i="0">
                <a:solidFill>
                  <a:srgbClr val="63637E"/>
                </a:solidFill>
                <a:latin typeface="Calibri"/>
              </a:rPr>
              <a:t>An agent reads internal docs, diagnoses, writes ordered steps, and the user still hunts through Settings — ~15 min per case.</a:t>
            </a:r>
          </a:p>
        </p:txBody>
      </p:sp>
      <p:sp>
        <p:nvSpPr>
          <p:cNvPr id="13" name="Oval 12"/>
          <p:cNvSpPr/>
          <p:nvPr/>
        </p:nvSpPr>
        <p:spPr>
          <a:xfrm>
            <a:off x="841248" y="5559552"/>
            <a:ext cx="365760" cy="365760"/>
          </a:xfrm>
          <a:prstGeom prst="ellipse">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FFFFFF"/>
                </a:solidFill>
                <a:latin typeface="Calibri"/>
              </a:rPr>
              <a:t>3</a:t>
            </a:r>
          </a:p>
        </p:txBody>
      </p:sp>
      <p:sp>
        <p:nvSpPr>
          <p:cNvPr id="14" name="TextBox 13"/>
          <p:cNvSpPr txBox="1"/>
          <p:nvPr/>
        </p:nvSpPr>
        <p:spPr>
          <a:xfrm>
            <a:off x="1389888" y="5532120"/>
            <a:ext cx="9966960" cy="320040"/>
          </a:xfrm>
          <a:prstGeom prst="rect">
            <a:avLst/>
          </a:prstGeom>
          <a:noFill/>
        </p:spPr>
        <p:txBody>
          <a:bodyPr wrap="square" lIns="0" tIns="0" rIns="0" bIns="0" anchor="t">
            <a:spAutoFit/>
          </a:bodyPr>
          <a:lstStyle/>
          <a:p>
            <a:pPr algn="l">
              <a:spcAft>
                <a:spcPts val="400"/>
              </a:spcAft>
            </a:pPr>
            <a:r>
              <a:rPr sz="1500" b="1" i="0">
                <a:solidFill>
                  <a:srgbClr val="14142B"/>
                </a:solidFill>
                <a:latin typeface="Calibri"/>
              </a:rPr>
              <a:t>Our goal</a:t>
            </a:r>
          </a:p>
        </p:txBody>
      </p:sp>
      <p:sp>
        <p:nvSpPr>
          <p:cNvPr id="15" name="TextBox 14"/>
          <p:cNvSpPr txBox="1"/>
          <p:nvPr/>
        </p:nvSpPr>
        <p:spPr>
          <a:xfrm>
            <a:off x="1389888" y="5861304"/>
            <a:ext cx="9966960" cy="457200"/>
          </a:xfrm>
          <a:prstGeom prst="rect">
            <a:avLst/>
          </a:prstGeom>
          <a:noFill/>
        </p:spPr>
        <p:txBody>
          <a:bodyPr wrap="square" lIns="0" tIns="0" rIns="0" bIns="0" anchor="t">
            <a:spAutoFit/>
          </a:bodyPr>
          <a:lstStyle/>
          <a:p>
            <a:pPr algn="l">
              <a:spcAft>
                <a:spcPts val="400"/>
              </a:spcAft>
            </a:pPr>
            <a:r>
              <a:rPr sz="1250" b="0" i="0">
                <a:solidFill>
                  <a:srgbClr val="63637E"/>
                </a:solidFill>
                <a:latin typeface="Calibri"/>
              </a:rPr>
              <a:t>Complaint in, validated and ordered fix plan out, with a one-tap deeplink per step — and an honest “no answer” when the evidence is weak.</a:t>
            </a:r>
          </a:p>
        </p:txBody>
      </p:sp>
    </p:spTree>
    <p:extLst>
      <p:ext uri="{BB962C8B-B14F-4D97-AF65-F5344CB8AC3E}">
        <p14:creationId xmlns:p14="http://schemas.microsoft.com/office/powerpoint/2010/main" val="25647885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353DB3-FB86-4452-A4FB-E7F4BEA62856}"/>
              </a:ext>
            </a:extLst>
          </p:cNvPr>
          <p:cNvSpPr>
            <a:spLocks noGrp="1"/>
          </p:cNvSpPr>
          <p:nvPr>
            <p:ph type="title"/>
          </p:nvPr>
        </p:nvSpPr>
        <p:spPr/>
        <p:txBody>
          <a:bodyPr>
            <a:normAutofit/>
          </a:bodyPr>
          <a:lstStyle/>
          <a:p>
            <a:r>
              <a:rPr lang="en-IN" b="1" dirty="0">
                <a:solidFill>
                  <a:srgbClr val="704EA6"/>
                </a:solidFill>
                <a:latin typeface="+mn-lt"/>
                <a:cs typeface="Arial" pitchFamily="34" charset="-120"/>
              </a:rPr>
              <a:t>Existing Solutions &amp; Gaps</a:t>
            </a:r>
          </a:p>
        </p:txBody>
      </p:sp>
      <p:sp>
        <p:nvSpPr>
          <p:cNvPr id="3" name="Rounded Rectangle 2"/>
          <p:cNvSpPr/>
          <p:nvPr/>
        </p:nvSpPr>
        <p:spPr>
          <a:xfrm>
            <a:off x="841248" y="1417320"/>
            <a:ext cx="5120640" cy="1737360"/>
          </a:xfrm>
          <a:prstGeom prst="roundRect">
            <a:avLst>
              <a:gd name="adj" fmla="val 6000"/>
            </a:avLst>
          </a:prstGeom>
          <a:solidFill>
            <a:srgbClr val="F5F3FF"/>
          </a:solidFill>
          <a:ln w="12700">
            <a:solidFill>
              <a:srgbClr val="DDD6F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115568" y="1618488"/>
            <a:ext cx="4572000" cy="365760"/>
          </a:xfrm>
          <a:prstGeom prst="rect">
            <a:avLst/>
          </a:prstGeom>
          <a:noFill/>
        </p:spPr>
        <p:txBody>
          <a:bodyPr wrap="square" lIns="0" tIns="0" rIns="0" bIns="0" anchor="t">
            <a:spAutoFit/>
          </a:bodyPr>
          <a:lstStyle/>
          <a:p>
            <a:pPr algn="l">
              <a:spcAft>
                <a:spcPts val="400"/>
              </a:spcAft>
            </a:pPr>
            <a:r>
              <a:rPr sz="1600" b="1" i="0">
                <a:solidFill>
                  <a:srgbClr val="14142B"/>
                </a:solidFill>
                <a:latin typeface="Calibri"/>
              </a:rPr>
              <a:t>Knowledge-base / FAQ search</a:t>
            </a:r>
          </a:p>
        </p:txBody>
      </p:sp>
      <p:sp>
        <p:nvSpPr>
          <p:cNvPr id="5" name="TextBox 4"/>
          <p:cNvSpPr txBox="1"/>
          <p:nvPr/>
        </p:nvSpPr>
        <p:spPr>
          <a:xfrm>
            <a:off x="1115568" y="1984248"/>
            <a:ext cx="4572000" cy="320040"/>
          </a:xfrm>
          <a:prstGeom prst="rect">
            <a:avLst/>
          </a:prstGeom>
          <a:noFill/>
        </p:spPr>
        <p:txBody>
          <a:bodyPr wrap="square" lIns="0" tIns="0" rIns="0" bIns="0" anchor="t">
            <a:spAutoFit/>
          </a:bodyPr>
          <a:lstStyle/>
          <a:p>
            <a:pPr algn="l">
              <a:spcAft>
                <a:spcPts val="400"/>
              </a:spcAft>
            </a:pPr>
            <a:r>
              <a:rPr sz="1200" b="0" i="1">
                <a:solidFill>
                  <a:srgbClr val="6D28D9"/>
                </a:solidFill>
                <a:latin typeface="Calibri"/>
              </a:rPr>
              <a:t>Keyword lookup over support articles</a:t>
            </a:r>
          </a:p>
        </p:txBody>
      </p:sp>
      <p:sp>
        <p:nvSpPr>
          <p:cNvPr id="6" name="TextBox 5"/>
          <p:cNvSpPr txBox="1"/>
          <p:nvPr/>
        </p:nvSpPr>
        <p:spPr>
          <a:xfrm>
            <a:off x="1115568" y="2331720"/>
            <a:ext cx="4572000" cy="731520"/>
          </a:xfrm>
          <a:prstGeom prst="rect">
            <a:avLst/>
          </a:prstGeom>
          <a:noFill/>
        </p:spPr>
        <p:txBody>
          <a:bodyPr wrap="square" lIns="0" tIns="0" rIns="0" bIns="0" anchor="t">
            <a:spAutoFit/>
          </a:bodyPr>
          <a:lstStyle/>
          <a:p>
            <a:pPr algn="l">
              <a:spcAft>
                <a:spcPts val="400"/>
              </a:spcAft>
            </a:pPr>
            <a:r>
              <a:rPr sz="1250" b="0" i="0">
                <a:solidFill>
                  <a:srgbClr val="63637E"/>
                </a:solidFill>
                <a:latin typeface="Calibri"/>
              </a:rPr>
              <a:t>Gap: User must already know the technical term. No ordered steps, no deeplinks.</a:t>
            </a:r>
          </a:p>
        </p:txBody>
      </p:sp>
      <p:sp>
        <p:nvSpPr>
          <p:cNvPr id="7" name="Rounded Rectangle 6"/>
          <p:cNvSpPr/>
          <p:nvPr/>
        </p:nvSpPr>
        <p:spPr>
          <a:xfrm>
            <a:off x="6236207" y="1417320"/>
            <a:ext cx="5120640" cy="1737360"/>
          </a:xfrm>
          <a:prstGeom prst="roundRect">
            <a:avLst>
              <a:gd name="adj" fmla="val 6000"/>
            </a:avLst>
          </a:prstGeom>
          <a:solidFill>
            <a:srgbClr val="F5F3FF"/>
          </a:solidFill>
          <a:ln w="12700">
            <a:solidFill>
              <a:srgbClr val="DDD6F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510527" y="1618488"/>
            <a:ext cx="4572000" cy="365760"/>
          </a:xfrm>
          <a:prstGeom prst="rect">
            <a:avLst/>
          </a:prstGeom>
          <a:noFill/>
        </p:spPr>
        <p:txBody>
          <a:bodyPr wrap="square" lIns="0" tIns="0" rIns="0" bIns="0" anchor="t">
            <a:spAutoFit/>
          </a:bodyPr>
          <a:lstStyle/>
          <a:p>
            <a:pPr algn="l">
              <a:spcAft>
                <a:spcPts val="400"/>
              </a:spcAft>
            </a:pPr>
            <a:r>
              <a:rPr sz="1600" b="1" i="0">
                <a:solidFill>
                  <a:srgbClr val="14142B"/>
                </a:solidFill>
                <a:latin typeface="Calibri"/>
              </a:rPr>
              <a:t>Scripted decision-tree bots</a:t>
            </a:r>
          </a:p>
        </p:txBody>
      </p:sp>
      <p:sp>
        <p:nvSpPr>
          <p:cNvPr id="9" name="TextBox 8"/>
          <p:cNvSpPr txBox="1"/>
          <p:nvPr/>
        </p:nvSpPr>
        <p:spPr>
          <a:xfrm>
            <a:off x="6510527" y="1984248"/>
            <a:ext cx="4572000" cy="320040"/>
          </a:xfrm>
          <a:prstGeom prst="rect">
            <a:avLst/>
          </a:prstGeom>
          <a:noFill/>
        </p:spPr>
        <p:txBody>
          <a:bodyPr wrap="square" lIns="0" tIns="0" rIns="0" bIns="0" anchor="t">
            <a:spAutoFit/>
          </a:bodyPr>
          <a:lstStyle/>
          <a:p>
            <a:pPr algn="l">
              <a:spcAft>
                <a:spcPts val="400"/>
              </a:spcAft>
            </a:pPr>
            <a:r>
              <a:rPr sz="1200" b="0" i="1">
                <a:solidFill>
                  <a:srgbClr val="6D28D9"/>
                </a:solidFill>
                <a:latin typeface="Calibri"/>
              </a:rPr>
              <a:t>Hand-built flows per issue</a:t>
            </a:r>
          </a:p>
        </p:txBody>
      </p:sp>
      <p:sp>
        <p:nvSpPr>
          <p:cNvPr id="10" name="TextBox 9"/>
          <p:cNvSpPr txBox="1"/>
          <p:nvPr/>
        </p:nvSpPr>
        <p:spPr>
          <a:xfrm>
            <a:off x="6510527" y="2331720"/>
            <a:ext cx="4572000" cy="731520"/>
          </a:xfrm>
          <a:prstGeom prst="rect">
            <a:avLst/>
          </a:prstGeom>
          <a:noFill/>
        </p:spPr>
        <p:txBody>
          <a:bodyPr wrap="square" lIns="0" tIns="0" rIns="0" bIns="0" anchor="t">
            <a:spAutoFit/>
          </a:bodyPr>
          <a:lstStyle/>
          <a:p>
            <a:pPr algn="l">
              <a:spcAft>
                <a:spcPts val="400"/>
              </a:spcAft>
            </a:pPr>
            <a:r>
              <a:rPr sz="1250" b="0" i="0">
                <a:solidFill>
                  <a:srgbClr val="63637E"/>
                </a:solidFill>
                <a:latin typeface="Calibri"/>
              </a:rPr>
              <a:t>Gap: Break on off-script phrasing. Hand-maintaining 10k+ scenarios doesn't scale.</a:t>
            </a:r>
          </a:p>
        </p:txBody>
      </p:sp>
      <p:sp>
        <p:nvSpPr>
          <p:cNvPr id="11" name="Rounded Rectangle 10"/>
          <p:cNvSpPr/>
          <p:nvPr/>
        </p:nvSpPr>
        <p:spPr>
          <a:xfrm>
            <a:off x="841248" y="3429000"/>
            <a:ext cx="5120640" cy="1737360"/>
          </a:xfrm>
          <a:prstGeom prst="roundRect">
            <a:avLst>
              <a:gd name="adj" fmla="val 6000"/>
            </a:avLst>
          </a:prstGeom>
          <a:solidFill>
            <a:srgbClr val="F5F3FF"/>
          </a:solidFill>
          <a:ln w="12700">
            <a:solidFill>
              <a:srgbClr val="DDD6F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1115568" y="3630168"/>
            <a:ext cx="4572000" cy="365760"/>
          </a:xfrm>
          <a:prstGeom prst="rect">
            <a:avLst/>
          </a:prstGeom>
          <a:noFill/>
        </p:spPr>
        <p:txBody>
          <a:bodyPr wrap="square" lIns="0" tIns="0" rIns="0" bIns="0" anchor="t">
            <a:spAutoFit/>
          </a:bodyPr>
          <a:lstStyle/>
          <a:p>
            <a:pPr algn="l">
              <a:spcAft>
                <a:spcPts val="400"/>
              </a:spcAft>
            </a:pPr>
            <a:r>
              <a:rPr sz="1600" b="1" i="0">
                <a:solidFill>
                  <a:srgbClr val="14142B"/>
                </a:solidFill>
                <a:latin typeface="Calibri"/>
              </a:rPr>
              <a:t>Generic LLM chatbots</a:t>
            </a:r>
          </a:p>
        </p:txBody>
      </p:sp>
      <p:sp>
        <p:nvSpPr>
          <p:cNvPr id="13" name="TextBox 12"/>
          <p:cNvSpPr txBox="1"/>
          <p:nvPr/>
        </p:nvSpPr>
        <p:spPr>
          <a:xfrm>
            <a:off x="1115568" y="3995928"/>
            <a:ext cx="4572000" cy="320040"/>
          </a:xfrm>
          <a:prstGeom prst="rect">
            <a:avLst/>
          </a:prstGeom>
          <a:noFill/>
        </p:spPr>
        <p:txBody>
          <a:bodyPr wrap="square" lIns="0" tIns="0" rIns="0" bIns="0" anchor="t">
            <a:spAutoFit/>
          </a:bodyPr>
          <a:lstStyle/>
          <a:p>
            <a:pPr algn="l">
              <a:spcAft>
                <a:spcPts val="400"/>
              </a:spcAft>
            </a:pPr>
            <a:r>
              <a:rPr sz="1200" b="0" i="1">
                <a:solidFill>
                  <a:srgbClr val="6D28D9"/>
                </a:solidFill>
                <a:latin typeface="Calibri"/>
              </a:rPr>
              <a:t>Free-form generated answers</a:t>
            </a:r>
          </a:p>
        </p:txBody>
      </p:sp>
      <p:sp>
        <p:nvSpPr>
          <p:cNvPr id="14" name="TextBox 13"/>
          <p:cNvSpPr txBox="1"/>
          <p:nvPr/>
        </p:nvSpPr>
        <p:spPr>
          <a:xfrm>
            <a:off x="1115568" y="4343400"/>
            <a:ext cx="4572000" cy="731520"/>
          </a:xfrm>
          <a:prstGeom prst="rect">
            <a:avLst/>
          </a:prstGeom>
          <a:noFill/>
        </p:spPr>
        <p:txBody>
          <a:bodyPr wrap="square" lIns="0" tIns="0" rIns="0" bIns="0" anchor="t">
            <a:spAutoFit/>
          </a:bodyPr>
          <a:lstStyle/>
          <a:p>
            <a:pPr algn="l">
              <a:spcAft>
                <a:spcPts val="400"/>
              </a:spcAft>
            </a:pPr>
            <a:r>
              <a:rPr sz="1250" b="0" i="0">
                <a:solidFill>
                  <a:srgbClr val="63637E"/>
                </a:solidFill>
                <a:latin typeface="Calibri"/>
              </a:rPr>
              <a:t>Gap: Fluent but ungrounded: can invent settings paths or links, equally confident when wrong.</a:t>
            </a:r>
          </a:p>
        </p:txBody>
      </p:sp>
      <p:sp>
        <p:nvSpPr>
          <p:cNvPr id="15" name="Rounded Rectangle 14"/>
          <p:cNvSpPr/>
          <p:nvPr/>
        </p:nvSpPr>
        <p:spPr>
          <a:xfrm>
            <a:off x="6236207" y="3429000"/>
            <a:ext cx="5120640" cy="1737360"/>
          </a:xfrm>
          <a:prstGeom prst="roundRect">
            <a:avLst>
              <a:gd name="adj" fmla="val 6000"/>
            </a:avLst>
          </a:prstGeom>
          <a:solidFill>
            <a:srgbClr val="F5F3FF"/>
          </a:solidFill>
          <a:ln w="12700">
            <a:solidFill>
              <a:srgbClr val="DDD6F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510527" y="3630168"/>
            <a:ext cx="4572000" cy="365760"/>
          </a:xfrm>
          <a:prstGeom prst="rect">
            <a:avLst/>
          </a:prstGeom>
          <a:noFill/>
        </p:spPr>
        <p:txBody>
          <a:bodyPr wrap="square" lIns="0" tIns="0" rIns="0" bIns="0" anchor="t">
            <a:spAutoFit/>
          </a:bodyPr>
          <a:lstStyle/>
          <a:p>
            <a:pPr algn="l">
              <a:spcAft>
                <a:spcPts val="400"/>
              </a:spcAft>
            </a:pPr>
            <a:r>
              <a:rPr sz="1600" b="1" i="0">
                <a:solidFill>
                  <a:srgbClr val="14142B"/>
                </a:solidFill>
                <a:latin typeface="Calibri"/>
              </a:rPr>
              <a:t>Human agent triage</a:t>
            </a:r>
          </a:p>
        </p:txBody>
      </p:sp>
      <p:sp>
        <p:nvSpPr>
          <p:cNvPr id="17" name="TextBox 16"/>
          <p:cNvSpPr txBox="1"/>
          <p:nvPr/>
        </p:nvSpPr>
        <p:spPr>
          <a:xfrm>
            <a:off x="6510527" y="3995928"/>
            <a:ext cx="4572000" cy="320040"/>
          </a:xfrm>
          <a:prstGeom prst="rect">
            <a:avLst/>
          </a:prstGeom>
          <a:noFill/>
        </p:spPr>
        <p:txBody>
          <a:bodyPr wrap="square" lIns="0" tIns="0" rIns="0" bIns="0" anchor="t">
            <a:spAutoFit/>
          </a:bodyPr>
          <a:lstStyle/>
          <a:p>
            <a:pPr algn="l">
              <a:spcAft>
                <a:spcPts val="400"/>
              </a:spcAft>
            </a:pPr>
            <a:r>
              <a:rPr sz="1200" b="0" i="1">
                <a:solidFill>
                  <a:srgbClr val="6D28D9"/>
                </a:solidFill>
                <a:latin typeface="Calibri"/>
              </a:rPr>
              <a:t>Agent reads docs, writes steps</a:t>
            </a:r>
          </a:p>
        </p:txBody>
      </p:sp>
      <p:sp>
        <p:nvSpPr>
          <p:cNvPr id="18" name="TextBox 17"/>
          <p:cNvSpPr txBox="1"/>
          <p:nvPr/>
        </p:nvSpPr>
        <p:spPr>
          <a:xfrm>
            <a:off x="6510527" y="4343400"/>
            <a:ext cx="4572000" cy="731520"/>
          </a:xfrm>
          <a:prstGeom prst="rect">
            <a:avLst/>
          </a:prstGeom>
          <a:noFill/>
        </p:spPr>
        <p:txBody>
          <a:bodyPr wrap="square" lIns="0" tIns="0" rIns="0" bIns="0" anchor="t">
            <a:spAutoFit/>
          </a:bodyPr>
          <a:lstStyle/>
          <a:p>
            <a:pPr algn="l">
              <a:spcAft>
                <a:spcPts val="400"/>
              </a:spcAft>
            </a:pPr>
            <a:r>
              <a:rPr sz="1250" b="0" i="0">
                <a:solidFill>
                  <a:srgbClr val="63637E"/>
                </a:solidFill>
                <a:latin typeface="Calibri"/>
              </a:rPr>
              <a:t>Gap: Accurate, but ~15 minutes per case across millions of interactions.</a:t>
            </a:r>
          </a:p>
        </p:txBody>
      </p:sp>
      <p:sp>
        <p:nvSpPr>
          <p:cNvPr id="19" name="TextBox 18"/>
          <p:cNvSpPr txBox="1"/>
          <p:nvPr/>
        </p:nvSpPr>
        <p:spPr>
          <a:xfrm>
            <a:off x="841248" y="5394959"/>
            <a:ext cx="10515600" cy="548640"/>
          </a:xfrm>
          <a:prstGeom prst="rect">
            <a:avLst/>
          </a:prstGeom>
          <a:noFill/>
        </p:spPr>
        <p:txBody>
          <a:bodyPr wrap="square" lIns="0" tIns="0" rIns="0" bIns="0" anchor="t">
            <a:spAutoFit/>
          </a:bodyPr>
          <a:lstStyle/>
          <a:p>
            <a:pPr algn="l">
              <a:spcAft>
                <a:spcPts val="400"/>
              </a:spcAft>
            </a:pPr>
            <a:r>
              <a:rPr sz="1300" b="0" i="1">
                <a:solidFill>
                  <a:srgbClr val="6D28D9"/>
                </a:solidFill>
                <a:latin typeface="Calibri"/>
              </a:rPr>
              <a:t>Our position: LLM flexibility for messy language, but every deeplink comes from Samsung's catalog — and when grounding is weak, the system says so instead of guessing.</a:t>
            </a:r>
          </a:p>
        </p:txBody>
      </p:sp>
    </p:spTree>
    <p:extLst>
      <p:ext uri="{BB962C8B-B14F-4D97-AF65-F5344CB8AC3E}">
        <p14:creationId xmlns:p14="http://schemas.microsoft.com/office/powerpoint/2010/main" val="154997041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353DB3-FB86-4452-A4FB-E7F4BEA62856}"/>
              </a:ext>
            </a:extLst>
          </p:cNvPr>
          <p:cNvSpPr>
            <a:spLocks noGrp="1"/>
          </p:cNvSpPr>
          <p:nvPr>
            <p:ph type="title"/>
          </p:nvPr>
        </p:nvSpPr>
        <p:spPr>
          <a:xfrm>
            <a:off x="909917" y="266513"/>
            <a:ext cx="10515600" cy="1325563"/>
          </a:xfrm>
        </p:spPr>
        <p:txBody>
          <a:bodyPr/>
          <a:lstStyle/>
          <a:p>
            <a:r>
              <a:rPr lang="en-IN" b="1" dirty="0">
                <a:solidFill>
                  <a:srgbClr val="704EA6"/>
                </a:solidFill>
                <a:latin typeface="+mn-lt"/>
              </a:rPr>
              <a:t>Our Solutions &amp; Architecture Diagram</a:t>
            </a:r>
          </a:p>
        </p:txBody>
      </p:sp>
      <p:sp>
        <p:nvSpPr>
          <p:cNvPr id="3" name="Rounded Rectangle 2"/>
          <p:cNvSpPr/>
          <p:nvPr/>
        </p:nvSpPr>
        <p:spPr>
          <a:xfrm>
            <a:off x="841248" y="1600200"/>
            <a:ext cx="1481328" cy="1417320"/>
          </a:xfrm>
          <a:prstGeom prst="roundRect">
            <a:avLst>
              <a:gd name="adj" fmla="val 6000"/>
            </a:avLst>
          </a:prstGeom>
          <a:solidFill>
            <a:srgbClr val="F5F3FF"/>
          </a:solidFill>
          <a:ln w="12700">
            <a:solidFill>
              <a:srgbClr val="DDD6F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41248" y="1600200"/>
            <a:ext cx="1481328" cy="1417320"/>
          </a:xfrm>
          <a:prstGeom prst="rect">
            <a:avLst/>
          </a:prstGeom>
          <a:noFill/>
        </p:spPr>
        <p:txBody>
          <a:bodyPr wrap="square" lIns="0" tIns="0" rIns="0" bIns="0" anchor="ctr">
            <a:spAutoFit/>
          </a:bodyPr>
          <a:lstStyle/>
          <a:p>
            <a:pPr algn="ctr">
              <a:spcAft>
                <a:spcPts val="0"/>
              </a:spcAft>
            </a:pPr>
            <a:r>
              <a:rPr sz="1200" b="1" i="0">
                <a:solidFill>
                  <a:srgbClr val="14142B"/>
                </a:solidFill>
                <a:latin typeface="Calibri"/>
              </a:rPr>
              <a:t>Complaint</a:t>
            </a:r>
          </a:p>
          <a:p>
            <a:pPr algn="ctr">
              <a:spcAft>
                <a:spcPts val="0"/>
              </a:spcAft>
            </a:pPr>
            <a:r>
              <a:rPr sz="1200" b="1" i="0">
                <a:solidFill>
                  <a:srgbClr val="14142B"/>
                </a:solidFill>
                <a:latin typeface="Calibri"/>
              </a:rPr>
              <a:t>+ SIIS text</a:t>
            </a:r>
          </a:p>
        </p:txBody>
      </p:sp>
      <p:sp>
        <p:nvSpPr>
          <p:cNvPr id="5" name="TextBox 4"/>
          <p:cNvSpPr txBox="1"/>
          <p:nvPr/>
        </p:nvSpPr>
        <p:spPr>
          <a:xfrm>
            <a:off x="2322576" y="2080260"/>
            <a:ext cx="329184" cy="457200"/>
          </a:xfrm>
          <a:prstGeom prst="rect">
            <a:avLst/>
          </a:prstGeom>
          <a:noFill/>
        </p:spPr>
        <p:txBody>
          <a:bodyPr wrap="square" lIns="0" tIns="0" rIns="0" bIns="0" anchor="t">
            <a:spAutoFit/>
          </a:bodyPr>
          <a:lstStyle/>
          <a:p>
            <a:pPr algn="ctr">
              <a:spcAft>
                <a:spcPts val="400"/>
              </a:spcAft>
            </a:pPr>
            <a:r>
              <a:rPr sz="2000" b="1" i="0">
                <a:solidFill>
                  <a:srgbClr val="6D28D9"/>
                </a:solidFill>
                <a:latin typeface="Arial"/>
              </a:rPr>
              <a:t>→</a:t>
            </a:r>
          </a:p>
        </p:txBody>
      </p:sp>
      <p:sp>
        <p:nvSpPr>
          <p:cNvPr id="6" name="Rounded Rectangle 5"/>
          <p:cNvSpPr/>
          <p:nvPr/>
        </p:nvSpPr>
        <p:spPr>
          <a:xfrm>
            <a:off x="2651760" y="1600200"/>
            <a:ext cx="1481328" cy="1417320"/>
          </a:xfrm>
          <a:prstGeom prst="roundRect">
            <a:avLst>
              <a:gd name="adj" fmla="val 6000"/>
            </a:avLst>
          </a:prstGeom>
          <a:solidFill>
            <a:srgbClr val="EDE9FE"/>
          </a:solidFill>
          <a:ln w="12700">
            <a:solidFill>
              <a:srgbClr val="DDD6F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2651760" y="1600200"/>
            <a:ext cx="1481328" cy="1417320"/>
          </a:xfrm>
          <a:prstGeom prst="rect">
            <a:avLst/>
          </a:prstGeom>
          <a:noFill/>
        </p:spPr>
        <p:txBody>
          <a:bodyPr wrap="square" lIns="0" tIns="0" rIns="0" bIns="0" anchor="ctr">
            <a:spAutoFit/>
          </a:bodyPr>
          <a:lstStyle/>
          <a:p>
            <a:pPr algn="ctr">
              <a:spcAft>
                <a:spcPts val="0"/>
              </a:spcAft>
            </a:pPr>
            <a:r>
              <a:rPr sz="1200" b="1" i="0">
                <a:solidFill>
                  <a:srgbClr val="14142B"/>
                </a:solidFill>
                <a:latin typeface="Calibri"/>
              </a:rPr>
              <a:t>Semantic</a:t>
            </a:r>
          </a:p>
          <a:p>
            <a:pPr algn="ctr">
              <a:spcAft>
                <a:spcPts val="0"/>
              </a:spcAft>
            </a:pPr>
            <a:r>
              <a:rPr sz="1200" b="1" i="0">
                <a:solidFill>
                  <a:srgbClr val="14142B"/>
                </a:solidFill>
                <a:latin typeface="Calibri"/>
              </a:rPr>
              <a:t>cache</a:t>
            </a:r>
          </a:p>
        </p:txBody>
      </p:sp>
      <p:sp>
        <p:nvSpPr>
          <p:cNvPr id="8" name="TextBox 7"/>
          <p:cNvSpPr txBox="1"/>
          <p:nvPr/>
        </p:nvSpPr>
        <p:spPr>
          <a:xfrm>
            <a:off x="4133087" y="2080260"/>
            <a:ext cx="329184" cy="457200"/>
          </a:xfrm>
          <a:prstGeom prst="rect">
            <a:avLst/>
          </a:prstGeom>
          <a:noFill/>
        </p:spPr>
        <p:txBody>
          <a:bodyPr wrap="square" lIns="0" tIns="0" rIns="0" bIns="0" anchor="t">
            <a:spAutoFit/>
          </a:bodyPr>
          <a:lstStyle/>
          <a:p>
            <a:pPr algn="ctr">
              <a:spcAft>
                <a:spcPts val="400"/>
              </a:spcAft>
            </a:pPr>
            <a:r>
              <a:rPr sz="2000" b="1" i="0">
                <a:solidFill>
                  <a:srgbClr val="6D28D9"/>
                </a:solidFill>
                <a:latin typeface="Arial"/>
              </a:rPr>
              <a:t>→</a:t>
            </a:r>
          </a:p>
        </p:txBody>
      </p:sp>
      <p:sp>
        <p:nvSpPr>
          <p:cNvPr id="9" name="Rounded Rectangle 8"/>
          <p:cNvSpPr/>
          <p:nvPr/>
        </p:nvSpPr>
        <p:spPr>
          <a:xfrm>
            <a:off x="4462272" y="1600200"/>
            <a:ext cx="1481328" cy="1417320"/>
          </a:xfrm>
          <a:prstGeom prst="roundRect">
            <a:avLst>
              <a:gd name="adj" fmla="val 6000"/>
            </a:avLst>
          </a:prstGeom>
          <a:solidFill>
            <a:srgbClr val="F5F3FF"/>
          </a:solidFill>
          <a:ln w="12700">
            <a:solidFill>
              <a:srgbClr val="DDD6F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462272" y="1600200"/>
            <a:ext cx="1481328" cy="1417320"/>
          </a:xfrm>
          <a:prstGeom prst="rect">
            <a:avLst/>
          </a:prstGeom>
          <a:noFill/>
        </p:spPr>
        <p:txBody>
          <a:bodyPr wrap="square" lIns="0" tIns="0" rIns="0" bIns="0" anchor="ctr">
            <a:spAutoFit/>
          </a:bodyPr>
          <a:lstStyle/>
          <a:p>
            <a:pPr algn="ctr">
              <a:spcAft>
                <a:spcPts val="0"/>
              </a:spcAft>
            </a:pPr>
            <a:r>
              <a:rPr sz="1200" b="1" i="0">
                <a:solidFill>
                  <a:srgbClr val="14142B"/>
                </a:solidFill>
                <a:latin typeface="Calibri"/>
              </a:rPr>
              <a:t>SIIS</a:t>
            </a:r>
          </a:p>
          <a:p>
            <a:pPr algn="ctr">
              <a:spcAft>
                <a:spcPts val="0"/>
              </a:spcAft>
            </a:pPr>
            <a:r>
              <a:rPr sz="1200" b="1" i="0">
                <a:solidFill>
                  <a:srgbClr val="14142B"/>
                </a:solidFill>
                <a:latin typeface="Calibri"/>
              </a:rPr>
              <a:t>relevance</a:t>
            </a:r>
          </a:p>
          <a:p>
            <a:pPr algn="ctr">
              <a:spcAft>
                <a:spcPts val="0"/>
              </a:spcAft>
            </a:pPr>
            <a:r>
              <a:rPr sz="1200" b="1" i="0">
                <a:solidFill>
                  <a:srgbClr val="14142B"/>
                </a:solidFill>
                <a:latin typeface="Calibri"/>
              </a:rPr>
              <a:t>check</a:t>
            </a:r>
          </a:p>
        </p:txBody>
      </p:sp>
      <p:sp>
        <p:nvSpPr>
          <p:cNvPr id="11" name="TextBox 10"/>
          <p:cNvSpPr txBox="1"/>
          <p:nvPr/>
        </p:nvSpPr>
        <p:spPr>
          <a:xfrm>
            <a:off x="5943600" y="2080260"/>
            <a:ext cx="329184" cy="457200"/>
          </a:xfrm>
          <a:prstGeom prst="rect">
            <a:avLst/>
          </a:prstGeom>
          <a:noFill/>
        </p:spPr>
        <p:txBody>
          <a:bodyPr wrap="square" lIns="0" tIns="0" rIns="0" bIns="0" anchor="t">
            <a:spAutoFit/>
          </a:bodyPr>
          <a:lstStyle/>
          <a:p>
            <a:pPr algn="ctr">
              <a:spcAft>
                <a:spcPts val="400"/>
              </a:spcAft>
            </a:pPr>
            <a:r>
              <a:rPr sz="2000" b="1" i="0">
                <a:solidFill>
                  <a:srgbClr val="6D28D9"/>
                </a:solidFill>
                <a:latin typeface="Arial"/>
              </a:rPr>
              <a:t>→</a:t>
            </a:r>
          </a:p>
        </p:txBody>
      </p:sp>
      <p:sp>
        <p:nvSpPr>
          <p:cNvPr id="12" name="Rounded Rectangle 11"/>
          <p:cNvSpPr/>
          <p:nvPr/>
        </p:nvSpPr>
        <p:spPr>
          <a:xfrm>
            <a:off x="6272783" y="1600200"/>
            <a:ext cx="1481328" cy="1417320"/>
          </a:xfrm>
          <a:prstGeom prst="roundRect">
            <a:avLst>
              <a:gd name="adj" fmla="val 6000"/>
            </a:avLst>
          </a:prstGeom>
          <a:solidFill>
            <a:srgbClr val="EDE9FE"/>
          </a:solidFill>
          <a:ln w="12700">
            <a:solidFill>
              <a:srgbClr val="DDD6F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272783" y="1600200"/>
            <a:ext cx="1481328" cy="1417320"/>
          </a:xfrm>
          <a:prstGeom prst="rect">
            <a:avLst/>
          </a:prstGeom>
          <a:noFill/>
        </p:spPr>
        <p:txBody>
          <a:bodyPr wrap="square" lIns="0" tIns="0" rIns="0" bIns="0" anchor="ctr">
            <a:spAutoFit/>
          </a:bodyPr>
          <a:lstStyle/>
          <a:p>
            <a:pPr algn="ctr">
              <a:spcAft>
                <a:spcPts val="0"/>
              </a:spcAft>
            </a:pPr>
            <a:r>
              <a:rPr sz="1200" b="1" i="0">
                <a:solidFill>
                  <a:srgbClr val="14142B"/>
                </a:solidFill>
                <a:latin typeface="Calibri"/>
              </a:rPr>
              <a:t>Enrichment ∥</a:t>
            </a:r>
          </a:p>
          <a:p>
            <a:pPr algn="ctr">
              <a:spcAft>
                <a:spcPts val="0"/>
              </a:spcAft>
            </a:pPr>
            <a:r>
              <a:rPr sz="1200" b="1" i="0">
                <a:solidFill>
                  <a:srgbClr val="14142B"/>
                </a:solidFill>
                <a:latin typeface="Calibri"/>
              </a:rPr>
              <a:t>Extraction</a:t>
            </a:r>
          </a:p>
          <a:p>
            <a:pPr algn="ctr">
              <a:spcAft>
                <a:spcPts val="0"/>
              </a:spcAft>
            </a:pPr>
            <a:r>
              <a:rPr sz="1200" b="1" i="0">
                <a:solidFill>
                  <a:srgbClr val="14142B"/>
                </a:solidFill>
                <a:latin typeface="Calibri"/>
              </a:rPr>
              <a:t>(LLM)</a:t>
            </a:r>
          </a:p>
        </p:txBody>
      </p:sp>
      <p:sp>
        <p:nvSpPr>
          <p:cNvPr id="14" name="TextBox 13"/>
          <p:cNvSpPr txBox="1"/>
          <p:nvPr/>
        </p:nvSpPr>
        <p:spPr>
          <a:xfrm>
            <a:off x="7754112" y="2080260"/>
            <a:ext cx="329184" cy="457200"/>
          </a:xfrm>
          <a:prstGeom prst="rect">
            <a:avLst/>
          </a:prstGeom>
          <a:noFill/>
        </p:spPr>
        <p:txBody>
          <a:bodyPr wrap="square" lIns="0" tIns="0" rIns="0" bIns="0" anchor="t">
            <a:spAutoFit/>
          </a:bodyPr>
          <a:lstStyle/>
          <a:p>
            <a:pPr algn="ctr">
              <a:spcAft>
                <a:spcPts val="400"/>
              </a:spcAft>
            </a:pPr>
            <a:r>
              <a:rPr sz="2000" b="1" i="0">
                <a:solidFill>
                  <a:srgbClr val="6D28D9"/>
                </a:solidFill>
                <a:latin typeface="Arial"/>
              </a:rPr>
              <a:t>→</a:t>
            </a:r>
          </a:p>
        </p:txBody>
      </p:sp>
      <p:sp>
        <p:nvSpPr>
          <p:cNvPr id="15" name="Rounded Rectangle 14"/>
          <p:cNvSpPr/>
          <p:nvPr/>
        </p:nvSpPr>
        <p:spPr>
          <a:xfrm>
            <a:off x="8083296" y="1600200"/>
            <a:ext cx="1481328" cy="1417320"/>
          </a:xfrm>
          <a:prstGeom prst="roundRect">
            <a:avLst>
              <a:gd name="adj" fmla="val 6000"/>
            </a:avLst>
          </a:prstGeom>
          <a:solidFill>
            <a:srgbClr val="F5F3FF"/>
          </a:solidFill>
          <a:ln w="12700">
            <a:solidFill>
              <a:srgbClr val="DDD6F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083296" y="1600200"/>
            <a:ext cx="1481328" cy="1417320"/>
          </a:xfrm>
          <a:prstGeom prst="rect">
            <a:avLst/>
          </a:prstGeom>
          <a:noFill/>
        </p:spPr>
        <p:txBody>
          <a:bodyPr wrap="square" lIns="0" tIns="0" rIns="0" bIns="0" anchor="ctr">
            <a:spAutoFit/>
          </a:bodyPr>
          <a:lstStyle/>
          <a:p>
            <a:pPr algn="ctr">
              <a:spcAft>
                <a:spcPts val="0"/>
              </a:spcAft>
            </a:pPr>
            <a:r>
              <a:rPr sz="1200" b="1" i="0">
                <a:solidFill>
                  <a:srgbClr val="14142B"/>
                </a:solidFill>
                <a:latin typeface="Calibri"/>
              </a:rPr>
              <a:t>Deeplink</a:t>
            </a:r>
          </a:p>
          <a:p>
            <a:pPr algn="ctr">
              <a:spcAft>
                <a:spcPts val="0"/>
              </a:spcAft>
            </a:pPr>
            <a:r>
              <a:rPr sz="1200" b="1" i="0">
                <a:solidFill>
                  <a:srgbClr val="14142B"/>
                </a:solidFill>
                <a:latin typeface="Calibri"/>
              </a:rPr>
              <a:t>matching</a:t>
            </a:r>
          </a:p>
          <a:p>
            <a:pPr algn="ctr">
              <a:spcAft>
                <a:spcPts val="0"/>
              </a:spcAft>
            </a:pPr>
            <a:r>
              <a:rPr sz="1200" b="1" i="0">
                <a:solidFill>
                  <a:srgbClr val="14142B"/>
                </a:solidFill>
                <a:latin typeface="Calibri"/>
              </a:rPr>
              <a:t>(confidence-</a:t>
            </a:r>
          </a:p>
          <a:p>
            <a:pPr algn="ctr">
              <a:spcAft>
                <a:spcPts val="0"/>
              </a:spcAft>
            </a:pPr>
            <a:r>
              <a:rPr sz="1200" b="1" i="0">
                <a:solidFill>
                  <a:srgbClr val="14142B"/>
                </a:solidFill>
                <a:latin typeface="Calibri"/>
              </a:rPr>
              <a:t>gated)</a:t>
            </a:r>
          </a:p>
        </p:txBody>
      </p:sp>
      <p:sp>
        <p:nvSpPr>
          <p:cNvPr id="17" name="TextBox 16"/>
          <p:cNvSpPr txBox="1"/>
          <p:nvPr/>
        </p:nvSpPr>
        <p:spPr>
          <a:xfrm>
            <a:off x="9564624" y="2080260"/>
            <a:ext cx="329184" cy="457200"/>
          </a:xfrm>
          <a:prstGeom prst="rect">
            <a:avLst/>
          </a:prstGeom>
          <a:noFill/>
        </p:spPr>
        <p:txBody>
          <a:bodyPr wrap="square" lIns="0" tIns="0" rIns="0" bIns="0" anchor="t">
            <a:spAutoFit/>
          </a:bodyPr>
          <a:lstStyle/>
          <a:p>
            <a:pPr algn="ctr">
              <a:spcAft>
                <a:spcPts val="400"/>
              </a:spcAft>
            </a:pPr>
            <a:r>
              <a:rPr sz="2000" b="1" i="0">
                <a:solidFill>
                  <a:srgbClr val="6D28D9"/>
                </a:solidFill>
                <a:latin typeface="Arial"/>
              </a:rPr>
              <a:t>→</a:t>
            </a:r>
          </a:p>
        </p:txBody>
      </p:sp>
      <p:sp>
        <p:nvSpPr>
          <p:cNvPr id="18" name="Rounded Rectangle 17"/>
          <p:cNvSpPr/>
          <p:nvPr/>
        </p:nvSpPr>
        <p:spPr>
          <a:xfrm>
            <a:off x="9893808" y="1600200"/>
            <a:ext cx="1481328" cy="1417320"/>
          </a:xfrm>
          <a:prstGeom prst="roundRect">
            <a:avLst>
              <a:gd name="adj" fmla="val 6000"/>
            </a:avLst>
          </a:prstGeom>
          <a:solidFill>
            <a:srgbClr val="EDE9FE"/>
          </a:solidFill>
          <a:ln w="12700">
            <a:solidFill>
              <a:srgbClr val="DDD6F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9893808" y="1600200"/>
            <a:ext cx="1481328" cy="1417320"/>
          </a:xfrm>
          <a:prstGeom prst="rect">
            <a:avLst/>
          </a:prstGeom>
          <a:noFill/>
        </p:spPr>
        <p:txBody>
          <a:bodyPr wrap="square" lIns="0" tIns="0" rIns="0" bIns="0" anchor="ctr">
            <a:spAutoFit/>
          </a:bodyPr>
          <a:lstStyle/>
          <a:p>
            <a:pPr algn="ctr">
              <a:spcAft>
                <a:spcPts val="0"/>
              </a:spcAft>
            </a:pPr>
            <a:r>
              <a:rPr sz="1200" b="1" i="0">
                <a:solidFill>
                  <a:srgbClr val="14142B"/>
                </a:solidFill>
                <a:latin typeface="Calibri"/>
              </a:rPr>
              <a:t>Ground +</a:t>
            </a:r>
          </a:p>
          <a:p>
            <a:pPr algn="ctr">
              <a:spcAft>
                <a:spcPts val="0"/>
              </a:spcAft>
            </a:pPr>
            <a:r>
              <a:rPr sz="1200" b="1" i="0">
                <a:solidFill>
                  <a:srgbClr val="14142B"/>
                </a:solidFill>
                <a:latin typeface="Calibri"/>
              </a:rPr>
              <a:t>order +</a:t>
            </a:r>
          </a:p>
          <a:p>
            <a:pPr algn="ctr">
              <a:spcAft>
                <a:spcPts val="0"/>
              </a:spcAft>
            </a:pPr>
            <a:r>
              <a:rPr sz="1200" b="1" i="0">
                <a:solidFill>
                  <a:srgbClr val="14142B"/>
                </a:solidFill>
                <a:latin typeface="Calibri"/>
              </a:rPr>
              <a:t>validate</a:t>
            </a:r>
          </a:p>
        </p:txBody>
      </p:sp>
      <p:sp>
        <p:nvSpPr>
          <p:cNvPr id="20" name="Rounded Rectangle 19"/>
          <p:cNvSpPr/>
          <p:nvPr/>
        </p:nvSpPr>
        <p:spPr>
          <a:xfrm>
            <a:off x="2651760" y="3429000"/>
            <a:ext cx="1481328" cy="822960"/>
          </a:xfrm>
          <a:prstGeom prst="roundRect">
            <a:avLst>
              <a:gd name="adj" fmla="val 6000"/>
            </a:avLst>
          </a:prstGeom>
          <a:solidFill>
            <a:srgbClr val="ECFDF5"/>
          </a:solidFill>
          <a:ln w="12700">
            <a:solidFill>
              <a:srgbClr val="6EE7B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2651760" y="3429000"/>
            <a:ext cx="1481328" cy="822960"/>
          </a:xfrm>
          <a:prstGeom prst="rect">
            <a:avLst/>
          </a:prstGeom>
          <a:noFill/>
        </p:spPr>
        <p:txBody>
          <a:bodyPr wrap="square" lIns="0" tIns="0" rIns="0" bIns="0" anchor="ctr">
            <a:spAutoFit/>
          </a:bodyPr>
          <a:lstStyle/>
          <a:p>
            <a:pPr algn="ctr">
              <a:spcAft>
                <a:spcPts val="0"/>
              </a:spcAft>
            </a:pPr>
            <a:r>
              <a:rPr sz="1100" b="0" i="0">
                <a:solidFill>
                  <a:srgbClr val="047857"/>
                </a:solidFill>
                <a:latin typeface="Calibri"/>
              </a:rPr>
              <a:t>hit → plan in</a:t>
            </a:r>
          </a:p>
          <a:p>
            <a:pPr algn="ctr">
              <a:spcAft>
                <a:spcPts val="0"/>
              </a:spcAft>
            </a:pPr>
            <a:r>
              <a:rPr sz="1100" b="0" i="0">
                <a:solidFill>
                  <a:srgbClr val="047857"/>
                </a:solidFill>
                <a:latin typeface="Calibri"/>
              </a:rPr>
              <a:t>milliseconds</a:t>
            </a:r>
          </a:p>
        </p:txBody>
      </p:sp>
      <p:sp>
        <p:nvSpPr>
          <p:cNvPr id="22" name="Rounded Rectangle 21"/>
          <p:cNvSpPr/>
          <p:nvPr/>
        </p:nvSpPr>
        <p:spPr>
          <a:xfrm>
            <a:off x="4462272" y="3429000"/>
            <a:ext cx="1481328" cy="822960"/>
          </a:xfrm>
          <a:prstGeom prst="roundRect">
            <a:avLst>
              <a:gd name="adj" fmla="val 6000"/>
            </a:avLst>
          </a:prstGeom>
          <a:solidFill>
            <a:srgbClr val="FEF2F2"/>
          </a:solidFill>
          <a:ln w="12700">
            <a:solidFill>
              <a:srgbClr val="FCA5A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4462272" y="3429000"/>
            <a:ext cx="1481328" cy="822960"/>
          </a:xfrm>
          <a:prstGeom prst="rect">
            <a:avLst/>
          </a:prstGeom>
          <a:noFill/>
        </p:spPr>
        <p:txBody>
          <a:bodyPr wrap="square" lIns="0" tIns="0" rIns="0" bIns="0" anchor="ctr">
            <a:spAutoFit/>
          </a:bodyPr>
          <a:lstStyle/>
          <a:p>
            <a:pPr algn="ctr">
              <a:spcAft>
                <a:spcPts val="0"/>
              </a:spcAft>
            </a:pPr>
            <a:r>
              <a:rPr sz="1100" b="0" i="0">
                <a:solidFill>
                  <a:srgbClr val="B91C1C"/>
                </a:solidFill>
                <a:latin typeface="Calibri"/>
              </a:rPr>
              <a:t>mismatch →</a:t>
            </a:r>
          </a:p>
          <a:p>
            <a:pPr algn="ctr">
              <a:spcAft>
                <a:spcPts val="0"/>
              </a:spcAft>
            </a:pPr>
            <a:r>
              <a:rPr sz="1100" b="0" i="0">
                <a:solidFill>
                  <a:srgbClr val="B91C1C"/>
                </a:solidFill>
                <a:latin typeface="Calibri"/>
              </a:rPr>
              <a:t>abstain, no</a:t>
            </a:r>
          </a:p>
          <a:p>
            <a:pPr algn="ctr">
              <a:spcAft>
                <a:spcPts val="0"/>
              </a:spcAft>
            </a:pPr>
            <a:r>
              <a:rPr sz="1100" b="0" i="0">
                <a:solidFill>
                  <a:srgbClr val="B91C1C"/>
                </a:solidFill>
                <a:latin typeface="Calibri"/>
              </a:rPr>
              <a:t>LLM call</a:t>
            </a:r>
          </a:p>
        </p:txBody>
      </p:sp>
      <p:sp>
        <p:nvSpPr>
          <p:cNvPr id="24" name="Rounded Rectangle 23"/>
          <p:cNvSpPr/>
          <p:nvPr/>
        </p:nvSpPr>
        <p:spPr>
          <a:xfrm>
            <a:off x="8083296" y="3429000"/>
            <a:ext cx="1481328" cy="822960"/>
          </a:xfrm>
          <a:prstGeom prst="roundRect">
            <a:avLst>
              <a:gd name="adj" fmla="val 6000"/>
            </a:avLst>
          </a:prstGeom>
          <a:solidFill>
            <a:srgbClr val="FFFBEB"/>
          </a:solidFill>
          <a:ln w="12700">
            <a:solidFill>
              <a:srgbClr val="FCD34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8083296" y="3429000"/>
            <a:ext cx="1481328" cy="822960"/>
          </a:xfrm>
          <a:prstGeom prst="rect">
            <a:avLst/>
          </a:prstGeom>
          <a:noFill/>
        </p:spPr>
        <p:txBody>
          <a:bodyPr wrap="square" lIns="0" tIns="0" rIns="0" bIns="0" anchor="ctr">
            <a:spAutoFit/>
          </a:bodyPr>
          <a:lstStyle/>
          <a:p>
            <a:pPr algn="ctr">
              <a:spcAft>
                <a:spcPts val="0"/>
              </a:spcAft>
            </a:pPr>
            <a:r>
              <a:rPr sz="1100" b="0" i="0">
                <a:solidFill>
                  <a:srgbClr val="B45309"/>
                </a:solidFill>
                <a:latin typeface="Calibri"/>
              </a:rPr>
              <a:t>not confident →</a:t>
            </a:r>
          </a:p>
          <a:p>
            <a:pPr algn="ctr">
              <a:spcAft>
                <a:spcPts val="0"/>
              </a:spcAft>
            </a:pPr>
            <a:r>
              <a:rPr sz="1100" b="0" i="0">
                <a:solidFill>
                  <a:srgbClr val="B45309"/>
                </a:solidFill>
                <a:latin typeface="Calibri"/>
              </a:rPr>
              <a:t>placeholder or</a:t>
            </a:r>
          </a:p>
          <a:p>
            <a:pPr algn="ctr">
              <a:spcAft>
                <a:spcPts val="0"/>
              </a:spcAft>
            </a:pPr>
            <a:r>
              <a:rPr sz="1100" b="0" i="0">
                <a:solidFill>
                  <a:srgbClr val="B45309"/>
                </a:solidFill>
                <a:latin typeface="Calibri"/>
              </a:rPr>
              <a:t>manual + null</a:t>
            </a:r>
          </a:p>
        </p:txBody>
      </p:sp>
      <p:sp>
        <p:nvSpPr>
          <p:cNvPr id="26" name="TextBox 25"/>
          <p:cNvSpPr txBox="1"/>
          <p:nvPr/>
        </p:nvSpPr>
        <p:spPr>
          <a:xfrm>
            <a:off x="841248" y="4526279"/>
            <a:ext cx="10515600" cy="411480"/>
          </a:xfrm>
          <a:prstGeom prst="rect">
            <a:avLst/>
          </a:prstGeom>
          <a:noFill/>
        </p:spPr>
        <p:txBody>
          <a:bodyPr wrap="square" lIns="0" tIns="0" rIns="0" bIns="0" anchor="t">
            <a:spAutoFit/>
          </a:bodyPr>
          <a:lstStyle/>
          <a:p>
            <a:pPr algn="l">
              <a:spcAft>
                <a:spcPts val="400"/>
              </a:spcAft>
            </a:pPr>
            <a:r>
              <a:rPr sz="1250" b="1" i="0">
                <a:solidFill>
                  <a:srgbClr val="14142B"/>
                </a:solidFill>
                <a:latin typeface="Calibri"/>
              </a:rPr>
              <a:t>Every exit is explicit.</a:t>
            </a:r>
            <a:r>
              <a:rPr sz="1250">
                <a:solidFill>
                  <a:srgbClr val="63637E"/>
                </a:solidFill>
                <a:latin typeface="Calibri"/>
              </a:rPr>
              <a:t> Cache hit, relevance mismatch, low deeplink confidence and missing reference text each return a named fallback with a plain-language reason — never a silent empty answer.</a:t>
            </a:r>
          </a:p>
        </p:txBody>
      </p:sp>
      <p:sp>
        <p:nvSpPr>
          <p:cNvPr id="27" name="TextBox 26"/>
          <p:cNvSpPr txBox="1"/>
          <p:nvPr/>
        </p:nvSpPr>
        <p:spPr>
          <a:xfrm>
            <a:off x="841248" y="5001767"/>
            <a:ext cx="10515600" cy="411480"/>
          </a:xfrm>
          <a:prstGeom prst="rect">
            <a:avLst/>
          </a:prstGeom>
          <a:noFill/>
        </p:spPr>
        <p:txBody>
          <a:bodyPr wrap="square" lIns="0" tIns="0" rIns="0" bIns="0" anchor="t">
            <a:spAutoFit/>
          </a:bodyPr>
          <a:lstStyle/>
          <a:p>
            <a:pPr algn="l">
              <a:spcAft>
                <a:spcPts val="400"/>
              </a:spcAft>
            </a:pPr>
            <a:r>
              <a:rPr sz="1250" b="1" i="0">
                <a:solidFill>
                  <a:srgbClr val="14142B"/>
                </a:solidFill>
                <a:latin typeface="Calibri"/>
              </a:rPr>
              <a:t>Multi-issue aware.</a:t>
            </a:r>
            <a:r>
              <a:rPr sz="1250">
                <a:solidFill>
                  <a:srgbClr val="63637E"/>
                </a:solidFill>
                <a:latin typeface="Calibri"/>
              </a:rPr>
              <a:t> A complaint describing two problems gets two independent plans; a targeted follow-up call runs only when detection and extraction disagree.</a:t>
            </a:r>
          </a:p>
        </p:txBody>
      </p:sp>
      <p:sp>
        <p:nvSpPr>
          <p:cNvPr id="28" name="TextBox 27"/>
          <p:cNvSpPr txBox="1"/>
          <p:nvPr/>
        </p:nvSpPr>
        <p:spPr>
          <a:xfrm>
            <a:off x="841248" y="5477255"/>
            <a:ext cx="10515600" cy="411480"/>
          </a:xfrm>
          <a:prstGeom prst="rect">
            <a:avLst/>
          </a:prstGeom>
          <a:noFill/>
        </p:spPr>
        <p:txBody>
          <a:bodyPr wrap="square" lIns="0" tIns="0" rIns="0" bIns="0" anchor="t">
            <a:spAutoFit/>
          </a:bodyPr>
          <a:lstStyle/>
          <a:p>
            <a:pPr algn="l">
              <a:spcAft>
                <a:spcPts val="400"/>
              </a:spcAft>
            </a:pPr>
            <a:r>
              <a:rPr sz="1250" b="1" i="0">
                <a:solidFill>
                  <a:srgbClr val="14142B"/>
                </a:solidFill>
                <a:latin typeface="Calibri"/>
              </a:rPr>
              <a:t>Grounded output only.</a:t>
            </a:r>
            <a:r>
              <a:rPr sz="1250">
                <a:solidFill>
                  <a:srgbClr val="63637E"/>
                </a:solidFill>
                <a:latin typeface="Calibri"/>
              </a:rPr>
              <a:t> Every step is checked against the SIIS text and shown with its source sentence; deeplinks come from Samsung's catalog verbatim; failures are never cached.</a:t>
            </a:r>
          </a:p>
        </p:txBody>
      </p:sp>
    </p:spTree>
    <p:extLst>
      <p:ext uri="{BB962C8B-B14F-4D97-AF65-F5344CB8AC3E}">
        <p14:creationId xmlns:p14="http://schemas.microsoft.com/office/powerpoint/2010/main" val="2579789072"/>
      </p:ext>
    </p:extLst>
  </p:cSld>
  <p:clrMapOvr>
    <a:overrideClrMapping bg1="lt1" tx1="dk1" bg2="lt2" tx2="dk2" accent1="accent1" accent2="accent2" accent3="accent3" accent4="accent4" accent5="accent5" accent6="accent6" hlink="hlink" folHlink="folHlink"/>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353DB3-FB86-4452-A4FB-E7F4BEA62856}"/>
              </a:ext>
            </a:extLst>
          </p:cNvPr>
          <p:cNvSpPr>
            <a:spLocks noGrp="1"/>
          </p:cNvSpPr>
          <p:nvPr>
            <p:ph type="title"/>
          </p:nvPr>
        </p:nvSpPr>
        <p:spPr/>
        <p:txBody>
          <a:bodyPr/>
          <a:lstStyle/>
          <a:p>
            <a:r>
              <a:rPr lang="en-IN" b="1" dirty="0">
                <a:solidFill>
                  <a:srgbClr val="704EA6"/>
                </a:solidFill>
                <a:latin typeface="+mn-lt"/>
              </a:rPr>
              <a:t>Demo &amp; Product Walkthrough</a:t>
            </a:r>
          </a:p>
        </p:txBody>
      </p:sp>
      <p:sp>
        <p:nvSpPr>
          <p:cNvPr id="3" name="Oval 2"/>
          <p:cNvSpPr/>
          <p:nvPr/>
        </p:nvSpPr>
        <p:spPr>
          <a:xfrm>
            <a:off x="841248" y="1444752"/>
            <a:ext cx="384048" cy="384048"/>
          </a:xfrm>
          <a:prstGeom prst="ellipse">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FFFFFF"/>
                </a:solidFill>
                <a:latin typeface="Calibri"/>
              </a:rPr>
              <a:t>1</a:t>
            </a:r>
          </a:p>
        </p:txBody>
      </p:sp>
      <p:sp>
        <p:nvSpPr>
          <p:cNvPr id="4" name="TextBox 3"/>
          <p:cNvSpPr txBox="1"/>
          <p:nvPr/>
        </p:nvSpPr>
        <p:spPr>
          <a:xfrm>
            <a:off x="1389888" y="1417320"/>
            <a:ext cx="4526280" cy="320040"/>
          </a:xfrm>
          <a:prstGeom prst="rect">
            <a:avLst/>
          </a:prstGeom>
          <a:noFill/>
        </p:spPr>
        <p:txBody>
          <a:bodyPr wrap="square" lIns="0" tIns="0" rIns="0" bIns="0" anchor="t">
            <a:spAutoFit/>
          </a:bodyPr>
          <a:lstStyle/>
          <a:p>
            <a:pPr algn="l">
              <a:spcAft>
                <a:spcPts val="400"/>
              </a:spcAft>
            </a:pPr>
            <a:r>
              <a:rPr sz="1500" b="1" i="0">
                <a:solidFill>
                  <a:srgbClr val="14142B"/>
                </a:solidFill>
                <a:latin typeface="Calibri"/>
              </a:rPr>
              <a:t>Pick a Samsung query</a:t>
            </a:r>
          </a:p>
        </p:txBody>
      </p:sp>
      <p:sp>
        <p:nvSpPr>
          <p:cNvPr id="5" name="TextBox 4"/>
          <p:cNvSpPr txBox="1"/>
          <p:nvPr/>
        </p:nvSpPr>
        <p:spPr>
          <a:xfrm>
            <a:off x="1389888" y="1746504"/>
            <a:ext cx="4526280" cy="685800"/>
          </a:xfrm>
          <a:prstGeom prst="rect">
            <a:avLst/>
          </a:prstGeom>
          <a:noFill/>
        </p:spPr>
        <p:txBody>
          <a:bodyPr wrap="square" lIns="0" tIns="0" rIns="0" bIns="0" anchor="t">
            <a:spAutoFit/>
          </a:bodyPr>
          <a:lstStyle/>
          <a:p>
            <a:pPr algn="l">
              <a:spcAft>
                <a:spcPts val="400"/>
              </a:spcAft>
            </a:pPr>
            <a:r>
              <a:rPr sz="1200" b="0" i="0">
                <a:solidFill>
                  <a:srgbClr val="63637E"/>
                </a:solidFill>
                <a:latin typeface="Calibri"/>
              </a:rPr>
              <a:t>Choose one of Samsung's 20 real complaints (with its SIIS text) or type your own.</a:t>
            </a:r>
          </a:p>
        </p:txBody>
      </p:sp>
      <p:sp>
        <p:nvSpPr>
          <p:cNvPr id="6" name="Oval 5"/>
          <p:cNvSpPr/>
          <p:nvPr/>
        </p:nvSpPr>
        <p:spPr>
          <a:xfrm>
            <a:off x="6281928" y="1444752"/>
            <a:ext cx="384048" cy="384048"/>
          </a:xfrm>
          <a:prstGeom prst="ellipse">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FFFFFF"/>
                </a:solidFill>
                <a:latin typeface="Calibri"/>
              </a:rPr>
              <a:t>2</a:t>
            </a:r>
          </a:p>
        </p:txBody>
      </p:sp>
      <p:sp>
        <p:nvSpPr>
          <p:cNvPr id="7" name="TextBox 6"/>
          <p:cNvSpPr txBox="1"/>
          <p:nvPr/>
        </p:nvSpPr>
        <p:spPr>
          <a:xfrm>
            <a:off x="6830568" y="1417320"/>
            <a:ext cx="4526280" cy="320040"/>
          </a:xfrm>
          <a:prstGeom prst="rect">
            <a:avLst/>
          </a:prstGeom>
          <a:noFill/>
        </p:spPr>
        <p:txBody>
          <a:bodyPr wrap="square" lIns="0" tIns="0" rIns="0" bIns="0" anchor="t">
            <a:spAutoFit/>
          </a:bodyPr>
          <a:lstStyle/>
          <a:p>
            <a:pPr algn="l">
              <a:spcAft>
                <a:spcPts val="400"/>
              </a:spcAft>
            </a:pPr>
            <a:r>
              <a:rPr sz="1500" b="1" i="0">
                <a:solidFill>
                  <a:srgbClr val="14142B"/>
                </a:solidFill>
                <a:latin typeface="Calibri"/>
              </a:rPr>
              <a:t>Cold path</a:t>
            </a:r>
          </a:p>
        </p:txBody>
      </p:sp>
      <p:sp>
        <p:nvSpPr>
          <p:cNvPr id="8" name="TextBox 7"/>
          <p:cNvSpPr txBox="1"/>
          <p:nvPr/>
        </p:nvSpPr>
        <p:spPr>
          <a:xfrm>
            <a:off x="6830568" y="1746504"/>
            <a:ext cx="4526280" cy="685800"/>
          </a:xfrm>
          <a:prstGeom prst="rect">
            <a:avLst/>
          </a:prstGeom>
          <a:noFill/>
        </p:spPr>
        <p:txBody>
          <a:bodyPr wrap="square" lIns="0" tIns="0" rIns="0" bIns="0" anchor="t">
            <a:spAutoFit/>
          </a:bodyPr>
          <a:lstStyle/>
          <a:p>
            <a:pPr algn="l">
              <a:spcAft>
                <a:spcPts val="400"/>
              </a:spcAft>
            </a:pPr>
            <a:r>
              <a:rPr sz="1200" b="0" i="0">
                <a:solidFill>
                  <a:srgbClr val="63637E"/>
                </a:solidFill>
                <a:latin typeface="Calibri"/>
              </a:rPr>
              <a:t>Relevance gate → enrichment ∥ extraction → a grounded plan; every step shows its source sentence.</a:t>
            </a:r>
          </a:p>
        </p:txBody>
      </p:sp>
      <p:sp>
        <p:nvSpPr>
          <p:cNvPr id="9" name="Oval 8"/>
          <p:cNvSpPr/>
          <p:nvPr/>
        </p:nvSpPr>
        <p:spPr>
          <a:xfrm>
            <a:off x="841248" y="2542032"/>
            <a:ext cx="384048" cy="384048"/>
          </a:xfrm>
          <a:prstGeom prst="ellipse">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FFFFFF"/>
                </a:solidFill>
                <a:latin typeface="Calibri"/>
              </a:rPr>
              <a:t>3</a:t>
            </a:r>
          </a:p>
        </p:txBody>
      </p:sp>
      <p:sp>
        <p:nvSpPr>
          <p:cNvPr id="10" name="TextBox 9"/>
          <p:cNvSpPr txBox="1"/>
          <p:nvPr/>
        </p:nvSpPr>
        <p:spPr>
          <a:xfrm>
            <a:off x="1389888" y="2514600"/>
            <a:ext cx="4526280" cy="320040"/>
          </a:xfrm>
          <a:prstGeom prst="rect">
            <a:avLst/>
          </a:prstGeom>
          <a:noFill/>
        </p:spPr>
        <p:txBody>
          <a:bodyPr wrap="square" lIns="0" tIns="0" rIns="0" bIns="0" anchor="t">
            <a:spAutoFit/>
          </a:bodyPr>
          <a:lstStyle/>
          <a:p>
            <a:pPr algn="l">
              <a:spcAft>
                <a:spcPts val="400"/>
              </a:spcAft>
            </a:pPr>
            <a:r>
              <a:rPr sz="1500" b="1" i="0">
                <a:solidFill>
                  <a:srgbClr val="14142B"/>
                </a:solidFill>
                <a:latin typeface="Calibri"/>
              </a:rPr>
              <a:t>Paraphrase it</a:t>
            </a:r>
          </a:p>
        </p:txBody>
      </p:sp>
      <p:sp>
        <p:nvSpPr>
          <p:cNvPr id="11" name="TextBox 10"/>
          <p:cNvSpPr txBox="1"/>
          <p:nvPr/>
        </p:nvSpPr>
        <p:spPr>
          <a:xfrm>
            <a:off x="1389888" y="2843784"/>
            <a:ext cx="4526280" cy="685800"/>
          </a:xfrm>
          <a:prstGeom prst="rect">
            <a:avLst/>
          </a:prstGeom>
          <a:noFill/>
        </p:spPr>
        <p:txBody>
          <a:bodyPr wrap="square" lIns="0" tIns="0" rIns="0" bIns="0" anchor="t">
            <a:spAutoFit/>
          </a:bodyPr>
          <a:lstStyle/>
          <a:p>
            <a:pPr algn="l">
              <a:spcAft>
                <a:spcPts val="400"/>
              </a:spcAft>
            </a:pPr>
            <a:r>
              <a:rPr sz="1200" b="0" i="0">
                <a:solidFill>
                  <a:srgbClr val="63637E"/>
                </a:solidFill>
                <a:latin typeface="Calibri"/>
              </a:rPr>
              <a:t>Reword the complaint with no reference text — answered from the semantic cache in ~10 ms.</a:t>
            </a:r>
          </a:p>
        </p:txBody>
      </p:sp>
      <p:sp>
        <p:nvSpPr>
          <p:cNvPr id="12" name="Oval 11"/>
          <p:cNvSpPr/>
          <p:nvPr/>
        </p:nvSpPr>
        <p:spPr>
          <a:xfrm>
            <a:off x="6281928" y="2542032"/>
            <a:ext cx="384048" cy="384048"/>
          </a:xfrm>
          <a:prstGeom prst="ellipse">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FFFFFF"/>
                </a:solidFill>
                <a:latin typeface="Calibri"/>
              </a:rPr>
              <a:t>4</a:t>
            </a:r>
          </a:p>
        </p:txBody>
      </p:sp>
      <p:sp>
        <p:nvSpPr>
          <p:cNvPr id="13" name="TextBox 12"/>
          <p:cNvSpPr txBox="1"/>
          <p:nvPr/>
        </p:nvSpPr>
        <p:spPr>
          <a:xfrm>
            <a:off x="6830568" y="2514600"/>
            <a:ext cx="4526280" cy="320040"/>
          </a:xfrm>
          <a:prstGeom prst="rect">
            <a:avLst/>
          </a:prstGeom>
          <a:noFill/>
        </p:spPr>
        <p:txBody>
          <a:bodyPr wrap="square" lIns="0" tIns="0" rIns="0" bIns="0" anchor="t">
            <a:spAutoFit/>
          </a:bodyPr>
          <a:lstStyle/>
          <a:p>
            <a:pPr algn="l">
              <a:spcAft>
                <a:spcPts val="400"/>
              </a:spcAft>
            </a:pPr>
            <a:r>
              <a:rPr sz="1500" b="1" i="0">
                <a:solidFill>
                  <a:srgbClr val="14142B"/>
                </a:solidFill>
                <a:latin typeface="Calibri"/>
              </a:rPr>
              <a:t>Ask in Hindi</a:t>
            </a:r>
          </a:p>
        </p:txBody>
      </p:sp>
      <p:sp>
        <p:nvSpPr>
          <p:cNvPr id="14" name="TextBox 13"/>
          <p:cNvSpPr txBox="1"/>
          <p:nvPr/>
        </p:nvSpPr>
        <p:spPr>
          <a:xfrm>
            <a:off x="6830568" y="2843784"/>
            <a:ext cx="4526280" cy="369332"/>
          </a:xfrm>
          <a:prstGeom prst="rect">
            <a:avLst/>
          </a:prstGeom>
          <a:noFill/>
        </p:spPr>
        <p:txBody>
          <a:bodyPr wrap="square" lIns="0" tIns="0" rIns="0" bIns="0" anchor="t">
            <a:spAutoFit/>
          </a:bodyPr>
          <a:lstStyle/>
          <a:p>
            <a:pPr algn="l">
              <a:spcAft>
                <a:spcPts val="400"/>
              </a:spcAft>
            </a:pPr>
            <a:r>
              <a:rPr sz="1200" b="0" i="0" dirty="0">
                <a:solidFill>
                  <a:srgbClr val="63637E"/>
                </a:solidFill>
                <a:latin typeface="Calibri"/>
              </a:rPr>
              <a:t>A Hindi (or Korean,</a:t>
            </a:r>
            <a:r>
              <a:rPr lang="en-IN" sz="1200" b="0" i="0" dirty="0">
                <a:solidFill>
                  <a:srgbClr val="63637E"/>
                </a:solidFill>
                <a:latin typeface="Calibri"/>
              </a:rPr>
              <a:t> </a:t>
            </a:r>
            <a:r>
              <a:rPr sz="1200" b="0" i="0" dirty="0">
                <a:solidFill>
                  <a:srgbClr val="63637E"/>
                </a:solidFill>
                <a:latin typeface="Calibri"/>
              </a:rPr>
              <a:t>Hinglish) complaint is detected, translated and answered.</a:t>
            </a:r>
          </a:p>
        </p:txBody>
      </p:sp>
      <p:sp>
        <p:nvSpPr>
          <p:cNvPr id="15" name="Oval 14"/>
          <p:cNvSpPr/>
          <p:nvPr/>
        </p:nvSpPr>
        <p:spPr>
          <a:xfrm>
            <a:off x="841248" y="3639312"/>
            <a:ext cx="384048" cy="384048"/>
          </a:xfrm>
          <a:prstGeom prst="ellipse">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FFFFFF"/>
                </a:solidFill>
                <a:latin typeface="Calibri"/>
              </a:rPr>
              <a:t>5</a:t>
            </a:r>
          </a:p>
        </p:txBody>
      </p:sp>
      <p:sp>
        <p:nvSpPr>
          <p:cNvPr id="16" name="TextBox 15"/>
          <p:cNvSpPr txBox="1"/>
          <p:nvPr/>
        </p:nvSpPr>
        <p:spPr>
          <a:xfrm>
            <a:off x="1389888" y="3611880"/>
            <a:ext cx="4526280" cy="320040"/>
          </a:xfrm>
          <a:prstGeom prst="rect">
            <a:avLst/>
          </a:prstGeom>
          <a:noFill/>
        </p:spPr>
        <p:txBody>
          <a:bodyPr wrap="square" lIns="0" tIns="0" rIns="0" bIns="0" anchor="t">
            <a:spAutoFit/>
          </a:bodyPr>
          <a:lstStyle/>
          <a:p>
            <a:pPr algn="l">
              <a:spcAft>
                <a:spcPts val="400"/>
              </a:spcAft>
            </a:pPr>
            <a:r>
              <a:rPr sz="1500" b="1" i="0">
                <a:solidFill>
                  <a:srgbClr val="14142B"/>
                </a:solidFill>
                <a:latin typeface="Calibri"/>
              </a:rPr>
              <a:t>Break it on purpose</a:t>
            </a:r>
          </a:p>
        </p:txBody>
      </p:sp>
      <p:sp>
        <p:nvSpPr>
          <p:cNvPr id="17" name="TextBox 16"/>
          <p:cNvSpPr txBox="1"/>
          <p:nvPr/>
        </p:nvSpPr>
        <p:spPr>
          <a:xfrm>
            <a:off x="1389888" y="3941064"/>
            <a:ext cx="4526280" cy="685800"/>
          </a:xfrm>
          <a:prstGeom prst="rect">
            <a:avLst/>
          </a:prstGeom>
          <a:noFill/>
        </p:spPr>
        <p:txBody>
          <a:bodyPr wrap="square" lIns="0" tIns="0" rIns="0" bIns="0" anchor="t">
            <a:spAutoFit/>
          </a:bodyPr>
          <a:lstStyle/>
          <a:p>
            <a:pPr algn="l">
              <a:spcAft>
                <a:spcPts val="400"/>
              </a:spcAft>
            </a:pPr>
            <a:r>
              <a:rPr sz="1200" b="0" i="0">
                <a:solidFill>
                  <a:srgbClr val="63637E"/>
                </a:solidFill>
                <a:latin typeface="Calibri"/>
              </a:rPr>
              <a:t>Pair a battery complaint with swipe-gesture text — the system abstains and explains why.</a:t>
            </a:r>
          </a:p>
        </p:txBody>
      </p:sp>
      <p:sp>
        <p:nvSpPr>
          <p:cNvPr id="18" name="Oval 17"/>
          <p:cNvSpPr/>
          <p:nvPr/>
        </p:nvSpPr>
        <p:spPr>
          <a:xfrm>
            <a:off x="6281928" y="3639312"/>
            <a:ext cx="384048" cy="384048"/>
          </a:xfrm>
          <a:prstGeom prst="ellipse">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FFFFFF"/>
                </a:solidFill>
                <a:latin typeface="Calibri"/>
              </a:rPr>
              <a:t>6</a:t>
            </a:r>
          </a:p>
        </p:txBody>
      </p:sp>
      <p:sp>
        <p:nvSpPr>
          <p:cNvPr id="19" name="TextBox 18"/>
          <p:cNvSpPr txBox="1"/>
          <p:nvPr/>
        </p:nvSpPr>
        <p:spPr>
          <a:xfrm>
            <a:off x="6830568" y="3611880"/>
            <a:ext cx="4526280" cy="320040"/>
          </a:xfrm>
          <a:prstGeom prst="rect">
            <a:avLst/>
          </a:prstGeom>
          <a:noFill/>
        </p:spPr>
        <p:txBody>
          <a:bodyPr wrap="square" lIns="0" tIns="0" rIns="0" bIns="0" anchor="t">
            <a:spAutoFit/>
          </a:bodyPr>
          <a:lstStyle/>
          <a:p>
            <a:pPr algn="l">
              <a:spcAft>
                <a:spcPts val="400"/>
              </a:spcAft>
            </a:pPr>
            <a:r>
              <a:rPr sz="1500" b="1" i="0">
                <a:solidFill>
                  <a:srgbClr val="14142B"/>
                </a:solidFill>
                <a:latin typeface="Calibri"/>
              </a:rPr>
              <a:t>Tune live</a:t>
            </a:r>
          </a:p>
        </p:txBody>
      </p:sp>
      <p:sp>
        <p:nvSpPr>
          <p:cNvPr id="20" name="TextBox 19"/>
          <p:cNvSpPr txBox="1"/>
          <p:nvPr/>
        </p:nvSpPr>
        <p:spPr>
          <a:xfrm>
            <a:off x="6830568" y="3941064"/>
            <a:ext cx="4526280" cy="685800"/>
          </a:xfrm>
          <a:prstGeom prst="rect">
            <a:avLst/>
          </a:prstGeom>
          <a:noFill/>
        </p:spPr>
        <p:txBody>
          <a:bodyPr wrap="square" lIns="0" tIns="0" rIns="0" bIns="0" anchor="t">
            <a:spAutoFit/>
          </a:bodyPr>
          <a:lstStyle/>
          <a:p>
            <a:pPr algn="l">
              <a:spcAft>
                <a:spcPts val="400"/>
              </a:spcAft>
            </a:pPr>
            <a:r>
              <a:rPr sz="1200" b="0" i="0">
                <a:solidFill>
                  <a:srgbClr val="63637E"/>
                </a:solidFill>
                <a:latin typeface="Calibri"/>
              </a:rPr>
              <a:t>Raise the confidence-floor slider: weak deeplinks drop to manual/null instead of guessing.</a:t>
            </a:r>
          </a:p>
        </p:txBody>
      </p:sp>
      <p:sp>
        <p:nvSpPr>
          <p:cNvPr id="21" name="Rounded Rectangle 20"/>
          <p:cNvSpPr/>
          <p:nvPr/>
        </p:nvSpPr>
        <p:spPr>
          <a:xfrm>
            <a:off x="841248" y="4846320"/>
            <a:ext cx="10515600" cy="685800"/>
          </a:xfrm>
          <a:prstGeom prst="roundRect">
            <a:avLst>
              <a:gd name="adj" fmla="val 6000"/>
            </a:avLst>
          </a:prstGeom>
          <a:solidFill>
            <a:srgbClr val="F5F3FF"/>
          </a:solidFill>
          <a:ln w="12700">
            <a:solidFill>
              <a:srgbClr val="DDD6F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1115568" y="4846320"/>
            <a:ext cx="9966960" cy="685800"/>
          </a:xfrm>
          <a:prstGeom prst="rect">
            <a:avLst/>
          </a:prstGeom>
          <a:noFill/>
        </p:spPr>
        <p:txBody>
          <a:bodyPr wrap="square" lIns="0" tIns="0" rIns="0" bIns="0" anchor="ctr">
            <a:spAutoFit/>
          </a:bodyPr>
          <a:lstStyle/>
          <a:p>
            <a:pPr algn="l">
              <a:spcAft>
                <a:spcPts val="0"/>
              </a:spcAft>
            </a:pPr>
            <a:r>
              <a:rPr sz="1400" b="1" i="0">
                <a:solidFill>
                  <a:srgbClr val="14142B"/>
                </a:solidFill>
                <a:latin typeface="Calibri"/>
              </a:rPr>
              <a:t>Demo video (≤ 5 min):  </a:t>
            </a:r>
          </a:p>
        </p:txBody>
      </p:sp>
      <p:sp>
        <p:nvSpPr>
          <p:cNvPr id="23" name="TextBox 22"/>
          <p:cNvSpPr txBox="1"/>
          <p:nvPr/>
        </p:nvSpPr>
        <p:spPr>
          <a:xfrm>
            <a:off x="3584448" y="5081498"/>
            <a:ext cx="7498079" cy="215444"/>
          </a:xfrm>
          <a:prstGeom prst="rect">
            <a:avLst/>
          </a:prstGeom>
          <a:noFill/>
        </p:spPr>
        <p:txBody>
          <a:bodyPr wrap="square" lIns="0" tIns="0" rIns="0" bIns="0" anchor="ctr">
            <a:spAutoFit/>
          </a:bodyPr>
          <a:lstStyle/>
          <a:p>
            <a:r>
              <a:rPr lang="en-IN" sz="1400" dirty="0">
                <a:solidFill>
                  <a:srgbClr val="6D28D9"/>
                </a:solidFill>
              </a:rPr>
              <a:t>https://drive.google.com/file/d/10Exkw4bSvbSFb3ADYi13eaOImpLcP60E/view?usp=sharing</a:t>
            </a:r>
            <a:endParaRPr sz="1400" b="0" i="0" dirty="0">
              <a:solidFill>
                <a:srgbClr val="6D28D9"/>
              </a:solidFill>
              <a:latin typeface="Calibri"/>
            </a:endParaRPr>
          </a:p>
        </p:txBody>
      </p:sp>
    </p:spTree>
    <p:extLst>
      <p:ext uri="{BB962C8B-B14F-4D97-AF65-F5344CB8AC3E}">
        <p14:creationId xmlns:p14="http://schemas.microsoft.com/office/powerpoint/2010/main" val="11782449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353DB3-FB86-4452-A4FB-E7F4BEA62856}"/>
              </a:ext>
            </a:extLst>
          </p:cNvPr>
          <p:cNvSpPr>
            <a:spLocks noGrp="1"/>
          </p:cNvSpPr>
          <p:nvPr>
            <p:ph type="title"/>
          </p:nvPr>
        </p:nvSpPr>
        <p:spPr/>
        <p:txBody>
          <a:bodyPr/>
          <a:lstStyle/>
          <a:p>
            <a:r>
              <a:rPr lang="en-US" sz="4400" b="1" dirty="0">
                <a:solidFill>
                  <a:srgbClr val="704EA6"/>
                </a:solidFill>
                <a:latin typeface="Calibri" pitchFamily="34" charset="0"/>
                <a:ea typeface="Calibri" pitchFamily="34" charset="-122"/>
                <a:cs typeface="Calibri" pitchFamily="34" charset="-120"/>
              </a:rPr>
              <a:t>Tools and tech stack used</a:t>
            </a:r>
            <a:endParaRPr lang="en-IN" b="1" dirty="0">
              <a:solidFill>
                <a:srgbClr val="704EA6"/>
              </a:solidFill>
            </a:endParaRPr>
          </a:p>
        </p:txBody>
      </p:sp>
      <p:sp>
        <p:nvSpPr>
          <p:cNvPr id="3" name="Rounded Rectangle 2"/>
          <p:cNvSpPr/>
          <p:nvPr/>
        </p:nvSpPr>
        <p:spPr>
          <a:xfrm>
            <a:off x="841248" y="1417320"/>
            <a:ext cx="5120640" cy="868680"/>
          </a:xfrm>
          <a:prstGeom prst="roundRect">
            <a:avLst>
              <a:gd name="adj" fmla="val 6000"/>
            </a:avLst>
          </a:prstGeom>
          <a:solidFill>
            <a:srgbClr val="F5F3FF"/>
          </a:solidFill>
          <a:ln w="12700">
            <a:solidFill>
              <a:srgbClr val="DDD6F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115568" y="1545336"/>
            <a:ext cx="4572000" cy="274320"/>
          </a:xfrm>
          <a:prstGeom prst="rect">
            <a:avLst/>
          </a:prstGeom>
          <a:noFill/>
        </p:spPr>
        <p:txBody>
          <a:bodyPr wrap="square" lIns="0" tIns="0" rIns="0" bIns="0" anchor="t">
            <a:spAutoFit/>
          </a:bodyPr>
          <a:lstStyle/>
          <a:p>
            <a:pPr algn="l">
              <a:spcAft>
                <a:spcPts val="400"/>
              </a:spcAft>
            </a:pPr>
            <a:r>
              <a:rPr sz="1200" b="1" i="0">
                <a:solidFill>
                  <a:srgbClr val="6D28D9"/>
                </a:solidFill>
                <a:latin typeface="Calibri"/>
              </a:rPr>
              <a:t>API</a:t>
            </a:r>
          </a:p>
        </p:txBody>
      </p:sp>
      <p:sp>
        <p:nvSpPr>
          <p:cNvPr id="5" name="TextBox 4"/>
          <p:cNvSpPr txBox="1"/>
          <p:nvPr/>
        </p:nvSpPr>
        <p:spPr>
          <a:xfrm>
            <a:off x="1115568" y="1828800"/>
            <a:ext cx="4572000" cy="411480"/>
          </a:xfrm>
          <a:prstGeom prst="rect">
            <a:avLst/>
          </a:prstGeom>
          <a:noFill/>
        </p:spPr>
        <p:txBody>
          <a:bodyPr wrap="square" lIns="0" tIns="0" rIns="0" bIns="0" anchor="t">
            <a:spAutoFit/>
          </a:bodyPr>
          <a:lstStyle/>
          <a:p>
            <a:pPr algn="l">
              <a:spcAft>
                <a:spcPts val="400"/>
              </a:spcAft>
            </a:pPr>
            <a:r>
              <a:rPr sz="1350" b="0" i="0">
                <a:solidFill>
                  <a:srgbClr val="14142B"/>
                </a:solidFill>
                <a:latin typeface="Calibri"/>
              </a:rPr>
              <a:t>FastAPI, fully async</a:t>
            </a:r>
          </a:p>
        </p:txBody>
      </p:sp>
      <p:sp>
        <p:nvSpPr>
          <p:cNvPr id="6" name="Rounded Rectangle 5"/>
          <p:cNvSpPr/>
          <p:nvPr/>
        </p:nvSpPr>
        <p:spPr>
          <a:xfrm>
            <a:off x="6236207" y="1417320"/>
            <a:ext cx="5120640" cy="868680"/>
          </a:xfrm>
          <a:prstGeom prst="roundRect">
            <a:avLst>
              <a:gd name="adj" fmla="val 6000"/>
            </a:avLst>
          </a:prstGeom>
          <a:solidFill>
            <a:srgbClr val="F5F3FF"/>
          </a:solidFill>
          <a:ln w="12700">
            <a:solidFill>
              <a:srgbClr val="DDD6F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510527" y="1545336"/>
            <a:ext cx="4572000" cy="274320"/>
          </a:xfrm>
          <a:prstGeom prst="rect">
            <a:avLst/>
          </a:prstGeom>
          <a:noFill/>
        </p:spPr>
        <p:txBody>
          <a:bodyPr wrap="square" lIns="0" tIns="0" rIns="0" bIns="0" anchor="t">
            <a:spAutoFit/>
          </a:bodyPr>
          <a:lstStyle/>
          <a:p>
            <a:pPr algn="l">
              <a:spcAft>
                <a:spcPts val="400"/>
              </a:spcAft>
            </a:pPr>
            <a:r>
              <a:rPr sz="1200" b="1" i="0">
                <a:solidFill>
                  <a:srgbClr val="6D28D9"/>
                </a:solidFill>
                <a:latin typeface="Calibri"/>
              </a:rPr>
              <a:t>Validation</a:t>
            </a:r>
          </a:p>
        </p:txBody>
      </p:sp>
      <p:sp>
        <p:nvSpPr>
          <p:cNvPr id="8" name="TextBox 7"/>
          <p:cNvSpPr txBox="1"/>
          <p:nvPr/>
        </p:nvSpPr>
        <p:spPr>
          <a:xfrm>
            <a:off x="6510527" y="1828800"/>
            <a:ext cx="4572000" cy="411480"/>
          </a:xfrm>
          <a:prstGeom prst="rect">
            <a:avLst/>
          </a:prstGeom>
          <a:noFill/>
        </p:spPr>
        <p:txBody>
          <a:bodyPr wrap="square" lIns="0" tIns="0" rIns="0" bIns="0" anchor="t">
            <a:spAutoFit/>
          </a:bodyPr>
          <a:lstStyle/>
          <a:p>
            <a:pPr algn="l">
              <a:spcAft>
                <a:spcPts val="400"/>
              </a:spcAft>
            </a:pPr>
            <a:r>
              <a:rPr sz="1350" b="0" i="0">
                <a:solidFill>
                  <a:srgbClr val="14142B"/>
                </a:solidFill>
                <a:latin typeface="Calibri"/>
              </a:rPr>
              <a:t>Pydantic — strict schema + programmatic repair</a:t>
            </a:r>
          </a:p>
        </p:txBody>
      </p:sp>
      <p:sp>
        <p:nvSpPr>
          <p:cNvPr id="9" name="Rounded Rectangle 8"/>
          <p:cNvSpPr/>
          <p:nvPr/>
        </p:nvSpPr>
        <p:spPr>
          <a:xfrm>
            <a:off x="841248" y="2468880"/>
            <a:ext cx="5120640" cy="868680"/>
          </a:xfrm>
          <a:prstGeom prst="roundRect">
            <a:avLst>
              <a:gd name="adj" fmla="val 6000"/>
            </a:avLst>
          </a:prstGeom>
          <a:solidFill>
            <a:srgbClr val="F5F3FF"/>
          </a:solidFill>
          <a:ln w="12700">
            <a:solidFill>
              <a:srgbClr val="DDD6F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115568" y="2596896"/>
            <a:ext cx="4572000" cy="274320"/>
          </a:xfrm>
          <a:prstGeom prst="rect">
            <a:avLst/>
          </a:prstGeom>
          <a:noFill/>
        </p:spPr>
        <p:txBody>
          <a:bodyPr wrap="square" lIns="0" tIns="0" rIns="0" bIns="0" anchor="t">
            <a:spAutoFit/>
          </a:bodyPr>
          <a:lstStyle/>
          <a:p>
            <a:pPr algn="l">
              <a:spcAft>
                <a:spcPts val="400"/>
              </a:spcAft>
            </a:pPr>
            <a:r>
              <a:rPr sz="1200" b="1" i="0">
                <a:solidFill>
                  <a:srgbClr val="6D28D9"/>
                </a:solidFill>
                <a:latin typeface="Calibri"/>
              </a:rPr>
              <a:t>Embeddings</a:t>
            </a:r>
          </a:p>
        </p:txBody>
      </p:sp>
      <p:sp>
        <p:nvSpPr>
          <p:cNvPr id="11" name="TextBox 10"/>
          <p:cNvSpPr txBox="1"/>
          <p:nvPr/>
        </p:nvSpPr>
        <p:spPr>
          <a:xfrm>
            <a:off x="1115568" y="2880360"/>
            <a:ext cx="4572000" cy="411480"/>
          </a:xfrm>
          <a:prstGeom prst="rect">
            <a:avLst/>
          </a:prstGeom>
          <a:noFill/>
        </p:spPr>
        <p:txBody>
          <a:bodyPr wrap="square" lIns="0" tIns="0" rIns="0" bIns="0" anchor="t">
            <a:spAutoFit/>
          </a:bodyPr>
          <a:lstStyle/>
          <a:p>
            <a:pPr algn="l">
              <a:spcAft>
                <a:spcPts val="400"/>
              </a:spcAft>
            </a:pPr>
            <a:r>
              <a:rPr sz="1350" b="0" i="0">
                <a:solidFill>
                  <a:srgbClr val="14142B"/>
                </a:solidFill>
                <a:latin typeface="Calibri"/>
              </a:rPr>
              <a:t>all-MiniLM-L6-v2 via sentence-transformers, local CPU</a:t>
            </a:r>
          </a:p>
        </p:txBody>
      </p:sp>
      <p:sp>
        <p:nvSpPr>
          <p:cNvPr id="12" name="Rounded Rectangle 11"/>
          <p:cNvSpPr/>
          <p:nvPr/>
        </p:nvSpPr>
        <p:spPr>
          <a:xfrm>
            <a:off x="6236207" y="2468880"/>
            <a:ext cx="5120640" cy="868680"/>
          </a:xfrm>
          <a:prstGeom prst="roundRect">
            <a:avLst>
              <a:gd name="adj" fmla="val 6000"/>
            </a:avLst>
          </a:prstGeom>
          <a:solidFill>
            <a:srgbClr val="F5F3FF"/>
          </a:solidFill>
          <a:ln w="12700">
            <a:solidFill>
              <a:srgbClr val="DDD6F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510527" y="2596896"/>
            <a:ext cx="4572000" cy="274320"/>
          </a:xfrm>
          <a:prstGeom prst="rect">
            <a:avLst/>
          </a:prstGeom>
          <a:noFill/>
        </p:spPr>
        <p:txBody>
          <a:bodyPr wrap="square" lIns="0" tIns="0" rIns="0" bIns="0" anchor="t">
            <a:spAutoFit/>
          </a:bodyPr>
          <a:lstStyle/>
          <a:p>
            <a:pPr algn="l">
              <a:spcAft>
                <a:spcPts val="400"/>
              </a:spcAft>
            </a:pPr>
            <a:r>
              <a:rPr sz="1200" b="1" i="0">
                <a:solidFill>
                  <a:srgbClr val="6D28D9"/>
                </a:solidFill>
                <a:latin typeface="Calibri"/>
              </a:rPr>
              <a:t>Sparse retrieval</a:t>
            </a:r>
          </a:p>
        </p:txBody>
      </p:sp>
      <p:sp>
        <p:nvSpPr>
          <p:cNvPr id="14" name="TextBox 13"/>
          <p:cNvSpPr txBox="1"/>
          <p:nvPr/>
        </p:nvSpPr>
        <p:spPr>
          <a:xfrm>
            <a:off x="6510527" y="2880360"/>
            <a:ext cx="4572000" cy="411480"/>
          </a:xfrm>
          <a:prstGeom prst="rect">
            <a:avLst/>
          </a:prstGeom>
          <a:noFill/>
        </p:spPr>
        <p:txBody>
          <a:bodyPr wrap="square" lIns="0" tIns="0" rIns="0" bIns="0" anchor="t">
            <a:spAutoFit/>
          </a:bodyPr>
          <a:lstStyle/>
          <a:p>
            <a:pPr algn="l">
              <a:spcAft>
                <a:spcPts val="400"/>
              </a:spcAft>
            </a:pPr>
            <a:r>
              <a:rPr sz="1350" b="0" i="0">
                <a:solidFill>
                  <a:srgbClr val="14142B"/>
                </a:solidFill>
                <a:latin typeface="Calibri"/>
              </a:rPr>
              <a:t>BM25 (rank-bm25), coverage-normalized</a:t>
            </a:r>
          </a:p>
        </p:txBody>
      </p:sp>
      <p:sp>
        <p:nvSpPr>
          <p:cNvPr id="15" name="Rounded Rectangle 14"/>
          <p:cNvSpPr/>
          <p:nvPr/>
        </p:nvSpPr>
        <p:spPr>
          <a:xfrm>
            <a:off x="841248" y="3520439"/>
            <a:ext cx="5120640" cy="868680"/>
          </a:xfrm>
          <a:prstGeom prst="roundRect">
            <a:avLst>
              <a:gd name="adj" fmla="val 6000"/>
            </a:avLst>
          </a:prstGeom>
          <a:solidFill>
            <a:srgbClr val="F5F3FF"/>
          </a:solidFill>
          <a:ln w="12700">
            <a:solidFill>
              <a:srgbClr val="DDD6F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1115568" y="3648456"/>
            <a:ext cx="4572000" cy="274320"/>
          </a:xfrm>
          <a:prstGeom prst="rect">
            <a:avLst/>
          </a:prstGeom>
          <a:noFill/>
        </p:spPr>
        <p:txBody>
          <a:bodyPr wrap="square" lIns="0" tIns="0" rIns="0" bIns="0" anchor="t">
            <a:spAutoFit/>
          </a:bodyPr>
          <a:lstStyle/>
          <a:p>
            <a:pPr algn="l">
              <a:spcAft>
                <a:spcPts val="400"/>
              </a:spcAft>
            </a:pPr>
            <a:r>
              <a:rPr sz="1200" b="1" i="0">
                <a:solidFill>
                  <a:srgbClr val="6D28D9"/>
                </a:solidFill>
                <a:latin typeface="Calibri"/>
              </a:rPr>
              <a:t>LLM</a:t>
            </a:r>
          </a:p>
        </p:txBody>
      </p:sp>
      <p:sp>
        <p:nvSpPr>
          <p:cNvPr id="17" name="TextBox 16"/>
          <p:cNvSpPr txBox="1"/>
          <p:nvPr/>
        </p:nvSpPr>
        <p:spPr>
          <a:xfrm>
            <a:off x="1115568" y="3931920"/>
            <a:ext cx="4572000" cy="411480"/>
          </a:xfrm>
          <a:prstGeom prst="rect">
            <a:avLst/>
          </a:prstGeom>
          <a:noFill/>
        </p:spPr>
        <p:txBody>
          <a:bodyPr wrap="square" lIns="0" tIns="0" rIns="0" bIns="0" anchor="t">
            <a:spAutoFit/>
          </a:bodyPr>
          <a:lstStyle/>
          <a:p>
            <a:pPr algn="l">
              <a:spcAft>
                <a:spcPts val="400"/>
              </a:spcAft>
            </a:pPr>
            <a:r>
              <a:rPr sz="1350" b="0" i="0">
                <a:solidFill>
                  <a:srgbClr val="14142B"/>
                </a:solidFill>
                <a:latin typeface="Calibri"/>
              </a:rPr>
              <a:t>NVIDIA Nemotron-3 Super 120B, reasoning off; swappable via .env</a:t>
            </a:r>
          </a:p>
        </p:txBody>
      </p:sp>
      <p:sp>
        <p:nvSpPr>
          <p:cNvPr id="18" name="Rounded Rectangle 17"/>
          <p:cNvSpPr/>
          <p:nvPr/>
        </p:nvSpPr>
        <p:spPr>
          <a:xfrm>
            <a:off x="6236207" y="3520439"/>
            <a:ext cx="5120640" cy="868680"/>
          </a:xfrm>
          <a:prstGeom prst="roundRect">
            <a:avLst>
              <a:gd name="adj" fmla="val 6000"/>
            </a:avLst>
          </a:prstGeom>
          <a:solidFill>
            <a:srgbClr val="F5F3FF"/>
          </a:solidFill>
          <a:ln w="12700">
            <a:solidFill>
              <a:srgbClr val="DDD6F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510527" y="3648456"/>
            <a:ext cx="4572000" cy="274320"/>
          </a:xfrm>
          <a:prstGeom prst="rect">
            <a:avLst/>
          </a:prstGeom>
          <a:noFill/>
        </p:spPr>
        <p:txBody>
          <a:bodyPr wrap="square" lIns="0" tIns="0" rIns="0" bIns="0" anchor="t">
            <a:spAutoFit/>
          </a:bodyPr>
          <a:lstStyle/>
          <a:p>
            <a:pPr algn="l">
              <a:spcAft>
                <a:spcPts val="400"/>
              </a:spcAft>
            </a:pPr>
            <a:r>
              <a:rPr sz="1200" b="1" i="0">
                <a:solidFill>
                  <a:srgbClr val="6D28D9"/>
                </a:solidFill>
                <a:latin typeface="Calibri"/>
              </a:rPr>
              <a:t>Testing</a:t>
            </a:r>
          </a:p>
        </p:txBody>
      </p:sp>
      <p:sp>
        <p:nvSpPr>
          <p:cNvPr id="20" name="TextBox 19"/>
          <p:cNvSpPr txBox="1"/>
          <p:nvPr/>
        </p:nvSpPr>
        <p:spPr>
          <a:xfrm>
            <a:off x="6510527" y="3931920"/>
            <a:ext cx="4572000" cy="411480"/>
          </a:xfrm>
          <a:prstGeom prst="rect">
            <a:avLst/>
          </a:prstGeom>
          <a:noFill/>
        </p:spPr>
        <p:txBody>
          <a:bodyPr wrap="square" lIns="0" tIns="0" rIns="0" bIns="0" anchor="t">
            <a:spAutoFit/>
          </a:bodyPr>
          <a:lstStyle/>
          <a:p>
            <a:pPr algn="l">
              <a:spcAft>
                <a:spcPts val="400"/>
              </a:spcAft>
            </a:pPr>
            <a:r>
              <a:rPr sz="1350" b="0" i="0">
                <a:solidFill>
                  <a:srgbClr val="14142B"/>
                </a:solidFill>
                <a:latin typeface="Calibri"/>
              </a:rPr>
              <a:t>pytest — 373 offline tests + a 500-request load test</a:t>
            </a:r>
          </a:p>
        </p:txBody>
      </p:sp>
      <p:sp>
        <p:nvSpPr>
          <p:cNvPr id="21" name="Rounded Rectangle 20"/>
          <p:cNvSpPr/>
          <p:nvPr/>
        </p:nvSpPr>
        <p:spPr>
          <a:xfrm>
            <a:off x="841248" y="4572000"/>
            <a:ext cx="5120640" cy="868680"/>
          </a:xfrm>
          <a:prstGeom prst="roundRect">
            <a:avLst>
              <a:gd name="adj" fmla="val 6000"/>
            </a:avLst>
          </a:prstGeom>
          <a:solidFill>
            <a:srgbClr val="F5F3FF"/>
          </a:solidFill>
          <a:ln w="12700">
            <a:solidFill>
              <a:srgbClr val="DDD6F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1115568" y="4700016"/>
            <a:ext cx="4572000" cy="274320"/>
          </a:xfrm>
          <a:prstGeom prst="rect">
            <a:avLst/>
          </a:prstGeom>
          <a:noFill/>
        </p:spPr>
        <p:txBody>
          <a:bodyPr wrap="square" lIns="0" tIns="0" rIns="0" bIns="0" anchor="t">
            <a:spAutoFit/>
          </a:bodyPr>
          <a:lstStyle/>
          <a:p>
            <a:pPr algn="l">
              <a:spcAft>
                <a:spcPts val="400"/>
              </a:spcAft>
            </a:pPr>
            <a:r>
              <a:rPr sz="1200" b="1" i="0">
                <a:solidFill>
                  <a:srgbClr val="6D28D9"/>
                </a:solidFill>
                <a:latin typeface="Calibri"/>
              </a:rPr>
              <a:t>Deployment</a:t>
            </a:r>
          </a:p>
        </p:txBody>
      </p:sp>
      <p:sp>
        <p:nvSpPr>
          <p:cNvPr id="23" name="TextBox 22"/>
          <p:cNvSpPr txBox="1"/>
          <p:nvPr/>
        </p:nvSpPr>
        <p:spPr>
          <a:xfrm>
            <a:off x="1115568" y="4983480"/>
            <a:ext cx="4572000" cy="411480"/>
          </a:xfrm>
          <a:prstGeom prst="rect">
            <a:avLst/>
          </a:prstGeom>
          <a:noFill/>
        </p:spPr>
        <p:txBody>
          <a:bodyPr wrap="square" lIns="0" tIns="0" rIns="0" bIns="0" anchor="t">
            <a:spAutoFit/>
          </a:bodyPr>
          <a:lstStyle/>
          <a:p>
            <a:pPr algn="l">
              <a:spcAft>
                <a:spcPts val="400"/>
              </a:spcAft>
            </a:pPr>
            <a:r>
              <a:rPr sz="1350" b="0" i="0">
                <a:solidFill>
                  <a:srgbClr val="14142B"/>
                </a:solidFill>
                <a:latin typeface="Calibri"/>
              </a:rPr>
              <a:t>Docker; /health 503 until ready; no secrets in the image</a:t>
            </a:r>
          </a:p>
        </p:txBody>
      </p:sp>
      <p:sp>
        <p:nvSpPr>
          <p:cNvPr id="24" name="Rounded Rectangle 23"/>
          <p:cNvSpPr/>
          <p:nvPr/>
        </p:nvSpPr>
        <p:spPr>
          <a:xfrm>
            <a:off x="6236207" y="4572000"/>
            <a:ext cx="5120640" cy="868680"/>
          </a:xfrm>
          <a:prstGeom prst="roundRect">
            <a:avLst>
              <a:gd name="adj" fmla="val 6000"/>
            </a:avLst>
          </a:prstGeom>
          <a:solidFill>
            <a:srgbClr val="F5F3FF"/>
          </a:solidFill>
          <a:ln w="12700">
            <a:solidFill>
              <a:srgbClr val="DDD6F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6510527" y="4700016"/>
            <a:ext cx="4572000" cy="274320"/>
          </a:xfrm>
          <a:prstGeom prst="rect">
            <a:avLst/>
          </a:prstGeom>
          <a:noFill/>
        </p:spPr>
        <p:txBody>
          <a:bodyPr wrap="square" lIns="0" tIns="0" rIns="0" bIns="0" anchor="t">
            <a:spAutoFit/>
          </a:bodyPr>
          <a:lstStyle/>
          <a:p>
            <a:pPr algn="l">
              <a:spcAft>
                <a:spcPts val="400"/>
              </a:spcAft>
            </a:pPr>
            <a:r>
              <a:rPr sz="1200" b="1" i="0">
                <a:solidFill>
                  <a:srgbClr val="6D28D9"/>
                </a:solidFill>
                <a:latin typeface="Calibri"/>
              </a:rPr>
              <a:t>Frontend</a:t>
            </a:r>
          </a:p>
        </p:txBody>
      </p:sp>
      <p:sp>
        <p:nvSpPr>
          <p:cNvPr id="26" name="TextBox 25"/>
          <p:cNvSpPr txBox="1"/>
          <p:nvPr/>
        </p:nvSpPr>
        <p:spPr>
          <a:xfrm>
            <a:off x="6510527" y="4983480"/>
            <a:ext cx="4572000" cy="411480"/>
          </a:xfrm>
          <a:prstGeom prst="rect">
            <a:avLst/>
          </a:prstGeom>
          <a:noFill/>
        </p:spPr>
        <p:txBody>
          <a:bodyPr wrap="square" lIns="0" tIns="0" rIns="0" bIns="0" anchor="t">
            <a:spAutoFit/>
          </a:bodyPr>
          <a:lstStyle/>
          <a:p>
            <a:pPr algn="l">
              <a:spcAft>
                <a:spcPts val="400"/>
              </a:spcAft>
            </a:pPr>
            <a:r>
              <a:rPr sz="1350" b="0" i="0">
                <a:solidFill>
                  <a:srgbClr val="14142B"/>
                </a:solidFill>
                <a:latin typeface="Calibri"/>
              </a:rPr>
              <a:t>Single HTML file, Tailwind, no build step</a:t>
            </a:r>
          </a:p>
        </p:txBody>
      </p:sp>
    </p:spTree>
    <p:extLst>
      <p:ext uri="{BB962C8B-B14F-4D97-AF65-F5344CB8AC3E}">
        <p14:creationId xmlns:p14="http://schemas.microsoft.com/office/powerpoint/2010/main" val="372482880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353DB3-FB86-4452-A4FB-E7F4BEA62856}"/>
              </a:ext>
            </a:extLst>
          </p:cNvPr>
          <p:cNvSpPr>
            <a:spLocks noGrp="1"/>
          </p:cNvSpPr>
          <p:nvPr>
            <p:ph type="title"/>
          </p:nvPr>
        </p:nvSpPr>
        <p:spPr/>
        <p:txBody>
          <a:bodyPr/>
          <a:lstStyle/>
          <a:p>
            <a:r>
              <a:rPr lang="en-US" sz="4400" b="1" dirty="0">
                <a:solidFill>
                  <a:srgbClr val="704EA6"/>
                </a:solidFill>
                <a:latin typeface="Calibri" pitchFamily="34" charset="0"/>
                <a:ea typeface="Calibri" pitchFamily="34" charset="-122"/>
                <a:cs typeface="Calibri" pitchFamily="34" charset="-120"/>
              </a:rPr>
              <a:t>Impact &amp; Use case</a:t>
            </a:r>
            <a:endParaRPr lang="en-IN" b="1" dirty="0">
              <a:solidFill>
                <a:srgbClr val="704EA6"/>
              </a:solidFill>
            </a:endParaRPr>
          </a:p>
        </p:txBody>
      </p:sp>
      <p:sp>
        <p:nvSpPr>
          <p:cNvPr id="3" name="Rounded Rectangle 2"/>
          <p:cNvSpPr/>
          <p:nvPr/>
        </p:nvSpPr>
        <p:spPr>
          <a:xfrm>
            <a:off x="841248" y="1417320"/>
            <a:ext cx="3840480" cy="4206240"/>
          </a:xfrm>
          <a:prstGeom prst="roundRect">
            <a:avLst>
              <a:gd name="adj" fmla="val 6000"/>
            </a:avLst>
          </a:prstGeom>
          <a:solidFill>
            <a:srgbClr val="6D28D9"/>
          </a:solidFill>
          <a:ln w="12700">
            <a:solidFill>
              <a:srgbClr val="6D28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41248" y="1828800"/>
            <a:ext cx="3840480" cy="731520"/>
          </a:xfrm>
          <a:prstGeom prst="rect">
            <a:avLst/>
          </a:prstGeom>
          <a:noFill/>
        </p:spPr>
        <p:txBody>
          <a:bodyPr wrap="square" lIns="0" tIns="0" rIns="0" bIns="0" anchor="t">
            <a:spAutoFit/>
          </a:bodyPr>
          <a:lstStyle/>
          <a:p>
            <a:pPr algn="ctr">
              <a:spcAft>
                <a:spcPts val="400"/>
              </a:spcAft>
            </a:pPr>
            <a:r>
              <a:rPr sz="4000" b="1" i="0">
                <a:solidFill>
                  <a:srgbClr val="DDD6FE"/>
                </a:solidFill>
                <a:latin typeface="Arial"/>
              </a:rPr>
              <a:t>~15 min</a:t>
            </a:r>
          </a:p>
        </p:txBody>
      </p:sp>
      <p:sp>
        <p:nvSpPr>
          <p:cNvPr id="5" name="TextBox 4"/>
          <p:cNvSpPr txBox="1"/>
          <p:nvPr/>
        </p:nvSpPr>
        <p:spPr>
          <a:xfrm>
            <a:off x="841248" y="2560320"/>
            <a:ext cx="3840480" cy="365760"/>
          </a:xfrm>
          <a:prstGeom prst="rect">
            <a:avLst/>
          </a:prstGeom>
          <a:noFill/>
        </p:spPr>
        <p:txBody>
          <a:bodyPr wrap="square" lIns="0" tIns="0" rIns="0" bIns="0" anchor="t">
            <a:spAutoFit/>
          </a:bodyPr>
          <a:lstStyle/>
          <a:p>
            <a:pPr algn="ctr">
              <a:spcAft>
                <a:spcPts val="400"/>
              </a:spcAft>
            </a:pPr>
            <a:r>
              <a:rPr sz="1300" b="0" i="0">
                <a:solidFill>
                  <a:srgbClr val="DDD6FE"/>
                </a:solidFill>
                <a:latin typeface="Calibri"/>
              </a:rPr>
              <a:t>manual triage per case today</a:t>
            </a:r>
          </a:p>
        </p:txBody>
      </p:sp>
      <p:sp>
        <p:nvSpPr>
          <p:cNvPr id="6" name="TextBox 5"/>
          <p:cNvSpPr txBox="1"/>
          <p:nvPr/>
        </p:nvSpPr>
        <p:spPr>
          <a:xfrm>
            <a:off x="841248" y="2971800"/>
            <a:ext cx="3840480" cy="457200"/>
          </a:xfrm>
          <a:prstGeom prst="rect">
            <a:avLst/>
          </a:prstGeom>
          <a:noFill/>
        </p:spPr>
        <p:txBody>
          <a:bodyPr wrap="square" lIns="0" tIns="0" rIns="0" bIns="0" anchor="t">
            <a:spAutoFit/>
          </a:bodyPr>
          <a:lstStyle/>
          <a:p>
            <a:pPr algn="ctr">
              <a:spcAft>
                <a:spcPts val="400"/>
              </a:spcAft>
            </a:pPr>
            <a:r>
              <a:rPr sz="2600" b="1" i="0">
                <a:solidFill>
                  <a:srgbClr val="FFFFFF"/>
                </a:solidFill>
                <a:latin typeface="Arial"/>
              </a:rPr>
              <a:t>↓</a:t>
            </a:r>
          </a:p>
        </p:txBody>
      </p:sp>
      <p:sp>
        <p:nvSpPr>
          <p:cNvPr id="7" name="TextBox 6"/>
          <p:cNvSpPr txBox="1"/>
          <p:nvPr/>
        </p:nvSpPr>
        <p:spPr>
          <a:xfrm>
            <a:off x="841248" y="3474720"/>
            <a:ext cx="3840480" cy="731520"/>
          </a:xfrm>
          <a:prstGeom prst="rect">
            <a:avLst/>
          </a:prstGeom>
          <a:noFill/>
        </p:spPr>
        <p:txBody>
          <a:bodyPr wrap="square" lIns="0" tIns="0" rIns="0" bIns="0" anchor="t">
            <a:spAutoFit/>
          </a:bodyPr>
          <a:lstStyle/>
          <a:p>
            <a:pPr algn="ctr">
              <a:spcAft>
                <a:spcPts val="400"/>
              </a:spcAft>
            </a:pPr>
            <a:r>
              <a:rPr sz="4000" b="1" i="0">
                <a:solidFill>
                  <a:srgbClr val="FFFFFF"/>
                </a:solidFill>
                <a:latin typeface="Arial"/>
              </a:rPr>
              <a:t>seconds</a:t>
            </a:r>
          </a:p>
        </p:txBody>
      </p:sp>
      <p:sp>
        <p:nvSpPr>
          <p:cNvPr id="8" name="TextBox 7"/>
          <p:cNvSpPr txBox="1"/>
          <p:nvPr/>
        </p:nvSpPr>
        <p:spPr>
          <a:xfrm>
            <a:off x="841248" y="4251960"/>
            <a:ext cx="3840480" cy="822960"/>
          </a:xfrm>
          <a:prstGeom prst="rect">
            <a:avLst/>
          </a:prstGeom>
          <a:noFill/>
        </p:spPr>
        <p:txBody>
          <a:bodyPr wrap="square" lIns="0" tIns="0" rIns="0" bIns="0" anchor="t">
            <a:spAutoFit/>
          </a:bodyPr>
          <a:lstStyle/>
          <a:p>
            <a:pPr algn="ctr">
              <a:spcAft>
                <a:spcPts val="400"/>
              </a:spcAft>
            </a:pPr>
            <a:r>
              <a:rPr sz="1300" b="0" i="0">
                <a:solidFill>
                  <a:srgbClr val="DDD6FE"/>
                </a:solidFill>
                <a:latin typeface="Calibri"/>
              </a:rPr>
              <a:t>new issue via the full pipeline;</a:t>
            </a:r>
          </a:p>
          <a:p>
            <a:pPr algn="ctr">
              <a:spcAft>
                <a:spcPts val="400"/>
              </a:spcAft>
            </a:pPr>
            <a:r>
              <a:rPr sz="1300" b="0" i="0">
                <a:solidFill>
                  <a:srgbClr val="DDD6FE"/>
                </a:solidFill>
                <a:latin typeface="Calibri"/>
              </a:rPr>
              <a:t>milliseconds for a repeat, via cache</a:t>
            </a:r>
          </a:p>
        </p:txBody>
      </p:sp>
      <p:sp>
        <p:nvSpPr>
          <p:cNvPr id="9" name="Oval 8"/>
          <p:cNvSpPr/>
          <p:nvPr/>
        </p:nvSpPr>
        <p:spPr>
          <a:xfrm>
            <a:off x="5047488" y="1444752"/>
            <a:ext cx="384048" cy="384048"/>
          </a:xfrm>
          <a:prstGeom prst="ellipse">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FFFFFF"/>
                </a:solidFill>
                <a:latin typeface="Calibri"/>
              </a:rPr>
              <a:t>1</a:t>
            </a:r>
          </a:p>
        </p:txBody>
      </p:sp>
      <p:sp>
        <p:nvSpPr>
          <p:cNvPr id="10" name="TextBox 9"/>
          <p:cNvSpPr txBox="1"/>
          <p:nvPr/>
        </p:nvSpPr>
        <p:spPr>
          <a:xfrm>
            <a:off x="5596128" y="1417320"/>
            <a:ext cx="5760720" cy="320040"/>
          </a:xfrm>
          <a:prstGeom prst="rect">
            <a:avLst/>
          </a:prstGeom>
          <a:noFill/>
        </p:spPr>
        <p:txBody>
          <a:bodyPr wrap="square" lIns="0" tIns="0" rIns="0" bIns="0" anchor="t">
            <a:spAutoFit/>
          </a:bodyPr>
          <a:lstStyle/>
          <a:p>
            <a:pPr algn="l">
              <a:spcAft>
                <a:spcPts val="400"/>
              </a:spcAft>
            </a:pPr>
            <a:r>
              <a:rPr sz="1500" b="1" i="0">
                <a:solidFill>
                  <a:srgbClr val="14142B"/>
                </a:solidFill>
                <a:latin typeface="Calibri"/>
              </a:rPr>
              <a:t>Agent assist</a:t>
            </a:r>
          </a:p>
        </p:txBody>
      </p:sp>
      <p:sp>
        <p:nvSpPr>
          <p:cNvPr id="11" name="TextBox 10"/>
          <p:cNvSpPr txBox="1"/>
          <p:nvPr/>
        </p:nvSpPr>
        <p:spPr>
          <a:xfrm>
            <a:off x="5596128" y="1755648"/>
            <a:ext cx="5760720" cy="594360"/>
          </a:xfrm>
          <a:prstGeom prst="rect">
            <a:avLst/>
          </a:prstGeom>
          <a:noFill/>
        </p:spPr>
        <p:txBody>
          <a:bodyPr wrap="square" lIns="0" tIns="0" rIns="0" bIns="0" anchor="t">
            <a:spAutoFit/>
          </a:bodyPr>
          <a:lstStyle/>
          <a:p>
            <a:pPr algn="l">
              <a:spcAft>
                <a:spcPts val="400"/>
              </a:spcAft>
            </a:pPr>
            <a:r>
              <a:rPr sz="1250" b="0" i="0">
                <a:solidFill>
                  <a:srgbClr val="63637E"/>
                </a:solidFill>
                <a:latin typeface="Calibri"/>
              </a:rPr>
              <a:t>Support agents get a validated, ordered plan instantly instead of writing one from internal docs.</a:t>
            </a:r>
          </a:p>
        </p:txBody>
      </p:sp>
      <p:sp>
        <p:nvSpPr>
          <p:cNvPr id="12" name="Oval 11"/>
          <p:cNvSpPr/>
          <p:nvPr/>
        </p:nvSpPr>
        <p:spPr>
          <a:xfrm>
            <a:off x="5047488" y="2496312"/>
            <a:ext cx="384048" cy="384048"/>
          </a:xfrm>
          <a:prstGeom prst="ellipse">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FFFFFF"/>
                </a:solidFill>
                <a:latin typeface="Calibri"/>
              </a:rPr>
              <a:t>2</a:t>
            </a:r>
          </a:p>
        </p:txBody>
      </p:sp>
      <p:sp>
        <p:nvSpPr>
          <p:cNvPr id="13" name="TextBox 12"/>
          <p:cNvSpPr txBox="1"/>
          <p:nvPr/>
        </p:nvSpPr>
        <p:spPr>
          <a:xfrm>
            <a:off x="5596128" y="2468880"/>
            <a:ext cx="5760720" cy="320040"/>
          </a:xfrm>
          <a:prstGeom prst="rect">
            <a:avLst/>
          </a:prstGeom>
          <a:noFill/>
        </p:spPr>
        <p:txBody>
          <a:bodyPr wrap="square" lIns="0" tIns="0" rIns="0" bIns="0" anchor="t">
            <a:spAutoFit/>
          </a:bodyPr>
          <a:lstStyle/>
          <a:p>
            <a:pPr algn="l">
              <a:spcAft>
                <a:spcPts val="400"/>
              </a:spcAft>
            </a:pPr>
            <a:r>
              <a:rPr sz="1500" b="1" i="0">
                <a:solidFill>
                  <a:srgbClr val="14142B"/>
                </a:solidFill>
                <a:latin typeface="Calibri"/>
              </a:rPr>
              <a:t>In-device self-service</a:t>
            </a:r>
          </a:p>
        </p:txBody>
      </p:sp>
      <p:sp>
        <p:nvSpPr>
          <p:cNvPr id="14" name="TextBox 13"/>
          <p:cNvSpPr txBox="1"/>
          <p:nvPr/>
        </p:nvSpPr>
        <p:spPr>
          <a:xfrm>
            <a:off x="5596128" y="2807208"/>
            <a:ext cx="5760720" cy="594360"/>
          </a:xfrm>
          <a:prstGeom prst="rect">
            <a:avLst/>
          </a:prstGeom>
          <a:noFill/>
        </p:spPr>
        <p:txBody>
          <a:bodyPr wrap="square" lIns="0" tIns="0" rIns="0" bIns="0" anchor="t">
            <a:spAutoFit/>
          </a:bodyPr>
          <a:lstStyle/>
          <a:p>
            <a:pPr algn="l">
              <a:spcAft>
                <a:spcPts val="400"/>
              </a:spcAft>
            </a:pPr>
            <a:r>
              <a:rPr sz="1250" b="0" i="0">
                <a:solidFill>
                  <a:srgbClr val="63637E"/>
                </a:solidFill>
                <a:latin typeface="Calibri"/>
              </a:rPr>
              <a:t>A voice or chat assistant hands the user a one-tap deeplink to the right Settings screen.</a:t>
            </a:r>
          </a:p>
        </p:txBody>
      </p:sp>
      <p:sp>
        <p:nvSpPr>
          <p:cNvPr id="15" name="Oval 14"/>
          <p:cNvSpPr/>
          <p:nvPr/>
        </p:nvSpPr>
        <p:spPr>
          <a:xfrm>
            <a:off x="5047488" y="3547872"/>
            <a:ext cx="384048" cy="384048"/>
          </a:xfrm>
          <a:prstGeom prst="ellipse">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FFFFFF"/>
                </a:solidFill>
                <a:latin typeface="Calibri"/>
              </a:rPr>
              <a:t>3</a:t>
            </a:r>
          </a:p>
        </p:txBody>
      </p:sp>
      <p:sp>
        <p:nvSpPr>
          <p:cNvPr id="16" name="TextBox 15"/>
          <p:cNvSpPr txBox="1"/>
          <p:nvPr/>
        </p:nvSpPr>
        <p:spPr>
          <a:xfrm>
            <a:off x="5596128" y="3520440"/>
            <a:ext cx="5760720" cy="320040"/>
          </a:xfrm>
          <a:prstGeom prst="rect">
            <a:avLst/>
          </a:prstGeom>
          <a:noFill/>
        </p:spPr>
        <p:txBody>
          <a:bodyPr wrap="square" lIns="0" tIns="0" rIns="0" bIns="0" anchor="t">
            <a:spAutoFit/>
          </a:bodyPr>
          <a:lstStyle/>
          <a:p>
            <a:pPr algn="l">
              <a:spcAft>
                <a:spcPts val="400"/>
              </a:spcAft>
            </a:pPr>
            <a:r>
              <a:rPr sz="1500" b="1" i="0">
                <a:solidFill>
                  <a:srgbClr val="14142B"/>
                </a:solidFill>
                <a:latin typeface="Calibri"/>
              </a:rPr>
              <a:t>Safe handoff to humans</a:t>
            </a:r>
          </a:p>
        </p:txBody>
      </p:sp>
      <p:sp>
        <p:nvSpPr>
          <p:cNvPr id="17" name="TextBox 16"/>
          <p:cNvSpPr txBox="1"/>
          <p:nvPr/>
        </p:nvSpPr>
        <p:spPr>
          <a:xfrm>
            <a:off x="5596128" y="3858768"/>
            <a:ext cx="5760720" cy="594360"/>
          </a:xfrm>
          <a:prstGeom prst="rect">
            <a:avLst/>
          </a:prstGeom>
          <a:noFill/>
        </p:spPr>
        <p:txBody>
          <a:bodyPr wrap="square" lIns="0" tIns="0" rIns="0" bIns="0" anchor="t">
            <a:spAutoFit/>
          </a:bodyPr>
          <a:lstStyle/>
          <a:p>
            <a:pPr algn="l">
              <a:spcAft>
                <a:spcPts val="400"/>
              </a:spcAft>
            </a:pPr>
            <a:r>
              <a:rPr sz="1250" b="0" i="0">
                <a:solidFill>
                  <a:srgbClr val="63637E"/>
                </a:solidFill>
                <a:latin typeface="Calibri"/>
              </a:rPr>
              <a:t>Low confidence → the system abstains with a stated reason, so the case routes to an agent, not a wrong fix.</a:t>
            </a:r>
          </a:p>
        </p:txBody>
      </p:sp>
      <p:sp>
        <p:nvSpPr>
          <p:cNvPr id="18" name="Oval 17"/>
          <p:cNvSpPr/>
          <p:nvPr/>
        </p:nvSpPr>
        <p:spPr>
          <a:xfrm>
            <a:off x="5047488" y="4599432"/>
            <a:ext cx="384048" cy="384048"/>
          </a:xfrm>
          <a:prstGeom prst="ellipse">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FFFFFF"/>
                </a:solidFill>
                <a:latin typeface="Calibri"/>
              </a:rPr>
              <a:t>4</a:t>
            </a:r>
          </a:p>
        </p:txBody>
      </p:sp>
      <p:sp>
        <p:nvSpPr>
          <p:cNvPr id="19" name="TextBox 18"/>
          <p:cNvSpPr txBox="1"/>
          <p:nvPr/>
        </p:nvSpPr>
        <p:spPr>
          <a:xfrm>
            <a:off x="5596128" y="4572000"/>
            <a:ext cx="5760720" cy="320040"/>
          </a:xfrm>
          <a:prstGeom prst="rect">
            <a:avLst/>
          </a:prstGeom>
          <a:noFill/>
        </p:spPr>
        <p:txBody>
          <a:bodyPr wrap="square" lIns="0" tIns="0" rIns="0" bIns="0" anchor="t">
            <a:spAutoFit/>
          </a:bodyPr>
          <a:lstStyle/>
          <a:p>
            <a:pPr algn="l">
              <a:spcAft>
                <a:spcPts val="400"/>
              </a:spcAft>
            </a:pPr>
            <a:r>
              <a:rPr sz="1500" b="1" i="0">
                <a:solidFill>
                  <a:srgbClr val="14142B"/>
                </a:solidFill>
                <a:latin typeface="Calibri"/>
              </a:rPr>
              <a:t>Reusable at scale</a:t>
            </a:r>
          </a:p>
        </p:txBody>
      </p:sp>
      <p:sp>
        <p:nvSpPr>
          <p:cNvPr id="20" name="TextBox 19"/>
          <p:cNvSpPr txBox="1"/>
          <p:nvPr/>
        </p:nvSpPr>
        <p:spPr>
          <a:xfrm>
            <a:off x="5596128" y="4910328"/>
            <a:ext cx="5760720" cy="594360"/>
          </a:xfrm>
          <a:prstGeom prst="rect">
            <a:avLst/>
          </a:prstGeom>
          <a:noFill/>
        </p:spPr>
        <p:txBody>
          <a:bodyPr wrap="square" lIns="0" tIns="0" rIns="0" bIns="0" anchor="t">
            <a:spAutoFit/>
          </a:bodyPr>
          <a:lstStyle/>
          <a:p>
            <a:pPr algn="l">
              <a:spcAft>
                <a:spcPts val="400"/>
              </a:spcAft>
            </a:pPr>
            <a:r>
              <a:rPr sz="1250" b="0" i="0">
                <a:solidFill>
                  <a:srgbClr val="63637E"/>
                </a:solidFill>
                <a:latin typeface="Calibri"/>
              </a:rPr>
              <a:t>Matching runs over the catalog, not hand-written scripts, so it extends to thousands of scenarios.</a:t>
            </a:r>
          </a:p>
        </p:txBody>
      </p:sp>
    </p:spTree>
    <p:extLst>
      <p:ext uri="{BB962C8B-B14F-4D97-AF65-F5344CB8AC3E}">
        <p14:creationId xmlns:p14="http://schemas.microsoft.com/office/powerpoint/2010/main" val="366811909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353DB3-FB86-4452-A4FB-E7F4BEA62856}"/>
              </a:ext>
            </a:extLst>
          </p:cNvPr>
          <p:cNvSpPr>
            <a:spLocks noGrp="1"/>
          </p:cNvSpPr>
          <p:nvPr>
            <p:ph type="title"/>
          </p:nvPr>
        </p:nvSpPr>
        <p:spPr/>
        <p:txBody>
          <a:bodyPr/>
          <a:lstStyle/>
          <a:p>
            <a:pPr>
              <a:spcAft>
                <a:spcPts val="500"/>
              </a:spcAft>
              <a:buSzPct val="100000"/>
            </a:pPr>
            <a:r>
              <a:rPr lang="en-US" sz="4400" b="1" dirty="0">
                <a:solidFill>
                  <a:srgbClr val="704EA6"/>
                </a:solidFill>
                <a:latin typeface="Calibri" pitchFamily="34" charset="0"/>
                <a:ea typeface="Calibri" pitchFamily="34" charset="-122"/>
                <a:cs typeface="Calibri" pitchFamily="34" charset="-120"/>
              </a:rPr>
              <a:t>Innovation highlights, results and limitations</a:t>
            </a:r>
            <a:endParaRPr lang="en-US" sz="4400" b="1" dirty="0">
              <a:solidFill>
                <a:srgbClr val="704EA6"/>
              </a:solidFill>
            </a:endParaRPr>
          </a:p>
        </p:txBody>
      </p:sp>
      <p:sp>
        <p:nvSpPr>
          <p:cNvPr id="3" name="Rounded Rectangle 2"/>
          <p:cNvSpPr/>
          <p:nvPr/>
        </p:nvSpPr>
        <p:spPr>
          <a:xfrm>
            <a:off x="841248" y="1417320"/>
            <a:ext cx="3383280" cy="4160520"/>
          </a:xfrm>
          <a:prstGeom prst="roundRect">
            <a:avLst>
              <a:gd name="adj" fmla="val 6000"/>
            </a:avLst>
          </a:prstGeom>
          <a:solidFill>
            <a:srgbClr val="F5F3FF"/>
          </a:solidFill>
          <a:ln w="12700">
            <a:solidFill>
              <a:srgbClr val="DDD6F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115568" y="1645920"/>
            <a:ext cx="2834640" cy="365760"/>
          </a:xfrm>
          <a:prstGeom prst="rect">
            <a:avLst/>
          </a:prstGeom>
          <a:noFill/>
        </p:spPr>
        <p:txBody>
          <a:bodyPr wrap="square" lIns="0" tIns="0" rIns="0" bIns="0" anchor="t">
            <a:spAutoFit/>
          </a:bodyPr>
          <a:lstStyle/>
          <a:p>
            <a:pPr algn="l">
              <a:spcAft>
                <a:spcPts val="400"/>
              </a:spcAft>
            </a:pPr>
            <a:r>
              <a:rPr sz="1700" b="1" i="0">
                <a:solidFill>
                  <a:srgbClr val="6D28D9"/>
                </a:solidFill>
                <a:latin typeface="Calibri"/>
              </a:rPr>
              <a:t>Innovation</a:t>
            </a:r>
          </a:p>
        </p:txBody>
      </p:sp>
      <p:sp>
        <p:nvSpPr>
          <p:cNvPr id="5" name="TextBox 4"/>
          <p:cNvSpPr txBox="1"/>
          <p:nvPr/>
        </p:nvSpPr>
        <p:spPr>
          <a:xfrm>
            <a:off x="1115568" y="2148840"/>
            <a:ext cx="2834640" cy="1885131"/>
          </a:xfrm>
          <a:prstGeom prst="rect">
            <a:avLst/>
          </a:prstGeom>
          <a:noFill/>
        </p:spPr>
        <p:txBody>
          <a:bodyPr wrap="square" lIns="0" tIns="0" rIns="0" bIns="0" anchor="t">
            <a:spAutoFit/>
          </a:bodyPr>
          <a:lstStyle/>
          <a:p>
            <a:pPr algn="l">
              <a:spcAft>
                <a:spcPts val="900"/>
              </a:spcAft>
            </a:pPr>
            <a:r>
              <a:rPr sz="1250" b="0" i="0" dirty="0">
                <a:solidFill>
                  <a:srgbClr val="14142B"/>
                </a:solidFill>
                <a:latin typeface="Calibri"/>
              </a:rPr>
              <a:t>•  Abstention-first: 6 named fallbacks, each with a plain-language reason</a:t>
            </a:r>
          </a:p>
          <a:p>
            <a:pPr algn="l">
              <a:spcAft>
                <a:spcPts val="900"/>
              </a:spcAft>
            </a:pPr>
            <a:r>
              <a:rPr sz="1250" b="0" i="0" dirty="0">
                <a:solidFill>
                  <a:srgbClr val="14142B"/>
                </a:solidFill>
                <a:latin typeface="Calibri"/>
              </a:rPr>
              <a:t>•  Source sentence shown for every step; ungrounded actions removed</a:t>
            </a:r>
          </a:p>
          <a:p>
            <a:pPr algn="l">
              <a:spcAft>
                <a:spcPts val="900"/>
              </a:spcAft>
            </a:pPr>
            <a:r>
              <a:rPr sz="1250" b="0" i="0" dirty="0">
                <a:solidFill>
                  <a:srgbClr val="14142B"/>
                </a:solidFill>
                <a:latin typeface="Calibri"/>
              </a:rPr>
              <a:t>•  Deeplink intent matched to the catalog's on / off / update / open types</a:t>
            </a:r>
          </a:p>
          <a:p>
            <a:pPr algn="l">
              <a:spcAft>
                <a:spcPts val="900"/>
              </a:spcAft>
            </a:pPr>
            <a:r>
              <a:rPr sz="1250" b="0" i="0" dirty="0">
                <a:solidFill>
                  <a:srgbClr val="14142B"/>
                </a:solidFill>
                <a:latin typeface="Calibri"/>
              </a:rPr>
              <a:t>•  Multilingual complaints: Hindi, Korean,</a:t>
            </a:r>
            <a:r>
              <a:rPr lang="en-IN" sz="1250" b="0" i="0" dirty="0">
                <a:solidFill>
                  <a:srgbClr val="14142B"/>
                </a:solidFill>
                <a:latin typeface="Calibri"/>
              </a:rPr>
              <a:t> </a:t>
            </a:r>
            <a:r>
              <a:rPr sz="1250" b="0" i="0" dirty="0">
                <a:solidFill>
                  <a:srgbClr val="14142B"/>
                </a:solidFill>
                <a:latin typeface="Calibri"/>
              </a:rPr>
              <a:t>Hinglish</a:t>
            </a:r>
          </a:p>
        </p:txBody>
      </p:sp>
      <p:sp>
        <p:nvSpPr>
          <p:cNvPr id="6" name="Rounded Rectangle 5"/>
          <p:cNvSpPr/>
          <p:nvPr/>
        </p:nvSpPr>
        <p:spPr>
          <a:xfrm>
            <a:off x="4407408" y="1417320"/>
            <a:ext cx="3383280" cy="4160520"/>
          </a:xfrm>
          <a:prstGeom prst="roundRect">
            <a:avLst>
              <a:gd name="adj" fmla="val 6000"/>
            </a:avLst>
          </a:prstGeom>
          <a:solidFill>
            <a:srgbClr val="F5F3FF"/>
          </a:solidFill>
          <a:ln w="12700">
            <a:solidFill>
              <a:srgbClr val="DDD6F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681728" y="1645920"/>
            <a:ext cx="2834640" cy="365760"/>
          </a:xfrm>
          <a:prstGeom prst="rect">
            <a:avLst/>
          </a:prstGeom>
          <a:noFill/>
        </p:spPr>
        <p:txBody>
          <a:bodyPr wrap="square" lIns="0" tIns="0" rIns="0" bIns="0" anchor="t">
            <a:spAutoFit/>
          </a:bodyPr>
          <a:lstStyle/>
          <a:p>
            <a:pPr algn="l">
              <a:spcAft>
                <a:spcPts val="400"/>
              </a:spcAft>
            </a:pPr>
            <a:r>
              <a:rPr sz="1700" b="1" i="0">
                <a:solidFill>
                  <a:srgbClr val="047857"/>
                </a:solidFill>
                <a:latin typeface="Calibri"/>
              </a:rPr>
              <a:t>Results</a:t>
            </a:r>
          </a:p>
        </p:txBody>
      </p:sp>
      <p:sp>
        <p:nvSpPr>
          <p:cNvPr id="8" name="TextBox 7"/>
          <p:cNvSpPr txBox="1"/>
          <p:nvPr/>
        </p:nvSpPr>
        <p:spPr>
          <a:xfrm>
            <a:off x="4681728" y="2148840"/>
            <a:ext cx="2834640" cy="3291840"/>
          </a:xfrm>
          <a:prstGeom prst="rect">
            <a:avLst/>
          </a:prstGeom>
          <a:noFill/>
        </p:spPr>
        <p:txBody>
          <a:bodyPr wrap="square" lIns="0" tIns="0" rIns="0" bIns="0" anchor="t">
            <a:spAutoFit/>
          </a:bodyPr>
          <a:lstStyle/>
          <a:p>
            <a:pPr algn="l">
              <a:spcAft>
                <a:spcPts val="900"/>
              </a:spcAft>
            </a:pPr>
            <a:r>
              <a:rPr sz="1250" b="0" i="0">
                <a:solidFill>
                  <a:srgbClr val="14142B"/>
                </a:solidFill>
                <a:latin typeface="Calibri"/>
              </a:rPr>
              <a:t>•  100% schema-valid and rule-compliant, 0 URL leaks (59 cases)</a:t>
            </a:r>
          </a:p>
          <a:p>
            <a:pPr algn="l">
              <a:spcAft>
                <a:spcPts val="900"/>
              </a:spcAft>
            </a:pPr>
            <a:r>
              <a:rPr sz="1250" b="0" i="0">
                <a:solidFill>
                  <a:srgbClr val="14142B"/>
                </a:solidFill>
                <a:latin typeface="Calibri"/>
              </a:rPr>
              <a:t>•  0 wrong deeplinks vs 13 for an LLM-only baseline, ~37× faster</a:t>
            </a:r>
          </a:p>
          <a:p>
            <a:pPr algn="l">
              <a:spcAft>
                <a:spcPts val="900"/>
              </a:spcAft>
            </a:pPr>
            <a:r>
              <a:rPr sz="1250" b="0" i="0">
                <a:solidFill>
                  <a:srgbClr val="14142B"/>
                </a:solidFill>
                <a:latin typeface="Calibri"/>
              </a:rPr>
              <a:t>•  Human review: steps 2.78 / 3, deeplinks 1.28 / 2 (49 plans)</a:t>
            </a:r>
          </a:p>
          <a:p>
            <a:pPr algn="l">
              <a:spcAft>
                <a:spcPts val="900"/>
              </a:spcAft>
            </a:pPr>
            <a:r>
              <a:rPr sz="1250" b="0" i="0">
                <a:solidFill>
                  <a:srgbClr val="14142B"/>
                </a:solidFill>
                <a:latin typeface="Calibri"/>
              </a:rPr>
              <a:t>•  87.5% paraphrase hits; 338 req/s at 50 concurrent users</a:t>
            </a:r>
          </a:p>
        </p:txBody>
      </p:sp>
      <p:sp>
        <p:nvSpPr>
          <p:cNvPr id="9" name="Rounded Rectangle 8"/>
          <p:cNvSpPr/>
          <p:nvPr/>
        </p:nvSpPr>
        <p:spPr>
          <a:xfrm>
            <a:off x="7973568" y="1417320"/>
            <a:ext cx="3383280" cy="4160520"/>
          </a:xfrm>
          <a:prstGeom prst="roundRect">
            <a:avLst>
              <a:gd name="adj" fmla="val 6000"/>
            </a:avLst>
          </a:prstGeom>
          <a:solidFill>
            <a:srgbClr val="F5F3FF"/>
          </a:solidFill>
          <a:ln w="12700">
            <a:solidFill>
              <a:srgbClr val="DDD6F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247888" y="1645920"/>
            <a:ext cx="2834640" cy="365760"/>
          </a:xfrm>
          <a:prstGeom prst="rect">
            <a:avLst/>
          </a:prstGeom>
          <a:noFill/>
        </p:spPr>
        <p:txBody>
          <a:bodyPr wrap="square" lIns="0" tIns="0" rIns="0" bIns="0" anchor="t">
            <a:spAutoFit/>
          </a:bodyPr>
          <a:lstStyle/>
          <a:p>
            <a:pPr algn="l">
              <a:spcAft>
                <a:spcPts val="400"/>
              </a:spcAft>
            </a:pPr>
            <a:r>
              <a:rPr sz="1700" b="1" i="0">
                <a:solidFill>
                  <a:srgbClr val="B91C1C"/>
                </a:solidFill>
                <a:latin typeface="Calibri"/>
              </a:rPr>
              <a:t>Limitations</a:t>
            </a:r>
          </a:p>
        </p:txBody>
      </p:sp>
      <p:sp>
        <p:nvSpPr>
          <p:cNvPr id="11" name="TextBox 10"/>
          <p:cNvSpPr txBox="1"/>
          <p:nvPr/>
        </p:nvSpPr>
        <p:spPr>
          <a:xfrm>
            <a:off x="8247888" y="2148840"/>
            <a:ext cx="2834640" cy="2077492"/>
          </a:xfrm>
          <a:prstGeom prst="rect">
            <a:avLst/>
          </a:prstGeom>
          <a:noFill/>
        </p:spPr>
        <p:txBody>
          <a:bodyPr wrap="square" lIns="0" tIns="0" rIns="0" bIns="0" anchor="t">
            <a:spAutoFit/>
          </a:bodyPr>
          <a:lstStyle/>
          <a:p>
            <a:pPr algn="l">
              <a:spcAft>
                <a:spcPts val="900"/>
              </a:spcAft>
            </a:pPr>
            <a:r>
              <a:rPr sz="1250" b="0" i="0" dirty="0">
                <a:solidFill>
                  <a:srgbClr val="14142B"/>
                </a:solidFill>
                <a:latin typeface="Calibri"/>
              </a:rPr>
              <a:t>•  Cold path: P50 ~4 s, but P95 9–19 s vs 8 s target (provider)</a:t>
            </a:r>
          </a:p>
          <a:p>
            <a:pPr algn="l">
              <a:spcAft>
                <a:spcPts val="900"/>
              </a:spcAft>
            </a:pPr>
            <a:r>
              <a:rPr sz="1250" b="0" i="0" dirty="0">
                <a:solidFill>
                  <a:srgbClr val="14142B"/>
                </a:solidFill>
                <a:latin typeface="Calibri"/>
              </a:rPr>
              <a:t>•  Samsung's 20 queries are all Display; other domains are synthetic</a:t>
            </a:r>
          </a:p>
          <a:p>
            <a:pPr algn="l">
              <a:spcAft>
                <a:spcPts val="900"/>
              </a:spcAft>
            </a:pPr>
            <a:r>
              <a:rPr sz="1250" b="0" i="0" dirty="0">
                <a:solidFill>
                  <a:srgbClr val="14142B"/>
                </a:solidFill>
                <a:latin typeface="Calibri"/>
              </a:rPr>
              <a:t>•  Lexical grounding misses some invented steps; human review still needed</a:t>
            </a:r>
          </a:p>
          <a:p>
            <a:pPr algn="l">
              <a:spcAft>
                <a:spcPts val="900"/>
              </a:spcAft>
            </a:pPr>
            <a:r>
              <a:rPr sz="1250" b="0" i="0" dirty="0">
                <a:solidFill>
                  <a:srgbClr val="14142B"/>
                </a:solidFill>
                <a:latin typeface="Calibri"/>
              </a:rPr>
              <a:t>•  45% of auto actions link a real screen; the rest use Samsung's placeholder (the price of 0 wrong)</a:t>
            </a:r>
          </a:p>
        </p:txBody>
      </p:sp>
    </p:spTree>
    <p:extLst>
      <p:ext uri="{BB962C8B-B14F-4D97-AF65-F5344CB8AC3E}">
        <p14:creationId xmlns:p14="http://schemas.microsoft.com/office/powerpoint/2010/main" val="199323702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353DB3-FB86-4452-A4FB-E7F4BEA62856}"/>
              </a:ext>
            </a:extLst>
          </p:cNvPr>
          <p:cNvSpPr>
            <a:spLocks noGrp="1"/>
          </p:cNvSpPr>
          <p:nvPr>
            <p:ph type="title"/>
          </p:nvPr>
        </p:nvSpPr>
        <p:spPr/>
        <p:txBody>
          <a:bodyPr/>
          <a:lstStyle/>
          <a:p>
            <a:pPr>
              <a:spcAft>
                <a:spcPts val="500"/>
              </a:spcAft>
              <a:buSzPct val="100000"/>
            </a:pPr>
            <a:r>
              <a:rPr lang="en-US" sz="4400" b="1" dirty="0">
                <a:solidFill>
                  <a:srgbClr val="704EA6"/>
                </a:solidFill>
                <a:latin typeface="Calibri" pitchFamily="34" charset="0"/>
                <a:ea typeface="Calibri" pitchFamily="34" charset="-122"/>
                <a:cs typeface="Calibri" pitchFamily="34" charset="-120"/>
              </a:rPr>
              <a:t>What’s next</a:t>
            </a:r>
            <a:endParaRPr lang="en-US" sz="4400" b="1" dirty="0">
              <a:solidFill>
                <a:srgbClr val="704EA6"/>
              </a:solidFill>
            </a:endParaRPr>
          </a:p>
        </p:txBody>
      </p:sp>
      <p:sp>
        <p:nvSpPr>
          <p:cNvPr id="3" name="Oval 2"/>
          <p:cNvSpPr/>
          <p:nvPr/>
        </p:nvSpPr>
        <p:spPr>
          <a:xfrm>
            <a:off x="1881378" y="1508760"/>
            <a:ext cx="548640" cy="548640"/>
          </a:xfrm>
          <a:prstGeom prst="ellipse">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FFFFFF"/>
                </a:solidFill>
                <a:latin typeface="Calibri"/>
              </a:rPr>
              <a:t>1</a:t>
            </a:r>
          </a:p>
        </p:txBody>
      </p:sp>
      <p:cxnSp>
        <p:nvCxnSpPr>
          <p:cNvPr id="4" name="Connector 3"/>
          <p:cNvCxnSpPr/>
          <p:nvPr/>
        </p:nvCxnSpPr>
        <p:spPr>
          <a:xfrm>
            <a:off x="2475738" y="1783080"/>
            <a:ext cx="1988820" cy="0"/>
          </a:xfrm>
          <a:prstGeom prst="line">
            <a:avLst/>
          </a:prstGeom>
          <a:ln w="25400">
            <a:solidFill>
              <a:srgbClr val="DDD6FE"/>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978408" y="2286000"/>
            <a:ext cx="2354580" cy="365760"/>
          </a:xfrm>
          <a:prstGeom prst="rect">
            <a:avLst/>
          </a:prstGeom>
          <a:noFill/>
        </p:spPr>
        <p:txBody>
          <a:bodyPr wrap="square" lIns="0" tIns="0" rIns="0" bIns="0" anchor="t">
            <a:spAutoFit/>
          </a:bodyPr>
          <a:lstStyle/>
          <a:p>
            <a:pPr algn="ctr">
              <a:spcAft>
                <a:spcPts val="400"/>
              </a:spcAft>
            </a:pPr>
            <a:r>
              <a:rPr sz="1500" b="1" i="0">
                <a:solidFill>
                  <a:srgbClr val="14142B"/>
                </a:solidFill>
                <a:latin typeface="Calibri"/>
              </a:rPr>
              <a:t>Grow the ground truth</a:t>
            </a:r>
          </a:p>
        </p:txBody>
      </p:sp>
      <p:sp>
        <p:nvSpPr>
          <p:cNvPr id="6" name="TextBox 5"/>
          <p:cNvSpPr txBox="1"/>
          <p:nvPr/>
        </p:nvSpPr>
        <p:spPr>
          <a:xfrm>
            <a:off x="978408" y="2697480"/>
            <a:ext cx="2354580" cy="1463040"/>
          </a:xfrm>
          <a:prstGeom prst="rect">
            <a:avLst/>
          </a:prstGeom>
          <a:noFill/>
        </p:spPr>
        <p:txBody>
          <a:bodyPr wrap="square" lIns="0" tIns="0" rIns="0" bIns="0" anchor="t">
            <a:spAutoFit/>
          </a:bodyPr>
          <a:lstStyle/>
          <a:p>
            <a:pPr algn="ctr">
              <a:spcAft>
                <a:spcPts val="400"/>
              </a:spcAft>
            </a:pPr>
            <a:r>
              <a:rPr sz="1200" b="0" i="0">
                <a:solidFill>
                  <a:srgbClr val="63637E"/>
                </a:solidFill>
                <a:latin typeface="Calibri"/>
              </a:rPr>
              <a:t>Expand the 99 labelled deeplink probes with Samsung-verified answers and re-tune thresholds, safety first.</a:t>
            </a:r>
          </a:p>
        </p:txBody>
      </p:sp>
      <p:sp>
        <p:nvSpPr>
          <p:cNvPr id="7" name="Oval 6"/>
          <p:cNvSpPr/>
          <p:nvPr/>
        </p:nvSpPr>
        <p:spPr>
          <a:xfrm>
            <a:off x="4510278" y="1508760"/>
            <a:ext cx="548640" cy="548640"/>
          </a:xfrm>
          <a:prstGeom prst="ellipse">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FFFFFF"/>
                </a:solidFill>
                <a:latin typeface="Calibri"/>
              </a:rPr>
              <a:t>2</a:t>
            </a:r>
          </a:p>
        </p:txBody>
      </p:sp>
      <p:cxnSp>
        <p:nvCxnSpPr>
          <p:cNvPr id="8" name="Connector 7"/>
          <p:cNvCxnSpPr/>
          <p:nvPr/>
        </p:nvCxnSpPr>
        <p:spPr>
          <a:xfrm>
            <a:off x="5104638" y="1783080"/>
            <a:ext cx="1988820" cy="0"/>
          </a:xfrm>
          <a:prstGeom prst="line">
            <a:avLst/>
          </a:prstGeom>
          <a:ln w="25400">
            <a:solidFill>
              <a:srgbClr val="DDD6FE"/>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3607308" y="2286000"/>
            <a:ext cx="2354580" cy="365760"/>
          </a:xfrm>
          <a:prstGeom prst="rect">
            <a:avLst/>
          </a:prstGeom>
          <a:noFill/>
        </p:spPr>
        <p:txBody>
          <a:bodyPr wrap="square" lIns="0" tIns="0" rIns="0" bIns="0" anchor="t">
            <a:spAutoFit/>
          </a:bodyPr>
          <a:lstStyle/>
          <a:p>
            <a:pPr algn="ctr">
              <a:spcAft>
                <a:spcPts val="400"/>
              </a:spcAft>
            </a:pPr>
            <a:r>
              <a:rPr sz="1500" b="1" i="0">
                <a:solidFill>
                  <a:srgbClr val="14142B"/>
                </a:solidFill>
                <a:latin typeface="Calibri"/>
              </a:rPr>
              <a:t>Semantic grounding</a:t>
            </a:r>
          </a:p>
        </p:txBody>
      </p:sp>
      <p:sp>
        <p:nvSpPr>
          <p:cNvPr id="10" name="TextBox 9"/>
          <p:cNvSpPr txBox="1"/>
          <p:nvPr/>
        </p:nvSpPr>
        <p:spPr>
          <a:xfrm>
            <a:off x="3607308" y="2697480"/>
            <a:ext cx="2354580" cy="1463040"/>
          </a:xfrm>
          <a:prstGeom prst="rect">
            <a:avLst/>
          </a:prstGeom>
          <a:noFill/>
        </p:spPr>
        <p:txBody>
          <a:bodyPr wrap="square" lIns="0" tIns="0" rIns="0" bIns="0" anchor="t">
            <a:spAutoFit/>
          </a:bodyPr>
          <a:lstStyle/>
          <a:p>
            <a:pPr algn="ctr">
              <a:spcAft>
                <a:spcPts val="400"/>
              </a:spcAft>
            </a:pPr>
            <a:r>
              <a:rPr sz="1200" b="0" i="0">
                <a:solidFill>
                  <a:srgbClr val="63637E"/>
                </a:solidFill>
                <a:latin typeface="Calibri"/>
              </a:rPr>
              <a:t>Check step support by meaning, not just shared words, to catch invented steps the lexical check misses.</a:t>
            </a:r>
          </a:p>
        </p:txBody>
      </p:sp>
      <p:sp>
        <p:nvSpPr>
          <p:cNvPr id="11" name="Oval 10"/>
          <p:cNvSpPr/>
          <p:nvPr/>
        </p:nvSpPr>
        <p:spPr>
          <a:xfrm>
            <a:off x="7139178" y="1508760"/>
            <a:ext cx="548640" cy="548640"/>
          </a:xfrm>
          <a:prstGeom prst="ellipse">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FFFFFF"/>
                </a:solidFill>
                <a:latin typeface="Calibri"/>
              </a:rPr>
              <a:t>3</a:t>
            </a:r>
          </a:p>
        </p:txBody>
      </p:sp>
      <p:cxnSp>
        <p:nvCxnSpPr>
          <p:cNvPr id="12" name="Connector 11"/>
          <p:cNvCxnSpPr/>
          <p:nvPr/>
        </p:nvCxnSpPr>
        <p:spPr>
          <a:xfrm>
            <a:off x="7733538" y="1783080"/>
            <a:ext cx="1988820" cy="0"/>
          </a:xfrm>
          <a:prstGeom prst="line">
            <a:avLst/>
          </a:prstGeom>
          <a:ln w="25400">
            <a:solidFill>
              <a:srgbClr val="DDD6FE"/>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6236208" y="2286000"/>
            <a:ext cx="2354580" cy="365760"/>
          </a:xfrm>
          <a:prstGeom prst="rect">
            <a:avLst/>
          </a:prstGeom>
          <a:noFill/>
        </p:spPr>
        <p:txBody>
          <a:bodyPr wrap="square" lIns="0" tIns="0" rIns="0" bIns="0" anchor="t">
            <a:spAutoFit/>
          </a:bodyPr>
          <a:lstStyle/>
          <a:p>
            <a:pPr algn="ctr">
              <a:spcAft>
                <a:spcPts val="400"/>
              </a:spcAft>
            </a:pPr>
            <a:r>
              <a:rPr sz="1500" b="1" i="0">
                <a:solidFill>
                  <a:srgbClr val="14142B"/>
                </a:solidFill>
                <a:latin typeface="Calibri"/>
              </a:rPr>
              <a:t>Localized answers</a:t>
            </a:r>
          </a:p>
        </p:txBody>
      </p:sp>
      <p:sp>
        <p:nvSpPr>
          <p:cNvPr id="14" name="TextBox 13"/>
          <p:cNvSpPr txBox="1"/>
          <p:nvPr/>
        </p:nvSpPr>
        <p:spPr>
          <a:xfrm>
            <a:off x="6236208" y="2697480"/>
            <a:ext cx="2354580" cy="1463040"/>
          </a:xfrm>
          <a:prstGeom prst="rect">
            <a:avLst/>
          </a:prstGeom>
          <a:noFill/>
        </p:spPr>
        <p:txBody>
          <a:bodyPr wrap="square" lIns="0" tIns="0" rIns="0" bIns="0" anchor="t">
            <a:spAutoFit/>
          </a:bodyPr>
          <a:lstStyle/>
          <a:p>
            <a:pPr algn="ctr">
              <a:spcAft>
                <a:spcPts val="400"/>
              </a:spcAft>
            </a:pPr>
            <a:r>
              <a:rPr sz="1200" b="0" i="0">
                <a:solidFill>
                  <a:srgbClr val="63637E"/>
                </a:solidFill>
                <a:latin typeface="Calibri"/>
              </a:rPr>
              <a:t>Return the plan in the customer's own language, not just understand it.</a:t>
            </a:r>
          </a:p>
        </p:txBody>
      </p:sp>
      <p:sp>
        <p:nvSpPr>
          <p:cNvPr id="15" name="Oval 14"/>
          <p:cNvSpPr/>
          <p:nvPr/>
        </p:nvSpPr>
        <p:spPr>
          <a:xfrm>
            <a:off x="9768078" y="1508760"/>
            <a:ext cx="548640" cy="548640"/>
          </a:xfrm>
          <a:prstGeom prst="ellipse">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FFFFFF"/>
                </a:solidFill>
                <a:latin typeface="Calibri"/>
              </a:rPr>
              <a:t>4</a:t>
            </a:r>
          </a:p>
        </p:txBody>
      </p:sp>
      <p:sp>
        <p:nvSpPr>
          <p:cNvPr id="16" name="TextBox 15"/>
          <p:cNvSpPr txBox="1"/>
          <p:nvPr/>
        </p:nvSpPr>
        <p:spPr>
          <a:xfrm>
            <a:off x="8865108" y="2286000"/>
            <a:ext cx="2354580" cy="365760"/>
          </a:xfrm>
          <a:prstGeom prst="rect">
            <a:avLst/>
          </a:prstGeom>
          <a:noFill/>
        </p:spPr>
        <p:txBody>
          <a:bodyPr wrap="square" lIns="0" tIns="0" rIns="0" bIns="0" anchor="t">
            <a:spAutoFit/>
          </a:bodyPr>
          <a:lstStyle/>
          <a:p>
            <a:pPr algn="ctr">
              <a:spcAft>
                <a:spcPts val="400"/>
              </a:spcAft>
            </a:pPr>
            <a:r>
              <a:rPr sz="1500" b="1" i="0">
                <a:solidFill>
                  <a:srgbClr val="14142B"/>
                </a:solidFill>
                <a:latin typeface="Calibri"/>
              </a:rPr>
              <a:t>Closing the loop</a:t>
            </a:r>
          </a:p>
        </p:txBody>
      </p:sp>
      <p:sp>
        <p:nvSpPr>
          <p:cNvPr id="17" name="TextBox 16"/>
          <p:cNvSpPr txBox="1"/>
          <p:nvPr/>
        </p:nvSpPr>
        <p:spPr>
          <a:xfrm>
            <a:off x="8865108" y="2697480"/>
            <a:ext cx="2354580" cy="1463040"/>
          </a:xfrm>
          <a:prstGeom prst="rect">
            <a:avLst/>
          </a:prstGeom>
          <a:noFill/>
        </p:spPr>
        <p:txBody>
          <a:bodyPr wrap="square" lIns="0" tIns="0" rIns="0" bIns="0" anchor="t">
            <a:spAutoFit/>
          </a:bodyPr>
          <a:lstStyle/>
          <a:p>
            <a:pPr algn="ctr">
              <a:spcAft>
                <a:spcPts val="400"/>
              </a:spcAft>
            </a:pPr>
            <a:r>
              <a:rPr sz="1200" b="0" i="0">
                <a:solidFill>
                  <a:srgbClr val="63637E"/>
                </a:solidFill>
                <a:latin typeface="Calibri"/>
              </a:rPr>
              <a:t>Validation deeplinks confirm a fix worked; feedback demotes cached plans that don't.</a:t>
            </a:r>
          </a:p>
        </p:txBody>
      </p:sp>
    </p:spTree>
    <p:extLst>
      <p:ext uri="{BB962C8B-B14F-4D97-AF65-F5344CB8AC3E}">
        <p14:creationId xmlns:p14="http://schemas.microsoft.com/office/powerpoint/2010/main" val="398591468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353DB3-FB86-4452-A4FB-E7F4BEA62856}"/>
              </a:ext>
            </a:extLst>
          </p:cNvPr>
          <p:cNvSpPr>
            <a:spLocks noGrp="1"/>
          </p:cNvSpPr>
          <p:nvPr>
            <p:ph type="title"/>
          </p:nvPr>
        </p:nvSpPr>
        <p:spPr/>
        <p:txBody>
          <a:bodyPr/>
          <a:lstStyle/>
          <a:p>
            <a:pPr>
              <a:spcAft>
                <a:spcPts val="500"/>
              </a:spcAft>
              <a:buSzPct val="100000"/>
            </a:pPr>
            <a:r>
              <a:rPr lang="en-US" sz="4400" b="1" dirty="0">
                <a:solidFill>
                  <a:srgbClr val="704EA6"/>
                </a:solidFill>
                <a:latin typeface="Calibri" pitchFamily="34" charset="0"/>
                <a:ea typeface="Calibri" pitchFamily="34" charset="-122"/>
                <a:cs typeface="Calibri" pitchFamily="34" charset="-120"/>
              </a:rPr>
              <a:t>Brownie points slide( differentiation)</a:t>
            </a:r>
            <a:endParaRPr lang="en-US" sz="4400" b="1" dirty="0">
              <a:solidFill>
                <a:srgbClr val="704EA6"/>
              </a:solidFill>
            </a:endParaRPr>
          </a:p>
        </p:txBody>
      </p:sp>
      <p:sp>
        <p:nvSpPr>
          <p:cNvPr id="3" name="Rounded Rectangle 2"/>
          <p:cNvSpPr/>
          <p:nvPr/>
        </p:nvSpPr>
        <p:spPr>
          <a:xfrm>
            <a:off x="841248" y="1417320"/>
            <a:ext cx="3383280" cy="1874519"/>
          </a:xfrm>
          <a:prstGeom prst="roundRect">
            <a:avLst>
              <a:gd name="adj" fmla="val 6000"/>
            </a:avLst>
          </a:prstGeom>
          <a:solidFill>
            <a:srgbClr val="F5F3FF"/>
          </a:solidFill>
          <a:ln w="12700">
            <a:solidFill>
              <a:srgbClr val="DDD6F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115568" y="1618488"/>
            <a:ext cx="2834640" cy="365760"/>
          </a:xfrm>
          <a:prstGeom prst="rect">
            <a:avLst/>
          </a:prstGeom>
          <a:noFill/>
        </p:spPr>
        <p:txBody>
          <a:bodyPr wrap="square" lIns="0" tIns="0" rIns="0" bIns="0" anchor="t">
            <a:spAutoFit/>
          </a:bodyPr>
          <a:lstStyle/>
          <a:p>
            <a:pPr algn="l">
              <a:spcAft>
                <a:spcPts val="400"/>
              </a:spcAft>
            </a:pPr>
            <a:r>
              <a:rPr sz="1500" b="1" i="0">
                <a:solidFill>
                  <a:srgbClr val="6D28D9"/>
                </a:solidFill>
                <a:latin typeface="Calibri"/>
              </a:rPr>
              <a:t>Beats the LLM baseline</a:t>
            </a:r>
          </a:p>
        </p:txBody>
      </p:sp>
      <p:sp>
        <p:nvSpPr>
          <p:cNvPr id="5" name="TextBox 4"/>
          <p:cNvSpPr txBox="1"/>
          <p:nvPr/>
        </p:nvSpPr>
        <p:spPr>
          <a:xfrm>
            <a:off x="1115568" y="2057400"/>
            <a:ext cx="2834640" cy="1188720"/>
          </a:xfrm>
          <a:prstGeom prst="rect">
            <a:avLst/>
          </a:prstGeom>
          <a:noFill/>
        </p:spPr>
        <p:txBody>
          <a:bodyPr wrap="square" lIns="0" tIns="0" rIns="0" bIns="0" anchor="t">
            <a:spAutoFit/>
          </a:bodyPr>
          <a:lstStyle/>
          <a:p>
            <a:pPr algn="l">
              <a:spcAft>
                <a:spcPts val="400"/>
              </a:spcAft>
            </a:pPr>
            <a:r>
              <a:rPr sz="1250" b="0" i="0">
                <a:solidFill>
                  <a:srgbClr val="14142B"/>
                </a:solidFill>
                <a:latin typeface="Calibri"/>
              </a:rPr>
              <a:t>With the whole catalog in its prompt, an LLM linked 13 wrong screens. Ours: 0 wrong, ~37× faster, no tokens.</a:t>
            </a:r>
          </a:p>
        </p:txBody>
      </p:sp>
      <p:sp>
        <p:nvSpPr>
          <p:cNvPr id="6" name="Rounded Rectangle 5"/>
          <p:cNvSpPr/>
          <p:nvPr/>
        </p:nvSpPr>
        <p:spPr>
          <a:xfrm>
            <a:off x="4407408" y="1417320"/>
            <a:ext cx="3383280" cy="1874519"/>
          </a:xfrm>
          <a:prstGeom prst="roundRect">
            <a:avLst>
              <a:gd name="adj" fmla="val 6000"/>
            </a:avLst>
          </a:prstGeom>
          <a:solidFill>
            <a:srgbClr val="F5F3FF"/>
          </a:solidFill>
          <a:ln w="12700">
            <a:solidFill>
              <a:srgbClr val="DDD6F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681728" y="1618488"/>
            <a:ext cx="2834640" cy="365760"/>
          </a:xfrm>
          <a:prstGeom prst="rect">
            <a:avLst/>
          </a:prstGeom>
          <a:noFill/>
        </p:spPr>
        <p:txBody>
          <a:bodyPr wrap="square" lIns="0" tIns="0" rIns="0" bIns="0" anchor="t">
            <a:spAutoFit/>
          </a:bodyPr>
          <a:lstStyle/>
          <a:p>
            <a:pPr algn="l">
              <a:spcAft>
                <a:spcPts val="400"/>
              </a:spcAft>
            </a:pPr>
            <a:r>
              <a:rPr sz="1500" b="1" i="0">
                <a:solidFill>
                  <a:srgbClr val="6D28D9"/>
                </a:solidFill>
                <a:latin typeface="Calibri"/>
              </a:rPr>
              <a:t>Every step traceable</a:t>
            </a:r>
          </a:p>
        </p:txBody>
      </p:sp>
      <p:sp>
        <p:nvSpPr>
          <p:cNvPr id="8" name="TextBox 7"/>
          <p:cNvSpPr txBox="1"/>
          <p:nvPr/>
        </p:nvSpPr>
        <p:spPr>
          <a:xfrm>
            <a:off x="4681728" y="2057400"/>
            <a:ext cx="2834640" cy="1188720"/>
          </a:xfrm>
          <a:prstGeom prst="rect">
            <a:avLst/>
          </a:prstGeom>
          <a:noFill/>
        </p:spPr>
        <p:txBody>
          <a:bodyPr wrap="square" lIns="0" tIns="0" rIns="0" bIns="0" anchor="t">
            <a:spAutoFit/>
          </a:bodyPr>
          <a:lstStyle/>
          <a:p>
            <a:pPr algn="l">
              <a:spcAft>
                <a:spcPts val="400"/>
              </a:spcAft>
            </a:pPr>
            <a:r>
              <a:rPr sz="1250" b="0" i="0">
                <a:solidFill>
                  <a:srgbClr val="14142B"/>
                </a:solidFill>
                <a:latin typeface="Calibri"/>
              </a:rPr>
              <a:t>Each step shows the SIIS sentence behind it; actions the reference doesn't support are removed.</a:t>
            </a:r>
          </a:p>
        </p:txBody>
      </p:sp>
      <p:sp>
        <p:nvSpPr>
          <p:cNvPr id="9" name="Rounded Rectangle 8"/>
          <p:cNvSpPr/>
          <p:nvPr/>
        </p:nvSpPr>
        <p:spPr>
          <a:xfrm>
            <a:off x="7973568" y="1417320"/>
            <a:ext cx="3383280" cy="1874519"/>
          </a:xfrm>
          <a:prstGeom prst="roundRect">
            <a:avLst>
              <a:gd name="adj" fmla="val 6000"/>
            </a:avLst>
          </a:prstGeom>
          <a:solidFill>
            <a:srgbClr val="F5F3FF"/>
          </a:solidFill>
          <a:ln w="12700">
            <a:solidFill>
              <a:srgbClr val="DDD6F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247888" y="1618488"/>
            <a:ext cx="2834640" cy="365760"/>
          </a:xfrm>
          <a:prstGeom prst="rect">
            <a:avLst/>
          </a:prstGeom>
          <a:noFill/>
        </p:spPr>
        <p:txBody>
          <a:bodyPr wrap="square" lIns="0" tIns="0" rIns="0" bIns="0" anchor="t">
            <a:spAutoFit/>
          </a:bodyPr>
          <a:lstStyle/>
          <a:p>
            <a:pPr algn="l">
              <a:spcAft>
                <a:spcPts val="400"/>
              </a:spcAft>
            </a:pPr>
            <a:r>
              <a:rPr sz="1500" b="1" i="0">
                <a:solidFill>
                  <a:srgbClr val="6D28D9"/>
                </a:solidFill>
                <a:latin typeface="Calibri"/>
              </a:rPr>
              <a:t>Multilingual</a:t>
            </a:r>
          </a:p>
        </p:txBody>
      </p:sp>
      <p:sp>
        <p:nvSpPr>
          <p:cNvPr id="11" name="TextBox 10"/>
          <p:cNvSpPr txBox="1"/>
          <p:nvPr/>
        </p:nvSpPr>
        <p:spPr>
          <a:xfrm>
            <a:off x="8247888" y="2057400"/>
            <a:ext cx="2834640" cy="577081"/>
          </a:xfrm>
          <a:prstGeom prst="rect">
            <a:avLst/>
          </a:prstGeom>
          <a:noFill/>
        </p:spPr>
        <p:txBody>
          <a:bodyPr wrap="square" lIns="0" tIns="0" rIns="0" bIns="0" anchor="t">
            <a:spAutoFit/>
          </a:bodyPr>
          <a:lstStyle/>
          <a:p>
            <a:pPr algn="l">
              <a:spcAft>
                <a:spcPts val="400"/>
              </a:spcAft>
            </a:pPr>
            <a:r>
              <a:rPr sz="1250" b="0" i="0" dirty="0">
                <a:solidFill>
                  <a:srgbClr val="14142B"/>
                </a:solidFill>
                <a:latin typeface="Calibri"/>
              </a:rPr>
              <a:t>Hindi, Korean and Hinglish complaints are answered; 0 of 55 English queries misrouted.</a:t>
            </a:r>
          </a:p>
        </p:txBody>
      </p:sp>
      <p:sp>
        <p:nvSpPr>
          <p:cNvPr id="12" name="Rounded Rectangle 11"/>
          <p:cNvSpPr/>
          <p:nvPr/>
        </p:nvSpPr>
        <p:spPr>
          <a:xfrm>
            <a:off x="841248" y="3520439"/>
            <a:ext cx="3383280" cy="1874519"/>
          </a:xfrm>
          <a:prstGeom prst="roundRect">
            <a:avLst>
              <a:gd name="adj" fmla="val 6000"/>
            </a:avLst>
          </a:prstGeom>
          <a:solidFill>
            <a:srgbClr val="F5F3FF"/>
          </a:solidFill>
          <a:ln w="12700">
            <a:solidFill>
              <a:srgbClr val="DDD6F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1115568" y="3721607"/>
            <a:ext cx="2834640" cy="365760"/>
          </a:xfrm>
          <a:prstGeom prst="rect">
            <a:avLst/>
          </a:prstGeom>
          <a:noFill/>
        </p:spPr>
        <p:txBody>
          <a:bodyPr wrap="square" lIns="0" tIns="0" rIns="0" bIns="0" anchor="t">
            <a:spAutoFit/>
          </a:bodyPr>
          <a:lstStyle/>
          <a:p>
            <a:pPr algn="l">
              <a:spcAft>
                <a:spcPts val="400"/>
              </a:spcAft>
            </a:pPr>
            <a:r>
              <a:rPr sz="1500" b="1" i="0">
                <a:solidFill>
                  <a:srgbClr val="6D28D9"/>
                </a:solidFill>
                <a:latin typeface="Calibri"/>
              </a:rPr>
              <a:t>Samsung's rules in code</a:t>
            </a:r>
          </a:p>
        </p:txBody>
      </p:sp>
      <p:sp>
        <p:nvSpPr>
          <p:cNvPr id="14" name="TextBox 13"/>
          <p:cNvSpPr txBox="1"/>
          <p:nvPr/>
        </p:nvSpPr>
        <p:spPr>
          <a:xfrm>
            <a:off x="1115568" y="4160520"/>
            <a:ext cx="2834640" cy="1188720"/>
          </a:xfrm>
          <a:prstGeom prst="rect">
            <a:avLst/>
          </a:prstGeom>
          <a:noFill/>
        </p:spPr>
        <p:txBody>
          <a:bodyPr wrap="square" lIns="0" tIns="0" rIns="0" bIns="0" anchor="t">
            <a:spAutoFit/>
          </a:bodyPr>
          <a:lstStyle/>
          <a:p>
            <a:pPr algn="l">
              <a:spcAft>
                <a:spcPts val="400"/>
              </a:spcAft>
            </a:pPr>
            <a:r>
              <a:rPr sz="1250" b="0" i="0">
                <a:solidFill>
                  <a:srgbClr val="14142B"/>
                </a:solidFill>
                <a:latin typeface="Calibri"/>
              </a:rPr>
              <a:t>Spec categories, one interaction per step, 8–10 paraphrases and catalog-verbatim validation are enforced, not prompted.</a:t>
            </a:r>
          </a:p>
        </p:txBody>
      </p:sp>
      <p:sp>
        <p:nvSpPr>
          <p:cNvPr id="15" name="Rounded Rectangle 14"/>
          <p:cNvSpPr/>
          <p:nvPr/>
        </p:nvSpPr>
        <p:spPr>
          <a:xfrm>
            <a:off x="4407408" y="3520439"/>
            <a:ext cx="3383280" cy="1874519"/>
          </a:xfrm>
          <a:prstGeom prst="roundRect">
            <a:avLst>
              <a:gd name="adj" fmla="val 6000"/>
            </a:avLst>
          </a:prstGeom>
          <a:solidFill>
            <a:srgbClr val="F5F3FF"/>
          </a:solidFill>
          <a:ln w="12700">
            <a:solidFill>
              <a:srgbClr val="DDD6F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4681728" y="3721607"/>
            <a:ext cx="2834640" cy="365760"/>
          </a:xfrm>
          <a:prstGeom prst="rect">
            <a:avLst/>
          </a:prstGeom>
          <a:noFill/>
        </p:spPr>
        <p:txBody>
          <a:bodyPr wrap="square" lIns="0" tIns="0" rIns="0" bIns="0" anchor="t">
            <a:spAutoFit/>
          </a:bodyPr>
          <a:lstStyle/>
          <a:p>
            <a:pPr algn="l">
              <a:spcAft>
                <a:spcPts val="400"/>
              </a:spcAft>
            </a:pPr>
            <a:r>
              <a:rPr sz="1500" b="1" i="0">
                <a:solidFill>
                  <a:srgbClr val="6D28D9"/>
                </a:solidFill>
                <a:latin typeface="Calibri"/>
              </a:rPr>
              <a:t>Honest by design</a:t>
            </a:r>
          </a:p>
        </p:txBody>
      </p:sp>
      <p:sp>
        <p:nvSpPr>
          <p:cNvPr id="17" name="TextBox 16"/>
          <p:cNvSpPr txBox="1"/>
          <p:nvPr/>
        </p:nvSpPr>
        <p:spPr>
          <a:xfrm>
            <a:off x="4681728" y="4160520"/>
            <a:ext cx="2834640" cy="1188720"/>
          </a:xfrm>
          <a:prstGeom prst="rect">
            <a:avLst/>
          </a:prstGeom>
          <a:noFill/>
        </p:spPr>
        <p:txBody>
          <a:bodyPr wrap="square" lIns="0" tIns="0" rIns="0" bIns="0" anchor="t">
            <a:spAutoFit/>
          </a:bodyPr>
          <a:lstStyle/>
          <a:p>
            <a:pPr algn="l">
              <a:spcAft>
                <a:spcPts val="400"/>
              </a:spcAft>
            </a:pPr>
            <a:r>
              <a:rPr sz="1250" b="0" i="0">
                <a:solidFill>
                  <a:srgbClr val="14142B"/>
                </a:solidFill>
                <a:latin typeface="Calibri"/>
              </a:rPr>
              <a:t>A null answer beats a wrong one: every abstention is named, explained and tested.</a:t>
            </a:r>
          </a:p>
        </p:txBody>
      </p:sp>
      <p:sp>
        <p:nvSpPr>
          <p:cNvPr id="18" name="Rounded Rectangle 17"/>
          <p:cNvSpPr/>
          <p:nvPr/>
        </p:nvSpPr>
        <p:spPr>
          <a:xfrm>
            <a:off x="7973568" y="3520439"/>
            <a:ext cx="3383280" cy="1874519"/>
          </a:xfrm>
          <a:prstGeom prst="roundRect">
            <a:avLst>
              <a:gd name="adj" fmla="val 6000"/>
            </a:avLst>
          </a:prstGeom>
          <a:solidFill>
            <a:srgbClr val="F5F3FF"/>
          </a:solidFill>
          <a:ln w="12700">
            <a:solidFill>
              <a:srgbClr val="DDD6F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8247888" y="3721607"/>
            <a:ext cx="2834640" cy="365760"/>
          </a:xfrm>
          <a:prstGeom prst="rect">
            <a:avLst/>
          </a:prstGeom>
          <a:noFill/>
        </p:spPr>
        <p:txBody>
          <a:bodyPr wrap="square" lIns="0" tIns="0" rIns="0" bIns="0" anchor="t">
            <a:spAutoFit/>
          </a:bodyPr>
          <a:lstStyle/>
          <a:p>
            <a:pPr algn="l">
              <a:spcAft>
                <a:spcPts val="400"/>
              </a:spcAft>
            </a:pPr>
            <a:r>
              <a:rPr sz="1500" b="1" i="0">
                <a:solidFill>
                  <a:srgbClr val="6D28D9"/>
                </a:solidFill>
                <a:latin typeface="Calibri"/>
              </a:rPr>
              <a:t>Engineered, not demoed</a:t>
            </a:r>
          </a:p>
        </p:txBody>
      </p:sp>
      <p:sp>
        <p:nvSpPr>
          <p:cNvPr id="20" name="TextBox 19"/>
          <p:cNvSpPr txBox="1"/>
          <p:nvPr/>
        </p:nvSpPr>
        <p:spPr>
          <a:xfrm>
            <a:off x="8247888" y="4160520"/>
            <a:ext cx="2834640" cy="1188720"/>
          </a:xfrm>
          <a:prstGeom prst="rect">
            <a:avLst/>
          </a:prstGeom>
          <a:noFill/>
        </p:spPr>
        <p:txBody>
          <a:bodyPr wrap="square" lIns="0" tIns="0" rIns="0" bIns="0" anchor="t">
            <a:spAutoFit/>
          </a:bodyPr>
          <a:lstStyle/>
          <a:p>
            <a:pPr algn="l">
              <a:spcAft>
                <a:spcPts val="400"/>
              </a:spcAft>
            </a:pPr>
            <a:r>
              <a:rPr sz="1250" b="0" i="0">
                <a:solidFill>
                  <a:srgbClr val="14142B"/>
                </a:solidFill>
                <a:latin typeface="Calibri"/>
              </a:rPr>
              <a:t>373 offline tests, a 500-request load test (0 errors) and human review of 49 plans.</a:t>
            </a:r>
          </a:p>
        </p:txBody>
      </p:sp>
    </p:spTree>
    <p:extLst>
      <p:ext uri="{BB962C8B-B14F-4D97-AF65-F5344CB8AC3E}">
        <p14:creationId xmlns:p14="http://schemas.microsoft.com/office/powerpoint/2010/main" val="209551768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04E28A-8ABF-4E15-B9E1-B0F49C0EE29F}"/>
              </a:ext>
            </a:extLst>
          </p:cNvPr>
          <p:cNvSpPr>
            <a:spLocks noGrp="1"/>
          </p:cNvSpPr>
          <p:nvPr>
            <p:ph type="title"/>
          </p:nvPr>
        </p:nvSpPr>
        <p:spPr/>
        <p:txBody>
          <a:bodyPr/>
          <a:lstStyle/>
          <a:p>
            <a:r>
              <a:rPr lang="en-IN" b="1" dirty="0">
                <a:solidFill>
                  <a:srgbClr val="704EA6"/>
                </a:solidFill>
                <a:latin typeface="+mn-lt"/>
              </a:rPr>
              <a:t>Checklist- Updated on Public GitHub</a:t>
            </a:r>
          </a:p>
        </p:txBody>
      </p:sp>
      <p:sp>
        <p:nvSpPr>
          <p:cNvPr id="3" name="Content Placeholder 2">
            <a:extLst>
              <a:ext uri="{FF2B5EF4-FFF2-40B4-BE49-F238E27FC236}">
                <a16:creationId xmlns:a16="http://schemas.microsoft.com/office/drawing/2014/main" id="{DAB3E6F6-9D00-4480-90E6-EC3C876F2628}"/>
              </a:ext>
            </a:extLst>
          </p:cNvPr>
          <p:cNvSpPr>
            <a:spLocks noGrp="1"/>
          </p:cNvSpPr>
          <p:nvPr>
            <p:ph idx="1"/>
          </p:nvPr>
        </p:nvSpPr>
        <p:spPr/>
        <p:txBody>
          <a:bodyPr/>
          <a:lstStyle/>
          <a:p>
            <a:pPr marL="177800" indent="-177800">
              <a:spcAft>
                <a:spcPts val="500"/>
              </a:spcAft>
              <a:buSzPct val="100000"/>
              <a:buChar char="•"/>
            </a:pPr>
            <a:r>
              <a:rPr lang="en-US" sz="2800" dirty="0">
                <a:solidFill>
                  <a:srgbClr val="63637E"/>
                </a:solidFill>
                <a:latin typeface="Calibri" pitchFamily="34" charset="0"/>
                <a:ea typeface="Calibri" pitchFamily="34" charset="-122"/>
                <a:cs typeface="Calibri" pitchFamily="34" charset="-120"/>
              </a:rPr>
              <a:t>Working prototype code — public or shared GitHub repo — Y</a:t>
            </a:r>
            <a:endParaRPr lang="en-US" sz="2800" dirty="0"/>
          </a:p>
          <a:p>
            <a:pPr marL="177800" indent="-177800">
              <a:spcAft>
                <a:spcPts val="500"/>
              </a:spcAft>
              <a:buSzPct val="100000"/>
              <a:buChar char="•"/>
            </a:pPr>
            <a:r>
              <a:rPr lang="en-US" sz="2800" dirty="0">
                <a:solidFill>
                  <a:srgbClr val="63637E"/>
                </a:solidFill>
                <a:latin typeface="Calibri" pitchFamily="34" charset="0"/>
                <a:ea typeface="Calibri" pitchFamily="34" charset="-122"/>
                <a:cs typeface="Calibri" pitchFamily="34" charset="-120"/>
              </a:rPr>
              <a:t>README with reproducible setup instructions — Y</a:t>
            </a:r>
            <a:endParaRPr lang="en-US" sz="2800" dirty="0"/>
          </a:p>
          <a:p>
            <a:pPr marL="177800" indent="-177800">
              <a:spcAft>
                <a:spcPts val="500"/>
              </a:spcAft>
              <a:buSzPct val="100000"/>
            </a:pPr>
            <a:r>
              <a:rPr lang="en-US" sz="2800" dirty="0">
                <a:solidFill>
                  <a:srgbClr val="63637E"/>
                </a:solidFill>
                <a:latin typeface="Calibri" pitchFamily="34" charset="0"/>
                <a:ea typeface="Calibri" pitchFamily="34" charset="-122"/>
                <a:cs typeface="Calibri" pitchFamily="34" charset="-120"/>
              </a:rPr>
              <a:t>Demo video, max 5 minutes — </a:t>
            </a:r>
            <a:r>
              <a:rPr lang="en-US" dirty="0">
                <a:solidFill>
                  <a:srgbClr val="63637E"/>
                </a:solidFill>
                <a:latin typeface="Calibri" pitchFamily="34" charset="0"/>
                <a:ea typeface="Calibri" pitchFamily="34" charset="-122"/>
                <a:cs typeface="Calibri" pitchFamily="34" charset="-120"/>
              </a:rPr>
              <a:t>https://drive.google.com/file/d/10Exkw4bSvbSFb3ADYi13eaOImpLcP60E/view?usp=sharing</a:t>
            </a:r>
            <a:endParaRPr lang="en-US" sz="2800" dirty="0"/>
          </a:p>
          <a:p>
            <a:pPr marL="177800" indent="-177800">
              <a:spcAft>
                <a:spcPts val="500"/>
              </a:spcAft>
              <a:buSzPct val="100000"/>
              <a:buChar char="•"/>
            </a:pPr>
            <a:r>
              <a:rPr lang="en-US" sz="2800" dirty="0">
                <a:solidFill>
                  <a:srgbClr val="63637E"/>
                </a:solidFill>
                <a:latin typeface="Calibri" pitchFamily="34" charset="0"/>
                <a:ea typeface="Calibri" pitchFamily="34" charset="-122"/>
                <a:cs typeface="Calibri" pitchFamily="34" charset="-120"/>
              </a:rPr>
              <a:t>Presentation file (PPT or PDF) — Y</a:t>
            </a:r>
            <a:endParaRPr lang="en-US" sz="2800" dirty="0"/>
          </a:p>
          <a:p>
            <a:pPr marL="0" indent="0">
              <a:buNone/>
            </a:pPr>
            <a:endParaRPr lang="en-IN" dirty="0"/>
          </a:p>
        </p:txBody>
      </p:sp>
    </p:spTree>
    <p:extLst>
      <p:ext uri="{BB962C8B-B14F-4D97-AF65-F5344CB8AC3E}">
        <p14:creationId xmlns:p14="http://schemas.microsoft.com/office/powerpoint/2010/main" val="18069930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1046181" y="3730214"/>
            <a:ext cx="6766560" cy="868680"/>
          </a:xfrm>
          <a:prstGeom prst="rect">
            <a:avLst/>
          </a:prstGeom>
          <a:noFill/>
          <a:ln/>
        </p:spPr>
        <p:txBody>
          <a:bodyPr wrap="square" lIns="0" tIns="0" rIns="0" bIns="0" rtlCol="0" anchor="ctr"/>
          <a:lstStyle/>
          <a:p>
            <a:pPr marL="0" indent="0">
              <a:buNone/>
            </a:pPr>
            <a:r>
              <a:rPr lang="en-US" sz="4600" b="1" dirty="0">
                <a:solidFill>
                  <a:srgbClr val="14142B"/>
                </a:solidFill>
                <a:latin typeface="Arial" pitchFamily="34" charset="0"/>
                <a:ea typeface="Arial" pitchFamily="34" charset="-122"/>
                <a:cs typeface="Arial" pitchFamily="34" charset="-120"/>
              </a:rPr>
              <a:t>Thank you</a:t>
            </a:r>
            <a:endParaRPr lang="en-US" sz="4600" dirty="0"/>
          </a:p>
        </p:txBody>
      </p:sp>
      <p:sp>
        <p:nvSpPr>
          <p:cNvPr id="28" name="Text 25"/>
          <p:cNvSpPr txBox="1"/>
          <p:nvPr/>
        </p:nvSpPr>
        <p:spPr>
          <a:xfrm>
            <a:off x="777240" y="5897880"/>
            <a:ext cx="10607040" cy="292608"/>
          </a:xfrm>
          <a:prstGeom prst="rect">
            <a:avLst/>
          </a:prstGeom>
          <a:noFill/>
          <a:ln/>
        </p:spPr>
        <p:txBody>
          <a:bodyPr wrap="square" lIns="0" tIns="0" rIns="0" bIns="0" rtlCol="0" anchor="ctr"/>
          <a:lstStyle/>
          <a:p>
            <a:pPr marL="0" indent="0">
              <a:buNone/>
            </a:pPr>
            <a:r>
              <a:rPr lang="en-US" sz="1100" dirty="0">
                <a:solidFill>
                  <a:srgbClr val="63637E"/>
                </a:solidFill>
                <a:latin typeface="Calibri" pitchFamily="34" charset="0"/>
                <a:ea typeface="Calibri" pitchFamily="34" charset="-122"/>
                <a:cs typeface="Calibri" pitchFamily="34" charset="-120"/>
              </a:rPr>
              <a:t>Organised by the Language AI Team and the PRISM Team, Samsung R&amp;D Institute India</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docProps/app.xml><?xml version="1.0" encoding="utf-8"?>
<Properties xmlns="http://schemas.openxmlformats.org/officeDocument/2006/extended-properties" xmlns:vt="http://schemas.openxmlformats.org/officeDocument/2006/docPropsVTypes">
  <Template/>
  <TotalTime>82</TotalTime>
  <Words>1444</Words>
  <Application>Microsoft Office PowerPoint</Application>
  <PresentationFormat>Widescreen</PresentationFormat>
  <Paragraphs>183</Paragraphs>
  <Slides>12</Slides>
  <Notes>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Arial</vt:lpstr>
      <vt:lpstr>Calibri</vt:lpstr>
      <vt:lpstr>Calibri Light</vt:lpstr>
      <vt:lpstr>Office Theme</vt:lpstr>
      <vt:lpstr>PowerPoint Presentation</vt:lpstr>
      <vt:lpstr>Theme</vt:lpstr>
      <vt:lpstr>Existing Solutions &amp; Gaps</vt:lpstr>
      <vt:lpstr>Our Solutions &amp; Architecture Diagram</vt:lpstr>
      <vt:lpstr>Demo &amp; Product Walkthrough</vt:lpstr>
      <vt:lpstr>Tools and tech stack used</vt:lpstr>
      <vt:lpstr>Impact &amp; Use case</vt:lpstr>
      <vt:lpstr>Innovation highlights, results and limitations</vt:lpstr>
      <vt:lpstr>What’s next</vt:lpstr>
      <vt:lpstr>Brownie points slide( differentiation)</vt:lpstr>
      <vt:lpstr>Checklist- Updated on Public GitHub</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Binny Lakra/PRISM /SRI-Bangalore/Professional/Samsung Electronics</dc:creator>
  <cp:lastModifiedBy>Aaryaman Arora</cp:lastModifiedBy>
  <cp:revision>16</cp:revision>
  <dcterms:created xsi:type="dcterms:W3CDTF">2026-09-07T12:01:01Z</dcterms:created>
  <dcterms:modified xsi:type="dcterms:W3CDTF">2026-09-30T17:20:42Z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SCPROP">
    <vt:lpwstr>NSCCustomProperty</vt:lpwstr>
  </property>
</Properties>
</file>