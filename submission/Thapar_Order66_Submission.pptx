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2" d="100"/>
          <a:sy n="82" d="100"/>
        </p:scale>
        <p:origin x="72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30-09-2026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lstStyle/>
          <a:p>
            <a:endParaR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39" y="3310128"/>
            <a:ext cx="6528629" cy="2496312"/>
          </a:xfrm>
          <a:prstGeom prst="rect">
            <a:avLst/>
          </a:prstGeom>
          <a:noFill/>
          <a:ln/>
        </p:spPr>
        <p:txBody>
          <a:bodyPr wrap="square" lIns="0" tIns="0" rIns="0" bIns="0" rtlCol="0" anchor="t"/>
          <a:lstStyle/>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Theme ID - 02 — Smart Guided Troubleshooting Engine</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Team Name - Order 66</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College Name - Thapar Institute of Engineering &amp; Technology</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Member Name &amp; Email 1- Aaryaman Arora – aarora_btech24@thapar.edu</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Member Name &amp; Email 2- Pragati Singh – psingh_btech24@thapar.edu</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Member Name &amp; Email 3- Mandira Datta – mdatta_btech24@thapar.edu</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Member Name &amp; Email 4- Om Kaushik – okaushik_btech24@thapar.edu</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Submission github.com/Aaryaman-147/prism-troubleshoot</a:t>
            </a:r>
          </a:p>
          <a:p>
            <a:pPr marL="177800" indent="-177800">
              <a:spcAft>
                <a:spcPts val="500"/>
              </a:spcAft>
              <a:buSzPct val="100000"/>
              <a:buChar char="•"/>
            </a:pPr>
            <a:endParaRPr lang="en-US" sz="1600" dirty="0">
              <a:solidFill>
                <a:srgbClr val="63637E"/>
              </a:solidFill>
              <a:latin typeface="Calibri" pitchFamily="34" charset="0"/>
              <a:ea typeface="Calibri" pitchFamily="34" charset="-122"/>
              <a:cs typeface="Calibri" pitchFamily="34" charset="-120"/>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TextBox 2"/>
          <p:cNvSpPr txBox="1"/>
          <p:nvPr/>
        </p:nvSpPr>
        <p:spPr>
          <a:xfrm>
            <a:off x="841248" y="1417320"/>
            <a:ext cx="10515600" cy="457200"/>
          </a:xfrm>
          <a:prstGeom prst="rect">
            <a:avLst/>
          </a:prstGeom>
          <a:noFill/>
        </p:spPr>
        <p:txBody>
          <a:bodyPr wrap="square" lIns="0" tIns="0" rIns="0" bIns="0" anchor="t">
            <a:spAutoFit/>
          </a:bodyPr>
          <a:lstStyle/>
          <a:p>
            <a:pPr algn="l">
              <a:spcAft>
                <a:spcPts val="400"/>
              </a:spcAft>
            </a:pPr>
            <a:r>
              <a:rPr sz="2200" b="1" i="0">
                <a:solidFill>
                  <a:srgbClr val="14142B"/>
                </a:solidFill>
                <a:latin typeface="Calibri"/>
              </a:rPr>
              <a:t>Theme 02 — Smart Guided Troubleshooting Engine</a:t>
            </a:r>
          </a:p>
        </p:txBody>
      </p:sp>
      <p:sp>
        <p:nvSpPr>
          <p:cNvPr id="4" name="Rounded Rectangle 3"/>
          <p:cNvSpPr/>
          <p:nvPr/>
        </p:nvSpPr>
        <p:spPr>
          <a:xfrm>
            <a:off x="841248" y="2103120"/>
            <a:ext cx="10515600" cy="105156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61288" y="2103120"/>
            <a:ext cx="9875520" cy="1051560"/>
          </a:xfrm>
          <a:prstGeom prst="rect">
            <a:avLst/>
          </a:prstGeom>
          <a:noFill/>
        </p:spPr>
        <p:txBody>
          <a:bodyPr wrap="square" lIns="0" tIns="0" rIns="0" bIns="0" anchor="ctr">
            <a:spAutoFit/>
          </a:bodyPr>
          <a:lstStyle/>
          <a:p>
            <a:pPr algn="l">
              <a:spcAft>
                <a:spcPts val="0"/>
              </a:spcAft>
            </a:pPr>
            <a:r>
              <a:rPr sz="2200" b="1" i="1">
                <a:solidFill>
                  <a:srgbClr val="6D28D9"/>
                </a:solidFill>
                <a:latin typeface="Calibri"/>
              </a:rPr>
              <a:t>“My screen flickers and the battery dies fast.”</a:t>
            </a:r>
          </a:p>
        </p:txBody>
      </p:sp>
      <p:sp>
        <p:nvSpPr>
          <p:cNvPr id="6" name="TextBox 5"/>
          <p:cNvSpPr txBox="1"/>
          <p:nvPr/>
        </p:nvSpPr>
        <p:spPr>
          <a:xfrm>
            <a:off x="841248" y="3383280"/>
            <a:ext cx="10515600" cy="365760"/>
          </a:xfrm>
          <a:prstGeom prst="rect">
            <a:avLst/>
          </a:prstGeom>
          <a:noFill/>
        </p:spPr>
        <p:txBody>
          <a:bodyPr wrap="square" lIns="0" tIns="0" rIns="0" bIns="0" anchor="t">
            <a:spAutoFit/>
          </a:bodyPr>
          <a:lstStyle/>
          <a:p>
            <a:pPr algn="l">
              <a:spcAft>
                <a:spcPts val="400"/>
              </a:spcAft>
            </a:pPr>
            <a:r>
              <a:rPr sz="1600" b="1" i="0">
                <a:solidFill>
                  <a:srgbClr val="14142B"/>
                </a:solidFill>
                <a:latin typeface="Calibri"/>
              </a:rPr>
              <a:t>The problem, in our words</a:t>
            </a:r>
          </a:p>
        </p:txBody>
      </p:sp>
      <p:sp>
        <p:nvSpPr>
          <p:cNvPr id="7" name="Oval 6"/>
          <p:cNvSpPr/>
          <p:nvPr/>
        </p:nvSpPr>
        <p:spPr>
          <a:xfrm>
            <a:off x="841248" y="3822192"/>
            <a:ext cx="365760" cy="3657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1</a:t>
            </a:r>
          </a:p>
        </p:txBody>
      </p:sp>
      <p:sp>
        <p:nvSpPr>
          <p:cNvPr id="8" name="TextBox 7"/>
          <p:cNvSpPr txBox="1"/>
          <p:nvPr/>
        </p:nvSpPr>
        <p:spPr>
          <a:xfrm>
            <a:off x="1389888" y="3794760"/>
            <a:ext cx="996696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Customers describe problems informally</a:t>
            </a:r>
          </a:p>
        </p:txBody>
      </p:sp>
      <p:sp>
        <p:nvSpPr>
          <p:cNvPr id="9" name="TextBox 8"/>
          <p:cNvSpPr txBox="1"/>
          <p:nvPr/>
        </p:nvSpPr>
        <p:spPr>
          <a:xfrm>
            <a:off x="1389888" y="4123944"/>
            <a:ext cx="9966960" cy="457200"/>
          </a:xfrm>
          <a:prstGeom prst="rect">
            <a:avLst/>
          </a:prstGeom>
          <a:noFill/>
        </p:spPr>
        <p:txBody>
          <a:bodyPr wrap="square" lIns="0" tIns="0" rIns="0" bIns="0" anchor="t">
            <a:spAutoFit/>
          </a:bodyPr>
          <a:lstStyle/>
          <a:p>
            <a:pPr algn="l">
              <a:spcAft>
                <a:spcPts val="400"/>
              </a:spcAft>
            </a:pPr>
            <a:r>
              <a:rPr sz="1250" b="0" i="0">
                <a:solidFill>
                  <a:srgbClr val="63637E"/>
                </a:solidFill>
                <a:latin typeface="Calibri"/>
              </a:rPr>
              <a:t>“Screen flickers”, not “display refresh-rate fault” — far from the technical language support articles are written in.</a:t>
            </a:r>
          </a:p>
        </p:txBody>
      </p:sp>
      <p:sp>
        <p:nvSpPr>
          <p:cNvPr id="10" name="Oval 9"/>
          <p:cNvSpPr/>
          <p:nvPr/>
        </p:nvSpPr>
        <p:spPr>
          <a:xfrm>
            <a:off x="841248" y="4690872"/>
            <a:ext cx="365760" cy="3657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2</a:t>
            </a:r>
          </a:p>
        </p:txBody>
      </p:sp>
      <p:sp>
        <p:nvSpPr>
          <p:cNvPr id="11" name="TextBox 10"/>
          <p:cNvSpPr txBox="1"/>
          <p:nvPr/>
        </p:nvSpPr>
        <p:spPr>
          <a:xfrm>
            <a:off x="1389888" y="4663440"/>
            <a:ext cx="996696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Turning that into a fix is manual</a:t>
            </a:r>
          </a:p>
        </p:txBody>
      </p:sp>
      <p:sp>
        <p:nvSpPr>
          <p:cNvPr id="12" name="TextBox 11"/>
          <p:cNvSpPr txBox="1"/>
          <p:nvPr/>
        </p:nvSpPr>
        <p:spPr>
          <a:xfrm>
            <a:off x="1389888" y="4992624"/>
            <a:ext cx="9966960" cy="457200"/>
          </a:xfrm>
          <a:prstGeom prst="rect">
            <a:avLst/>
          </a:prstGeom>
          <a:noFill/>
        </p:spPr>
        <p:txBody>
          <a:bodyPr wrap="square" lIns="0" tIns="0" rIns="0" bIns="0" anchor="t">
            <a:spAutoFit/>
          </a:bodyPr>
          <a:lstStyle/>
          <a:p>
            <a:pPr algn="l">
              <a:spcAft>
                <a:spcPts val="400"/>
              </a:spcAft>
            </a:pPr>
            <a:r>
              <a:rPr sz="1250" b="0" i="0">
                <a:solidFill>
                  <a:srgbClr val="63637E"/>
                </a:solidFill>
                <a:latin typeface="Calibri"/>
              </a:rPr>
              <a:t>An agent reads internal docs, diagnoses, writes ordered steps, and the user still hunts through Settings — ~15 min per case.</a:t>
            </a:r>
          </a:p>
        </p:txBody>
      </p:sp>
      <p:sp>
        <p:nvSpPr>
          <p:cNvPr id="13" name="Oval 12"/>
          <p:cNvSpPr/>
          <p:nvPr/>
        </p:nvSpPr>
        <p:spPr>
          <a:xfrm>
            <a:off x="841248" y="5559552"/>
            <a:ext cx="365760" cy="3657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3</a:t>
            </a:r>
          </a:p>
        </p:txBody>
      </p:sp>
      <p:sp>
        <p:nvSpPr>
          <p:cNvPr id="14" name="TextBox 13"/>
          <p:cNvSpPr txBox="1"/>
          <p:nvPr/>
        </p:nvSpPr>
        <p:spPr>
          <a:xfrm>
            <a:off x="1389888" y="5532120"/>
            <a:ext cx="996696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Our goal</a:t>
            </a:r>
          </a:p>
        </p:txBody>
      </p:sp>
      <p:sp>
        <p:nvSpPr>
          <p:cNvPr id="15" name="TextBox 14"/>
          <p:cNvSpPr txBox="1"/>
          <p:nvPr/>
        </p:nvSpPr>
        <p:spPr>
          <a:xfrm>
            <a:off x="1389888" y="5861304"/>
            <a:ext cx="9966960" cy="457200"/>
          </a:xfrm>
          <a:prstGeom prst="rect">
            <a:avLst/>
          </a:prstGeom>
          <a:noFill/>
        </p:spPr>
        <p:txBody>
          <a:bodyPr wrap="square" lIns="0" tIns="0" rIns="0" bIns="0" anchor="t">
            <a:spAutoFit/>
          </a:bodyPr>
          <a:lstStyle/>
          <a:p>
            <a:pPr algn="l">
              <a:spcAft>
                <a:spcPts val="400"/>
              </a:spcAft>
            </a:pPr>
            <a:r>
              <a:rPr sz="1250" b="0" i="0">
                <a:solidFill>
                  <a:srgbClr val="63637E"/>
                </a:solidFill>
                <a:latin typeface="Calibri"/>
              </a:rPr>
              <a:t>Complaint in, validated and ordered fix plan out, with a one-tap deeplink per step — and an honest “no answer” when the evidence is weak.</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Rounded Rectangle 2"/>
          <p:cNvSpPr/>
          <p:nvPr/>
        </p:nvSpPr>
        <p:spPr>
          <a:xfrm>
            <a:off x="841248" y="1417320"/>
            <a:ext cx="5120640" cy="173736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5568" y="1618488"/>
            <a:ext cx="4572000" cy="365760"/>
          </a:xfrm>
          <a:prstGeom prst="rect">
            <a:avLst/>
          </a:prstGeom>
          <a:noFill/>
        </p:spPr>
        <p:txBody>
          <a:bodyPr wrap="square" lIns="0" tIns="0" rIns="0" bIns="0" anchor="t">
            <a:spAutoFit/>
          </a:bodyPr>
          <a:lstStyle/>
          <a:p>
            <a:pPr algn="l">
              <a:spcAft>
                <a:spcPts val="400"/>
              </a:spcAft>
            </a:pPr>
            <a:r>
              <a:rPr sz="1600" b="1" i="0">
                <a:solidFill>
                  <a:srgbClr val="14142B"/>
                </a:solidFill>
                <a:latin typeface="Calibri"/>
              </a:rPr>
              <a:t>Knowledge-base / FAQ search</a:t>
            </a:r>
          </a:p>
        </p:txBody>
      </p:sp>
      <p:sp>
        <p:nvSpPr>
          <p:cNvPr id="5" name="TextBox 4"/>
          <p:cNvSpPr txBox="1"/>
          <p:nvPr/>
        </p:nvSpPr>
        <p:spPr>
          <a:xfrm>
            <a:off x="1115568" y="1984248"/>
            <a:ext cx="4572000" cy="320040"/>
          </a:xfrm>
          <a:prstGeom prst="rect">
            <a:avLst/>
          </a:prstGeom>
          <a:noFill/>
        </p:spPr>
        <p:txBody>
          <a:bodyPr wrap="square" lIns="0" tIns="0" rIns="0" bIns="0" anchor="t">
            <a:spAutoFit/>
          </a:bodyPr>
          <a:lstStyle/>
          <a:p>
            <a:pPr algn="l">
              <a:spcAft>
                <a:spcPts val="400"/>
              </a:spcAft>
            </a:pPr>
            <a:r>
              <a:rPr sz="1200" b="0" i="1">
                <a:solidFill>
                  <a:srgbClr val="6D28D9"/>
                </a:solidFill>
                <a:latin typeface="Calibri"/>
              </a:rPr>
              <a:t>Keyword lookup over support articles</a:t>
            </a:r>
          </a:p>
        </p:txBody>
      </p:sp>
      <p:sp>
        <p:nvSpPr>
          <p:cNvPr id="6" name="TextBox 5"/>
          <p:cNvSpPr txBox="1"/>
          <p:nvPr/>
        </p:nvSpPr>
        <p:spPr>
          <a:xfrm>
            <a:off x="1115568" y="2331720"/>
            <a:ext cx="4572000" cy="731520"/>
          </a:xfrm>
          <a:prstGeom prst="rect">
            <a:avLst/>
          </a:prstGeom>
          <a:noFill/>
        </p:spPr>
        <p:txBody>
          <a:bodyPr wrap="square" lIns="0" tIns="0" rIns="0" bIns="0" anchor="t">
            <a:spAutoFit/>
          </a:bodyPr>
          <a:lstStyle/>
          <a:p>
            <a:pPr algn="l">
              <a:spcAft>
                <a:spcPts val="400"/>
              </a:spcAft>
            </a:pPr>
            <a:r>
              <a:rPr sz="1250" b="0" i="0">
                <a:solidFill>
                  <a:srgbClr val="63637E"/>
                </a:solidFill>
                <a:latin typeface="Calibri"/>
              </a:rPr>
              <a:t>Gap: User must already know the technical term. No ordered steps, no deeplinks.</a:t>
            </a:r>
          </a:p>
        </p:txBody>
      </p:sp>
      <p:sp>
        <p:nvSpPr>
          <p:cNvPr id="7" name="Rounded Rectangle 6"/>
          <p:cNvSpPr/>
          <p:nvPr/>
        </p:nvSpPr>
        <p:spPr>
          <a:xfrm>
            <a:off x="6236207" y="1417320"/>
            <a:ext cx="5120640" cy="173736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10527" y="1618488"/>
            <a:ext cx="4572000" cy="365760"/>
          </a:xfrm>
          <a:prstGeom prst="rect">
            <a:avLst/>
          </a:prstGeom>
          <a:noFill/>
        </p:spPr>
        <p:txBody>
          <a:bodyPr wrap="square" lIns="0" tIns="0" rIns="0" bIns="0" anchor="t">
            <a:spAutoFit/>
          </a:bodyPr>
          <a:lstStyle/>
          <a:p>
            <a:pPr algn="l">
              <a:spcAft>
                <a:spcPts val="400"/>
              </a:spcAft>
            </a:pPr>
            <a:r>
              <a:rPr sz="1600" b="1" i="0">
                <a:solidFill>
                  <a:srgbClr val="14142B"/>
                </a:solidFill>
                <a:latin typeface="Calibri"/>
              </a:rPr>
              <a:t>Scripted decision-tree bots</a:t>
            </a:r>
          </a:p>
        </p:txBody>
      </p:sp>
      <p:sp>
        <p:nvSpPr>
          <p:cNvPr id="9" name="TextBox 8"/>
          <p:cNvSpPr txBox="1"/>
          <p:nvPr/>
        </p:nvSpPr>
        <p:spPr>
          <a:xfrm>
            <a:off x="6510527" y="1984248"/>
            <a:ext cx="4572000" cy="320040"/>
          </a:xfrm>
          <a:prstGeom prst="rect">
            <a:avLst/>
          </a:prstGeom>
          <a:noFill/>
        </p:spPr>
        <p:txBody>
          <a:bodyPr wrap="square" lIns="0" tIns="0" rIns="0" bIns="0" anchor="t">
            <a:spAutoFit/>
          </a:bodyPr>
          <a:lstStyle/>
          <a:p>
            <a:pPr algn="l">
              <a:spcAft>
                <a:spcPts val="400"/>
              </a:spcAft>
            </a:pPr>
            <a:r>
              <a:rPr sz="1200" b="0" i="1">
                <a:solidFill>
                  <a:srgbClr val="6D28D9"/>
                </a:solidFill>
                <a:latin typeface="Calibri"/>
              </a:rPr>
              <a:t>Hand-built flows per issue</a:t>
            </a:r>
          </a:p>
        </p:txBody>
      </p:sp>
      <p:sp>
        <p:nvSpPr>
          <p:cNvPr id="10" name="TextBox 9"/>
          <p:cNvSpPr txBox="1"/>
          <p:nvPr/>
        </p:nvSpPr>
        <p:spPr>
          <a:xfrm>
            <a:off x="6510527" y="2331720"/>
            <a:ext cx="4572000" cy="731520"/>
          </a:xfrm>
          <a:prstGeom prst="rect">
            <a:avLst/>
          </a:prstGeom>
          <a:noFill/>
        </p:spPr>
        <p:txBody>
          <a:bodyPr wrap="square" lIns="0" tIns="0" rIns="0" bIns="0" anchor="t">
            <a:spAutoFit/>
          </a:bodyPr>
          <a:lstStyle/>
          <a:p>
            <a:pPr algn="l">
              <a:spcAft>
                <a:spcPts val="400"/>
              </a:spcAft>
            </a:pPr>
            <a:r>
              <a:rPr sz="1250" b="0" i="0">
                <a:solidFill>
                  <a:srgbClr val="63637E"/>
                </a:solidFill>
                <a:latin typeface="Calibri"/>
              </a:rPr>
              <a:t>Gap: Break on off-script phrasing. Hand-maintaining 10k+ scenarios doesn't scale.</a:t>
            </a:r>
          </a:p>
        </p:txBody>
      </p:sp>
      <p:sp>
        <p:nvSpPr>
          <p:cNvPr id="11" name="Rounded Rectangle 10"/>
          <p:cNvSpPr/>
          <p:nvPr/>
        </p:nvSpPr>
        <p:spPr>
          <a:xfrm>
            <a:off x="841248" y="3429000"/>
            <a:ext cx="5120640" cy="173736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15568" y="3630168"/>
            <a:ext cx="4572000" cy="365760"/>
          </a:xfrm>
          <a:prstGeom prst="rect">
            <a:avLst/>
          </a:prstGeom>
          <a:noFill/>
        </p:spPr>
        <p:txBody>
          <a:bodyPr wrap="square" lIns="0" tIns="0" rIns="0" bIns="0" anchor="t">
            <a:spAutoFit/>
          </a:bodyPr>
          <a:lstStyle/>
          <a:p>
            <a:pPr algn="l">
              <a:spcAft>
                <a:spcPts val="400"/>
              </a:spcAft>
            </a:pPr>
            <a:r>
              <a:rPr sz="1600" b="1" i="0">
                <a:solidFill>
                  <a:srgbClr val="14142B"/>
                </a:solidFill>
                <a:latin typeface="Calibri"/>
              </a:rPr>
              <a:t>Generic LLM chatbots</a:t>
            </a:r>
          </a:p>
        </p:txBody>
      </p:sp>
      <p:sp>
        <p:nvSpPr>
          <p:cNvPr id="13" name="TextBox 12"/>
          <p:cNvSpPr txBox="1"/>
          <p:nvPr/>
        </p:nvSpPr>
        <p:spPr>
          <a:xfrm>
            <a:off x="1115568" y="3995928"/>
            <a:ext cx="4572000" cy="320040"/>
          </a:xfrm>
          <a:prstGeom prst="rect">
            <a:avLst/>
          </a:prstGeom>
          <a:noFill/>
        </p:spPr>
        <p:txBody>
          <a:bodyPr wrap="square" lIns="0" tIns="0" rIns="0" bIns="0" anchor="t">
            <a:spAutoFit/>
          </a:bodyPr>
          <a:lstStyle/>
          <a:p>
            <a:pPr algn="l">
              <a:spcAft>
                <a:spcPts val="400"/>
              </a:spcAft>
            </a:pPr>
            <a:r>
              <a:rPr sz="1200" b="0" i="1">
                <a:solidFill>
                  <a:srgbClr val="6D28D9"/>
                </a:solidFill>
                <a:latin typeface="Calibri"/>
              </a:rPr>
              <a:t>Free-form generated answers</a:t>
            </a:r>
          </a:p>
        </p:txBody>
      </p:sp>
      <p:sp>
        <p:nvSpPr>
          <p:cNvPr id="14" name="TextBox 13"/>
          <p:cNvSpPr txBox="1"/>
          <p:nvPr/>
        </p:nvSpPr>
        <p:spPr>
          <a:xfrm>
            <a:off x="1115568" y="4343400"/>
            <a:ext cx="4572000" cy="731520"/>
          </a:xfrm>
          <a:prstGeom prst="rect">
            <a:avLst/>
          </a:prstGeom>
          <a:noFill/>
        </p:spPr>
        <p:txBody>
          <a:bodyPr wrap="square" lIns="0" tIns="0" rIns="0" bIns="0" anchor="t">
            <a:spAutoFit/>
          </a:bodyPr>
          <a:lstStyle/>
          <a:p>
            <a:pPr algn="l">
              <a:spcAft>
                <a:spcPts val="400"/>
              </a:spcAft>
            </a:pPr>
            <a:r>
              <a:rPr sz="1250" b="0" i="0">
                <a:solidFill>
                  <a:srgbClr val="63637E"/>
                </a:solidFill>
                <a:latin typeface="Calibri"/>
              </a:rPr>
              <a:t>Gap: Fluent but ungrounded: can invent settings paths or links, equally confident when wrong.</a:t>
            </a:r>
          </a:p>
        </p:txBody>
      </p:sp>
      <p:sp>
        <p:nvSpPr>
          <p:cNvPr id="15" name="Rounded Rectangle 14"/>
          <p:cNvSpPr/>
          <p:nvPr/>
        </p:nvSpPr>
        <p:spPr>
          <a:xfrm>
            <a:off x="6236207" y="3429000"/>
            <a:ext cx="5120640" cy="173736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10527" y="3630168"/>
            <a:ext cx="4572000" cy="365760"/>
          </a:xfrm>
          <a:prstGeom prst="rect">
            <a:avLst/>
          </a:prstGeom>
          <a:noFill/>
        </p:spPr>
        <p:txBody>
          <a:bodyPr wrap="square" lIns="0" tIns="0" rIns="0" bIns="0" anchor="t">
            <a:spAutoFit/>
          </a:bodyPr>
          <a:lstStyle/>
          <a:p>
            <a:pPr algn="l">
              <a:spcAft>
                <a:spcPts val="400"/>
              </a:spcAft>
            </a:pPr>
            <a:r>
              <a:rPr sz="1600" b="1" i="0">
                <a:solidFill>
                  <a:srgbClr val="14142B"/>
                </a:solidFill>
                <a:latin typeface="Calibri"/>
              </a:rPr>
              <a:t>Human agent triage</a:t>
            </a:r>
          </a:p>
        </p:txBody>
      </p:sp>
      <p:sp>
        <p:nvSpPr>
          <p:cNvPr id="17" name="TextBox 16"/>
          <p:cNvSpPr txBox="1"/>
          <p:nvPr/>
        </p:nvSpPr>
        <p:spPr>
          <a:xfrm>
            <a:off x="6510527" y="3995928"/>
            <a:ext cx="4572000" cy="320040"/>
          </a:xfrm>
          <a:prstGeom prst="rect">
            <a:avLst/>
          </a:prstGeom>
          <a:noFill/>
        </p:spPr>
        <p:txBody>
          <a:bodyPr wrap="square" lIns="0" tIns="0" rIns="0" bIns="0" anchor="t">
            <a:spAutoFit/>
          </a:bodyPr>
          <a:lstStyle/>
          <a:p>
            <a:pPr algn="l">
              <a:spcAft>
                <a:spcPts val="400"/>
              </a:spcAft>
            </a:pPr>
            <a:r>
              <a:rPr sz="1200" b="0" i="1">
                <a:solidFill>
                  <a:srgbClr val="6D28D9"/>
                </a:solidFill>
                <a:latin typeface="Calibri"/>
              </a:rPr>
              <a:t>Agent reads docs, writes steps</a:t>
            </a:r>
          </a:p>
        </p:txBody>
      </p:sp>
      <p:sp>
        <p:nvSpPr>
          <p:cNvPr id="18" name="TextBox 17"/>
          <p:cNvSpPr txBox="1"/>
          <p:nvPr/>
        </p:nvSpPr>
        <p:spPr>
          <a:xfrm>
            <a:off x="6510527" y="4343400"/>
            <a:ext cx="4572000" cy="731520"/>
          </a:xfrm>
          <a:prstGeom prst="rect">
            <a:avLst/>
          </a:prstGeom>
          <a:noFill/>
        </p:spPr>
        <p:txBody>
          <a:bodyPr wrap="square" lIns="0" tIns="0" rIns="0" bIns="0" anchor="t">
            <a:spAutoFit/>
          </a:bodyPr>
          <a:lstStyle/>
          <a:p>
            <a:pPr algn="l">
              <a:spcAft>
                <a:spcPts val="400"/>
              </a:spcAft>
            </a:pPr>
            <a:r>
              <a:rPr sz="1250" b="0" i="0">
                <a:solidFill>
                  <a:srgbClr val="63637E"/>
                </a:solidFill>
                <a:latin typeface="Calibri"/>
              </a:rPr>
              <a:t>Gap: Accurate, but ~15 minutes per case across millions of interactions.</a:t>
            </a:r>
          </a:p>
        </p:txBody>
      </p:sp>
      <p:sp>
        <p:nvSpPr>
          <p:cNvPr id="19" name="TextBox 18"/>
          <p:cNvSpPr txBox="1"/>
          <p:nvPr/>
        </p:nvSpPr>
        <p:spPr>
          <a:xfrm>
            <a:off x="841248" y="5394959"/>
            <a:ext cx="10515600" cy="548640"/>
          </a:xfrm>
          <a:prstGeom prst="rect">
            <a:avLst/>
          </a:prstGeom>
          <a:noFill/>
        </p:spPr>
        <p:txBody>
          <a:bodyPr wrap="square" lIns="0" tIns="0" rIns="0" bIns="0" anchor="t">
            <a:spAutoFit/>
          </a:bodyPr>
          <a:lstStyle/>
          <a:p>
            <a:pPr algn="l">
              <a:spcAft>
                <a:spcPts val="400"/>
              </a:spcAft>
            </a:pPr>
            <a:r>
              <a:rPr sz="1300" b="0" i="1">
                <a:solidFill>
                  <a:srgbClr val="6D28D9"/>
                </a:solidFill>
                <a:latin typeface="Calibri"/>
              </a:rPr>
              <a:t>Our position: LLM flexibility for messy language, but every deeplink comes from Samsung's catalog — and when grounding is weak, the system says so instead of guessing.</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Rounded Rectangle 2"/>
          <p:cNvSpPr/>
          <p:nvPr/>
        </p:nvSpPr>
        <p:spPr>
          <a:xfrm>
            <a:off x="841248" y="1600200"/>
            <a:ext cx="1481328" cy="141732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1600200"/>
            <a:ext cx="1481328" cy="1417320"/>
          </a:xfrm>
          <a:prstGeom prst="rect">
            <a:avLst/>
          </a:prstGeom>
          <a:noFill/>
        </p:spPr>
        <p:txBody>
          <a:bodyPr wrap="square" lIns="0" tIns="0" rIns="0" bIns="0" anchor="ctr">
            <a:spAutoFit/>
          </a:bodyPr>
          <a:lstStyle/>
          <a:p>
            <a:pPr algn="ctr">
              <a:spcAft>
                <a:spcPts val="0"/>
              </a:spcAft>
            </a:pPr>
            <a:r>
              <a:rPr sz="1200" b="1" i="0">
                <a:solidFill>
                  <a:srgbClr val="14142B"/>
                </a:solidFill>
                <a:latin typeface="Calibri"/>
              </a:rPr>
              <a:t>Complaint</a:t>
            </a:r>
          </a:p>
          <a:p>
            <a:pPr algn="ctr">
              <a:spcAft>
                <a:spcPts val="0"/>
              </a:spcAft>
            </a:pPr>
            <a:r>
              <a:rPr sz="1200" b="1" i="0">
                <a:solidFill>
                  <a:srgbClr val="14142B"/>
                </a:solidFill>
                <a:latin typeface="Calibri"/>
              </a:rPr>
              <a:t>+ SIIS text</a:t>
            </a:r>
          </a:p>
        </p:txBody>
      </p:sp>
      <p:sp>
        <p:nvSpPr>
          <p:cNvPr id="5" name="TextBox 4"/>
          <p:cNvSpPr txBox="1"/>
          <p:nvPr/>
        </p:nvSpPr>
        <p:spPr>
          <a:xfrm>
            <a:off x="2322576" y="2080260"/>
            <a:ext cx="329184" cy="457200"/>
          </a:xfrm>
          <a:prstGeom prst="rect">
            <a:avLst/>
          </a:prstGeom>
          <a:noFill/>
        </p:spPr>
        <p:txBody>
          <a:bodyPr wrap="square" lIns="0" tIns="0" rIns="0" bIns="0" anchor="t">
            <a:spAutoFit/>
          </a:bodyPr>
          <a:lstStyle/>
          <a:p>
            <a:pPr algn="ctr">
              <a:spcAft>
                <a:spcPts val="400"/>
              </a:spcAft>
            </a:pPr>
            <a:r>
              <a:rPr sz="2000" b="1" i="0">
                <a:solidFill>
                  <a:srgbClr val="6D28D9"/>
                </a:solidFill>
                <a:latin typeface="Arial"/>
              </a:rPr>
              <a:t>→</a:t>
            </a:r>
          </a:p>
        </p:txBody>
      </p:sp>
      <p:sp>
        <p:nvSpPr>
          <p:cNvPr id="6" name="Rounded Rectangle 5"/>
          <p:cNvSpPr/>
          <p:nvPr/>
        </p:nvSpPr>
        <p:spPr>
          <a:xfrm>
            <a:off x="2651760" y="1600200"/>
            <a:ext cx="1481328" cy="1417320"/>
          </a:xfrm>
          <a:prstGeom prst="roundRect">
            <a:avLst>
              <a:gd name="adj" fmla="val 6000"/>
            </a:avLst>
          </a:prstGeom>
          <a:solidFill>
            <a:srgbClr val="EDE9FE"/>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651760" y="1600200"/>
            <a:ext cx="1481328" cy="1417320"/>
          </a:xfrm>
          <a:prstGeom prst="rect">
            <a:avLst/>
          </a:prstGeom>
          <a:noFill/>
        </p:spPr>
        <p:txBody>
          <a:bodyPr wrap="square" lIns="0" tIns="0" rIns="0" bIns="0" anchor="ctr">
            <a:spAutoFit/>
          </a:bodyPr>
          <a:lstStyle/>
          <a:p>
            <a:pPr algn="ctr">
              <a:spcAft>
                <a:spcPts val="0"/>
              </a:spcAft>
            </a:pPr>
            <a:r>
              <a:rPr sz="1200" b="1" i="0">
                <a:solidFill>
                  <a:srgbClr val="14142B"/>
                </a:solidFill>
                <a:latin typeface="Calibri"/>
              </a:rPr>
              <a:t>Semantic</a:t>
            </a:r>
          </a:p>
          <a:p>
            <a:pPr algn="ctr">
              <a:spcAft>
                <a:spcPts val="0"/>
              </a:spcAft>
            </a:pPr>
            <a:r>
              <a:rPr sz="1200" b="1" i="0">
                <a:solidFill>
                  <a:srgbClr val="14142B"/>
                </a:solidFill>
                <a:latin typeface="Calibri"/>
              </a:rPr>
              <a:t>cache</a:t>
            </a:r>
          </a:p>
        </p:txBody>
      </p:sp>
      <p:sp>
        <p:nvSpPr>
          <p:cNvPr id="8" name="TextBox 7"/>
          <p:cNvSpPr txBox="1"/>
          <p:nvPr/>
        </p:nvSpPr>
        <p:spPr>
          <a:xfrm>
            <a:off x="4133087" y="2080260"/>
            <a:ext cx="329184" cy="457200"/>
          </a:xfrm>
          <a:prstGeom prst="rect">
            <a:avLst/>
          </a:prstGeom>
          <a:noFill/>
        </p:spPr>
        <p:txBody>
          <a:bodyPr wrap="square" lIns="0" tIns="0" rIns="0" bIns="0" anchor="t">
            <a:spAutoFit/>
          </a:bodyPr>
          <a:lstStyle/>
          <a:p>
            <a:pPr algn="ctr">
              <a:spcAft>
                <a:spcPts val="400"/>
              </a:spcAft>
            </a:pPr>
            <a:r>
              <a:rPr sz="2000" b="1" i="0">
                <a:solidFill>
                  <a:srgbClr val="6D28D9"/>
                </a:solidFill>
                <a:latin typeface="Arial"/>
              </a:rPr>
              <a:t>→</a:t>
            </a:r>
          </a:p>
        </p:txBody>
      </p:sp>
      <p:sp>
        <p:nvSpPr>
          <p:cNvPr id="9" name="Rounded Rectangle 8"/>
          <p:cNvSpPr/>
          <p:nvPr/>
        </p:nvSpPr>
        <p:spPr>
          <a:xfrm>
            <a:off x="4462272" y="1600200"/>
            <a:ext cx="1481328" cy="141732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62272" y="1600200"/>
            <a:ext cx="1481328" cy="1417320"/>
          </a:xfrm>
          <a:prstGeom prst="rect">
            <a:avLst/>
          </a:prstGeom>
          <a:noFill/>
        </p:spPr>
        <p:txBody>
          <a:bodyPr wrap="square" lIns="0" tIns="0" rIns="0" bIns="0" anchor="ctr">
            <a:spAutoFit/>
          </a:bodyPr>
          <a:lstStyle/>
          <a:p>
            <a:pPr algn="ctr">
              <a:spcAft>
                <a:spcPts val="0"/>
              </a:spcAft>
            </a:pPr>
            <a:r>
              <a:rPr sz="1200" b="1" i="0">
                <a:solidFill>
                  <a:srgbClr val="14142B"/>
                </a:solidFill>
                <a:latin typeface="Calibri"/>
              </a:rPr>
              <a:t>SIIS</a:t>
            </a:r>
          </a:p>
          <a:p>
            <a:pPr algn="ctr">
              <a:spcAft>
                <a:spcPts val="0"/>
              </a:spcAft>
            </a:pPr>
            <a:r>
              <a:rPr sz="1200" b="1" i="0">
                <a:solidFill>
                  <a:srgbClr val="14142B"/>
                </a:solidFill>
                <a:latin typeface="Calibri"/>
              </a:rPr>
              <a:t>relevance</a:t>
            </a:r>
          </a:p>
          <a:p>
            <a:pPr algn="ctr">
              <a:spcAft>
                <a:spcPts val="0"/>
              </a:spcAft>
            </a:pPr>
            <a:r>
              <a:rPr sz="1200" b="1" i="0">
                <a:solidFill>
                  <a:srgbClr val="14142B"/>
                </a:solidFill>
                <a:latin typeface="Calibri"/>
              </a:rPr>
              <a:t>check</a:t>
            </a:r>
          </a:p>
        </p:txBody>
      </p:sp>
      <p:sp>
        <p:nvSpPr>
          <p:cNvPr id="11" name="TextBox 10"/>
          <p:cNvSpPr txBox="1"/>
          <p:nvPr/>
        </p:nvSpPr>
        <p:spPr>
          <a:xfrm>
            <a:off x="5943600" y="2080260"/>
            <a:ext cx="329184" cy="457200"/>
          </a:xfrm>
          <a:prstGeom prst="rect">
            <a:avLst/>
          </a:prstGeom>
          <a:noFill/>
        </p:spPr>
        <p:txBody>
          <a:bodyPr wrap="square" lIns="0" tIns="0" rIns="0" bIns="0" anchor="t">
            <a:spAutoFit/>
          </a:bodyPr>
          <a:lstStyle/>
          <a:p>
            <a:pPr algn="ctr">
              <a:spcAft>
                <a:spcPts val="400"/>
              </a:spcAft>
            </a:pPr>
            <a:r>
              <a:rPr sz="2000" b="1" i="0">
                <a:solidFill>
                  <a:srgbClr val="6D28D9"/>
                </a:solidFill>
                <a:latin typeface="Arial"/>
              </a:rPr>
              <a:t>→</a:t>
            </a:r>
          </a:p>
        </p:txBody>
      </p:sp>
      <p:sp>
        <p:nvSpPr>
          <p:cNvPr id="12" name="Rounded Rectangle 11"/>
          <p:cNvSpPr/>
          <p:nvPr/>
        </p:nvSpPr>
        <p:spPr>
          <a:xfrm>
            <a:off x="6272783" y="1600200"/>
            <a:ext cx="1481328" cy="1417320"/>
          </a:xfrm>
          <a:prstGeom prst="roundRect">
            <a:avLst>
              <a:gd name="adj" fmla="val 6000"/>
            </a:avLst>
          </a:prstGeom>
          <a:solidFill>
            <a:srgbClr val="EDE9FE"/>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72783" y="1600200"/>
            <a:ext cx="1481328" cy="1417320"/>
          </a:xfrm>
          <a:prstGeom prst="rect">
            <a:avLst/>
          </a:prstGeom>
          <a:noFill/>
        </p:spPr>
        <p:txBody>
          <a:bodyPr wrap="square" lIns="0" tIns="0" rIns="0" bIns="0" anchor="ctr">
            <a:spAutoFit/>
          </a:bodyPr>
          <a:lstStyle/>
          <a:p>
            <a:pPr algn="ctr">
              <a:spcAft>
                <a:spcPts val="0"/>
              </a:spcAft>
            </a:pPr>
            <a:r>
              <a:rPr sz="1200" b="1" i="0">
                <a:solidFill>
                  <a:srgbClr val="14142B"/>
                </a:solidFill>
                <a:latin typeface="Calibri"/>
              </a:rPr>
              <a:t>Enrichment ∥</a:t>
            </a:r>
          </a:p>
          <a:p>
            <a:pPr algn="ctr">
              <a:spcAft>
                <a:spcPts val="0"/>
              </a:spcAft>
            </a:pPr>
            <a:r>
              <a:rPr sz="1200" b="1" i="0">
                <a:solidFill>
                  <a:srgbClr val="14142B"/>
                </a:solidFill>
                <a:latin typeface="Calibri"/>
              </a:rPr>
              <a:t>Extraction</a:t>
            </a:r>
          </a:p>
          <a:p>
            <a:pPr algn="ctr">
              <a:spcAft>
                <a:spcPts val="0"/>
              </a:spcAft>
            </a:pPr>
            <a:r>
              <a:rPr sz="1200" b="1" i="0">
                <a:solidFill>
                  <a:srgbClr val="14142B"/>
                </a:solidFill>
                <a:latin typeface="Calibri"/>
              </a:rPr>
              <a:t>(LLM)</a:t>
            </a:r>
          </a:p>
        </p:txBody>
      </p:sp>
      <p:sp>
        <p:nvSpPr>
          <p:cNvPr id="14" name="TextBox 13"/>
          <p:cNvSpPr txBox="1"/>
          <p:nvPr/>
        </p:nvSpPr>
        <p:spPr>
          <a:xfrm>
            <a:off x="7754112" y="2080260"/>
            <a:ext cx="329184" cy="457200"/>
          </a:xfrm>
          <a:prstGeom prst="rect">
            <a:avLst/>
          </a:prstGeom>
          <a:noFill/>
        </p:spPr>
        <p:txBody>
          <a:bodyPr wrap="square" lIns="0" tIns="0" rIns="0" bIns="0" anchor="t">
            <a:spAutoFit/>
          </a:bodyPr>
          <a:lstStyle/>
          <a:p>
            <a:pPr algn="ctr">
              <a:spcAft>
                <a:spcPts val="400"/>
              </a:spcAft>
            </a:pPr>
            <a:r>
              <a:rPr sz="2000" b="1" i="0">
                <a:solidFill>
                  <a:srgbClr val="6D28D9"/>
                </a:solidFill>
                <a:latin typeface="Arial"/>
              </a:rPr>
              <a:t>→</a:t>
            </a:r>
          </a:p>
        </p:txBody>
      </p:sp>
      <p:sp>
        <p:nvSpPr>
          <p:cNvPr id="15" name="Rounded Rectangle 14"/>
          <p:cNvSpPr/>
          <p:nvPr/>
        </p:nvSpPr>
        <p:spPr>
          <a:xfrm>
            <a:off x="8083296" y="1600200"/>
            <a:ext cx="1481328" cy="141732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83296" y="1600200"/>
            <a:ext cx="1481328" cy="1417320"/>
          </a:xfrm>
          <a:prstGeom prst="rect">
            <a:avLst/>
          </a:prstGeom>
          <a:noFill/>
        </p:spPr>
        <p:txBody>
          <a:bodyPr wrap="square" lIns="0" tIns="0" rIns="0" bIns="0" anchor="ctr">
            <a:spAutoFit/>
          </a:bodyPr>
          <a:lstStyle/>
          <a:p>
            <a:pPr algn="ctr">
              <a:spcAft>
                <a:spcPts val="0"/>
              </a:spcAft>
            </a:pPr>
            <a:r>
              <a:rPr sz="1200" b="1" i="0">
                <a:solidFill>
                  <a:srgbClr val="14142B"/>
                </a:solidFill>
                <a:latin typeface="Calibri"/>
              </a:rPr>
              <a:t>Deeplink</a:t>
            </a:r>
          </a:p>
          <a:p>
            <a:pPr algn="ctr">
              <a:spcAft>
                <a:spcPts val="0"/>
              </a:spcAft>
            </a:pPr>
            <a:r>
              <a:rPr sz="1200" b="1" i="0">
                <a:solidFill>
                  <a:srgbClr val="14142B"/>
                </a:solidFill>
                <a:latin typeface="Calibri"/>
              </a:rPr>
              <a:t>matching</a:t>
            </a:r>
          </a:p>
          <a:p>
            <a:pPr algn="ctr">
              <a:spcAft>
                <a:spcPts val="0"/>
              </a:spcAft>
            </a:pPr>
            <a:r>
              <a:rPr sz="1200" b="1" i="0">
                <a:solidFill>
                  <a:srgbClr val="14142B"/>
                </a:solidFill>
                <a:latin typeface="Calibri"/>
              </a:rPr>
              <a:t>(confidence-</a:t>
            </a:r>
          </a:p>
          <a:p>
            <a:pPr algn="ctr">
              <a:spcAft>
                <a:spcPts val="0"/>
              </a:spcAft>
            </a:pPr>
            <a:r>
              <a:rPr sz="1200" b="1" i="0">
                <a:solidFill>
                  <a:srgbClr val="14142B"/>
                </a:solidFill>
                <a:latin typeface="Calibri"/>
              </a:rPr>
              <a:t>gated)</a:t>
            </a:r>
          </a:p>
        </p:txBody>
      </p:sp>
      <p:sp>
        <p:nvSpPr>
          <p:cNvPr id="17" name="TextBox 16"/>
          <p:cNvSpPr txBox="1"/>
          <p:nvPr/>
        </p:nvSpPr>
        <p:spPr>
          <a:xfrm>
            <a:off x="9564624" y="2080260"/>
            <a:ext cx="329184" cy="457200"/>
          </a:xfrm>
          <a:prstGeom prst="rect">
            <a:avLst/>
          </a:prstGeom>
          <a:noFill/>
        </p:spPr>
        <p:txBody>
          <a:bodyPr wrap="square" lIns="0" tIns="0" rIns="0" bIns="0" anchor="t">
            <a:spAutoFit/>
          </a:bodyPr>
          <a:lstStyle/>
          <a:p>
            <a:pPr algn="ctr">
              <a:spcAft>
                <a:spcPts val="400"/>
              </a:spcAft>
            </a:pPr>
            <a:r>
              <a:rPr sz="2000" b="1" i="0">
                <a:solidFill>
                  <a:srgbClr val="6D28D9"/>
                </a:solidFill>
                <a:latin typeface="Arial"/>
              </a:rPr>
              <a:t>→</a:t>
            </a:r>
          </a:p>
        </p:txBody>
      </p:sp>
      <p:sp>
        <p:nvSpPr>
          <p:cNvPr id="18" name="Rounded Rectangle 17"/>
          <p:cNvSpPr/>
          <p:nvPr/>
        </p:nvSpPr>
        <p:spPr>
          <a:xfrm>
            <a:off x="9893808" y="1600200"/>
            <a:ext cx="1481328" cy="1417320"/>
          </a:xfrm>
          <a:prstGeom prst="roundRect">
            <a:avLst>
              <a:gd name="adj" fmla="val 6000"/>
            </a:avLst>
          </a:prstGeom>
          <a:solidFill>
            <a:srgbClr val="EDE9FE"/>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893808" y="1600200"/>
            <a:ext cx="1481328" cy="1417320"/>
          </a:xfrm>
          <a:prstGeom prst="rect">
            <a:avLst/>
          </a:prstGeom>
          <a:noFill/>
        </p:spPr>
        <p:txBody>
          <a:bodyPr wrap="square" lIns="0" tIns="0" rIns="0" bIns="0" anchor="ctr">
            <a:spAutoFit/>
          </a:bodyPr>
          <a:lstStyle/>
          <a:p>
            <a:pPr algn="ctr">
              <a:spcAft>
                <a:spcPts val="0"/>
              </a:spcAft>
            </a:pPr>
            <a:r>
              <a:rPr sz="1200" b="1" i="0">
                <a:solidFill>
                  <a:srgbClr val="14142B"/>
                </a:solidFill>
                <a:latin typeface="Calibri"/>
              </a:rPr>
              <a:t>Ground +</a:t>
            </a:r>
          </a:p>
          <a:p>
            <a:pPr algn="ctr">
              <a:spcAft>
                <a:spcPts val="0"/>
              </a:spcAft>
            </a:pPr>
            <a:r>
              <a:rPr sz="1200" b="1" i="0">
                <a:solidFill>
                  <a:srgbClr val="14142B"/>
                </a:solidFill>
                <a:latin typeface="Calibri"/>
              </a:rPr>
              <a:t>order +</a:t>
            </a:r>
          </a:p>
          <a:p>
            <a:pPr algn="ctr">
              <a:spcAft>
                <a:spcPts val="0"/>
              </a:spcAft>
            </a:pPr>
            <a:r>
              <a:rPr sz="1200" b="1" i="0">
                <a:solidFill>
                  <a:srgbClr val="14142B"/>
                </a:solidFill>
                <a:latin typeface="Calibri"/>
              </a:rPr>
              <a:t>validate</a:t>
            </a:r>
          </a:p>
        </p:txBody>
      </p:sp>
      <p:sp>
        <p:nvSpPr>
          <p:cNvPr id="20" name="Rounded Rectangle 19"/>
          <p:cNvSpPr/>
          <p:nvPr/>
        </p:nvSpPr>
        <p:spPr>
          <a:xfrm>
            <a:off x="2651760" y="3429000"/>
            <a:ext cx="1481328" cy="822960"/>
          </a:xfrm>
          <a:prstGeom prst="roundRect">
            <a:avLst>
              <a:gd name="adj" fmla="val 6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651760" y="3429000"/>
            <a:ext cx="1481328" cy="822960"/>
          </a:xfrm>
          <a:prstGeom prst="rect">
            <a:avLst/>
          </a:prstGeom>
          <a:noFill/>
        </p:spPr>
        <p:txBody>
          <a:bodyPr wrap="square" lIns="0" tIns="0" rIns="0" bIns="0" anchor="ctr">
            <a:spAutoFit/>
          </a:bodyPr>
          <a:lstStyle/>
          <a:p>
            <a:pPr algn="ctr">
              <a:spcAft>
                <a:spcPts val="0"/>
              </a:spcAft>
            </a:pPr>
            <a:r>
              <a:rPr sz="1100" b="0" i="0">
                <a:solidFill>
                  <a:srgbClr val="047857"/>
                </a:solidFill>
                <a:latin typeface="Calibri"/>
              </a:rPr>
              <a:t>hit → plan in</a:t>
            </a:r>
          </a:p>
          <a:p>
            <a:pPr algn="ctr">
              <a:spcAft>
                <a:spcPts val="0"/>
              </a:spcAft>
            </a:pPr>
            <a:r>
              <a:rPr sz="1100" b="0" i="0">
                <a:solidFill>
                  <a:srgbClr val="047857"/>
                </a:solidFill>
                <a:latin typeface="Calibri"/>
              </a:rPr>
              <a:t>milliseconds</a:t>
            </a:r>
          </a:p>
        </p:txBody>
      </p:sp>
      <p:sp>
        <p:nvSpPr>
          <p:cNvPr id="22" name="Rounded Rectangle 21"/>
          <p:cNvSpPr/>
          <p:nvPr/>
        </p:nvSpPr>
        <p:spPr>
          <a:xfrm>
            <a:off x="4462272" y="3429000"/>
            <a:ext cx="1481328" cy="822960"/>
          </a:xfrm>
          <a:prstGeom prst="roundRect">
            <a:avLst>
              <a:gd name="adj" fmla="val 6000"/>
            </a:avLst>
          </a:prstGeom>
          <a:solidFill>
            <a:srgbClr val="FEF2F2"/>
          </a:solidFill>
          <a:ln w="12700">
            <a:solidFill>
              <a:srgbClr val="FC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62272" y="3429000"/>
            <a:ext cx="1481328" cy="822960"/>
          </a:xfrm>
          <a:prstGeom prst="rect">
            <a:avLst/>
          </a:prstGeom>
          <a:noFill/>
        </p:spPr>
        <p:txBody>
          <a:bodyPr wrap="square" lIns="0" tIns="0" rIns="0" bIns="0" anchor="ctr">
            <a:spAutoFit/>
          </a:bodyPr>
          <a:lstStyle/>
          <a:p>
            <a:pPr algn="ctr">
              <a:spcAft>
                <a:spcPts val="0"/>
              </a:spcAft>
            </a:pPr>
            <a:r>
              <a:rPr sz="1100" b="0" i="0">
                <a:solidFill>
                  <a:srgbClr val="B91C1C"/>
                </a:solidFill>
                <a:latin typeface="Calibri"/>
              </a:rPr>
              <a:t>mismatch →</a:t>
            </a:r>
          </a:p>
          <a:p>
            <a:pPr algn="ctr">
              <a:spcAft>
                <a:spcPts val="0"/>
              </a:spcAft>
            </a:pPr>
            <a:r>
              <a:rPr sz="1100" b="0" i="0">
                <a:solidFill>
                  <a:srgbClr val="B91C1C"/>
                </a:solidFill>
                <a:latin typeface="Calibri"/>
              </a:rPr>
              <a:t>abstain, no</a:t>
            </a:r>
          </a:p>
          <a:p>
            <a:pPr algn="ctr">
              <a:spcAft>
                <a:spcPts val="0"/>
              </a:spcAft>
            </a:pPr>
            <a:r>
              <a:rPr sz="1100" b="0" i="0">
                <a:solidFill>
                  <a:srgbClr val="B91C1C"/>
                </a:solidFill>
                <a:latin typeface="Calibri"/>
              </a:rPr>
              <a:t>LLM call</a:t>
            </a:r>
          </a:p>
        </p:txBody>
      </p:sp>
      <p:sp>
        <p:nvSpPr>
          <p:cNvPr id="24" name="Rounded Rectangle 23"/>
          <p:cNvSpPr/>
          <p:nvPr/>
        </p:nvSpPr>
        <p:spPr>
          <a:xfrm>
            <a:off x="8083296" y="3429000"/>
            <a:ext cx="1481328" cy="822960"/>
          </a:xfrm>
          <a:prstGeom prst="roundRect">
            <a:avLst>
              <a:gd name="adj" fmla="val 6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083296" y="3429000"/>
            <a:ext cx="1481328" cy="822960"/>
          </a:xfrm>
          <a:prstGeom prst="rect">
            <a:avLst/>
          </a:prstGeom>
          <a:noFill/>
        </p:spPr>
        <p:txBody>
          <a:bodyPr wrap="square" lIns="0" tIns="0" rIns="0" bIns="0" anchor="ctr">
            <a:spAutoFit/>
          </a:bodyPr>
          <a:lstStyle/>
          <a:p>
            <a:pPr algn="ctr">
              <a:spcAft>
                <a:spcPts val="0"/>
              </a:spcAft>
            </a:pPr>
            <a:r>
              <a:rPr sz="1100" b="0" i="0">
                <a:solidFill>
                  <a:srgbClr val="B45309"/>
                </a:solidFill>
                <a:latin typeface="Calibri"/>
              </a:rPr>
              <a:t>not confident →</a:t>
            </a:r>
          </a:p>
          <a:p>
            <a:pPr algn="ctr">
              <a:spcAft>
                <a:spcPts val="0"/>
              </a:spcAft>
            </a:pPr>
            <a:r>
              <a:rPr sz="1100" b="0" i="0">
                <a:solidFill>
                  <a:srgbClr val="B45309"/>
                </a:solidFill>
                <a:latin typeface="Calibri"/>
              </a:rPr>
              <a:t>placeholder or</a:t>
            </a:r>
          </a:p>
          <a:p>
            <a:pPr algn="ctr">
              <a:spcAft>
                <a:spcPts val="0"/>
              </a:spcAft>
            </a:pPr>
            <a:r>
              <a:rPr sz="1100" b="0" i="0">
                <a:solidFill>
                  <a:srgbClr val="B45309"/>
                </a:solidFill>
                <a:latin typeface="Calibri"/>
              </a:rPr>
              <a:t>manual + null</a:t>
            </a:r>
          </a:p>
        </p:txBody>
      </p:sp>
      <p:sp>
        <p:nvSpPr>
          <p:cNvPr id="26" name="TextBox 25"/>
          <p:cNvSpPr txBox="1"/>
          <p:nvPr/>
        </p:nvSpPr>
        <p:spPr>
          <a:xfrm>
            <a:off x="841248" y="4526279"/>
            <a:ext cx="10515600" cy="411480"/>
          </a:xfrm>
          <a:prstGeom prst="rect">
            <a:avLst/>
          </a:prstGeom>
          <a:noFill/>
        </p:spPr>
        <p:txBody>
          <a:bodyPr wrap="square" lIns="0" tIns="0" rIns="0" bIns="0" anchor="t">
            <a:spAutoFit/>
          </a:bodyPr>
          <a:lstStyle/>
          <a:p>
            <a:pPr algn="l">
              <a:spcAft>
                <a:spcPts val="400"/>
              </a:spcAft>
            </a:pPr>
            <a:r>
              <a:rPr sz="1250" b="1" i="0">
                <a:solidFill>
                  <a:srgbClr val="14142B"/>
                </a:solidFill>
                <a:latin typeface="Calibri"/>
              </a:rPr>
              <a:t>Every exit is explicit.</a:t>
            </a:r>
            <a:r>
              <a:rPr sz="1250">
                <a:solidFill>
                  <a:srgbClr val="63637E"/>
                </a:solidFill>
                <a:latin typeface="Calibri"/>
              </a:rPr>
              <a:t> Cache hit, relevance mismatch, low deeplink confidence and missing reference text each return a named fallback with a plain-language reason — never a silent empty answer.</a:t>
            </a:r>
          </a:p>
        </p:txBody>
      </p:sp>
      <p:sp>
        <p:nvSpPr>
          <p:cNvPr id="27" name="TextBox 26"/>
          <p:cNvSpPr txBox="1"/>
          <p:nvPr/>
        </p:nvSpPr>
        <p:spPr>
          <a:xfrm>
            <a:off x="841248" y="5001767"/>
            <a:ext cx="10515600" cy="411480"/>
          </a:xfrm>
          <a:prstGeom prst="rect">
            <a:avLst/>
          </a:prstGeom>
          <a:noFill/>
        </p:spPr>
        <p:txBody>
          <a:bodyPr wrap="square" lIns="0" tIns="0" rIns="0" bIns="0" anchor="t">
            <a:spAutoFit/>
          </a:bodyPr>
          <a:lstStyle/>
          <a:p>
            <a:pPr algn="l">
              <a:spcAft>
                <a:spcPts val="400"/>
              </a:spcAft>
            </a:pPr>
            <a:r>
              <a:rPr sz="1250" b="1" i="0">
                <a:solidFill>
                  <a:srgbClr val="14142B"/>
                </a:solidFill>
                <a:latin typeface="Calibri"/>
              </a:rPr>
              <a:t>Multi-issue aware.</a:t>
            </a:r>
            <a:r>
              <a:rPr sz="1250">
                <a:solidFill>
                  <a:srgbClr val="63637E"/>
                </a:solidFill>
                <a:latin typeface="Calibri"/>
              </a:rPr>
              <a:t> A complaint describing two problems gets two independent plans; a targeted follow-up call runs only when detection and extraction disagree.</a:t>
            </a:r>
          </a:p>
        </p:txBody>
      </p:sp>
      <p:sp>
        <p:nvSpPr>
          <p:cNvPr id="28" name="TextBox 27"/>
          <p:cNvSpPr txBox="1"/>
          <p:nvPr/>
        </p:nvSpPr>
        <p:spPr>
          <a:xfrm>
            <a:off x="841248" y="5477255"/>
            <a:ext cx="10515600" cy="411480"/>
          </a:xfrm>
          <a:prstGeom prst="rect">
            <a:avLst/>
          </a:prstGeom>
          <a:noFill/>
        </p:spPr>
        <p:txBody>
          <a:bodyPr wrap="square" lIns="0" tIns="0" rIns="0" bIns="0" anchor="t">
            <a:spAutoFit/>
          </a:bodyPr>
          <a:lstStyle/>
          <a:p>
            <a:pPr algn="l">
              <a:spcAft>
                <a:spcPts val="400"/>
              </a:spcAft>
            </a:pPr>
            <a:r>
              <a:rPr sz="1250" b="1" i="0">
                <a:solidFill>
                  <a:srgbClr val="14142B"/>
                </a:solidFill>
                <a:latin typeface="Calibri"/>
              </a:rPr>
              <a:t>Grounded output only.</a:t>
            </a:r>
            <a:r>
              <a:rPr sz="1250">
                <a:solidFill>
                  <a:srgbClr val="63637E"/>
                </a:solidFill>
                <a:latin typeface="Calibri"/>
              </a:rPr>
              <a:t> Every step is checked against the SIIS text and shown with its source sentence; deeplinks come from Samsung's catalog verbatim; failures are never cached.</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Oval 2"/>
          <p:cNvSpPr/>
          <p:nvPr/>
        </p:nvSpPr>
        <p:spPr>
          <a:xfrm>
            <a:off x="841248" y="1444752"/>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1</a:t>
            </a:r>
          </a:p>
        </p:txBody>
      </p:sp>
      <p:sp>
        <p:nvSpPr>
          <p:cNvPr id="4" name="TextBox 3"/>
          <p:cNvSpPr txBox="1"/>
          <p:nvPr/>
        </p:nvSpPr>
        <p:spPr>
          <a:xfrm>
            <a:off x="1389888" y="1417320"/>
            <a:ext cx="452628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Pick a Samsung query</a:t>
            </a:r>
          </a:p>
        </p:txBody>
      </p:sp>
      <p:sp>
        <p:nvSpPr>
          <p:cNvPr id="5" name="TextBox 4"/>
          <p:cNvSpPr txBox="1"/>
          <p:nvPr/>
        </p:nvSpPr>
        <p:spPr>
          <a:xfrm>
            <a:off x="1389888" y="1746504"/>
            <a:ext cx="4526280" cy="685800"/>
          </a:xfrm>
          <a:prstGeom prst="rect">
            <a:avLst/>
          </a:prstGeom>
          <a:noFill/>
        </p:spPr>
        <p:txBody>
          <a:bodyPr wrap="square" lIns="0" tIns="0" rIns="0" bIns="0" anchor="t">
            <a:spAutoFit/>
          </a:bodyPr>
          <a:lstStyle/>
          <a:p>
            <a:pPr algn="l">
              <a:spcAft>
                <a:spcPts val="400"/>
              </a:spcAft>
            </a:pPr>
            <a:r>
              <a:rPr sz="1200" b="0" i="0">
                <a:solidFill>
                  <a:srgbClr val="63637E"/>
                </a:solidFill>
                <a:latin typeface="Calibri"/>
              </a:rPr>
              <a:t>Choose one of Samsung's 20 real complaints (with its SIIS text) or type your own.</a:t>
            </a:r>
          </a:p>
        </p:txBody>
      </p:sp>
      <p:sp>
        <p:nvSpPr>
          <p:cNvPr id="6" name="Oval 5"/>
          <p:cNvSpPr/>
          <p:nvPr/>
        </p:nvSpPr>
        <p:spPr>
          <a:xfrm>
            <a:off x="6281928" y="1444752"/>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2</a:t>
            </a:r>
          </a:p>
        </p:txBody>
      </p:sp>
      <p:sp>
        <p:nvSpPr>
          <p:cNvPr id="7" name="TextBox 6"/>
          <p:cNvSpPr txBox="1"/>
          <p:nvPr/>
        </p:nvSpPr>
        <p:spPr>
          <a:xfrm>
            <a:off x="6830568" y="1417320"/>
            <a:ext cx="452628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Cold path</a:t>
            </a:r>
          </a:p>
        </p:txBody>
      </p:sp>
      <p:sp>
        <p:nvSpPr>
          <p:cNvPr id="8" name="TextBox 7"/>
          <p:cNvSpPr txBox="1"/>
          <p:nvPr/>
        </p:nvSpPr>
        <p:spPr>
          <a:xfrm>
            <a:off x="6830568" y="1746504"/>
            <a:ext cx="4526280" cy="685800"/>
          </a:xfrm>
          <a:prstGeom prst="rect">
            <a:avLst/>
          </a:prstGeom>
          <a:noFill/>
        </p:spPr>
        <p:txBody>
          <a:bodyPr wrap="square" lIns="0" tIns="0" rIns="0" bIns="0" anchor="t">
            <a:spAutoFit/>
          </a:bodyPr>
          <a:lstStyle/>
          <a:p>
            <a:pPr algn="l">
              <a:spcAft>
                <a:spcPts val="400"/>
              </a:spcAft>
            </a:pPr>
            <a:r>
              <a:rPr sz="1200" b="0" i="0">
                <a:solidFill>
                  <a:srgbClr val="63637E"/>
                </a:solidFill>
                <a:latin typeface="Calibri"/>
              </a:rPr>
              <a:t>Relevance gate → enrichment ∥ extraction → a grounded plan; every step shows its source sentence.</a:t>
            </a:r>
          </a:p>
        </p:txBody>
      </p:sp>
      <p:sp>
        <p:nvSpPr>
          <p:cNvPr id="9" name="Oval 8"/>
          <p:cNvSpPr/>
          <p:nvPr/>
        </p:nvSpPr>
        <p:spPr>
          <a:xfrm>
            <a:off x="841248" y="2542032"/>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3</a:t>
            </a:r>
          </a:p>
        </p:txBody>
      </p:sp>
      <p:sp>
        <p:nvSpPr>
          <p:cNvPr id="10" name="TextBox 9"/>
          <p:cNvSpPr txBox="1"/>
          <p:nvPr/>
        </p:nvSpPr>
        <p:spPr>
          <a:xfrm>
            <a:off x="1389888" y="2514600"/>
            <a:ext cx="452628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Paraphrase it</a:t>
            </a:r>
          </a:p>
        </p:txBody>
      </p:sp>
      <p:sp>
        <p:nvSpPr>
          <p:cNvPr id="11" name="TextBox 10"/>
          <p:cNvSpPr txBox="1"/>
          <p:nvPr/>
        </p:nvSpPr>
        <p:spPr>
          <a:xfrm>
            <a:off x="1389888" y="2843784"/>
            <a:ext cx="4526280" cy="685800"/>
          </a:xfrm>
          <a:prstGeom prst="rect">
            <a:avLst/>
          </a:prstGeom>
          <a:noFill/>
        </p:spPr>
        <p:txBody>
          <a:bodyPr wrap="square" lIns="0" tIns="0" rIns="0" bIns="0" anchor="t">
            <a:spAutoFit/>
          </a:bodyPr>
          <a:lstStyle/>
          <a:p>
            <a:pPr algn="l">
              <a:spcAft>
                <a:spcPts val="400"/>
              </a:spcAft>
            </a:pPr>
            <a:r>
              <a:rPr sz="1200" b="0" i="0">
                <a:solidFill>
                  <a:srgbClr val="63637E"/>
                </a:solidFill>
                <a:latin typeface="Calibri"/>
              </a:rPr>
              <a:t>Reword the complaint with no reference text — answered from the semantic cache in ~10 ms.</a:t>
            </a:r>
          </a:p>
        </p:txBody>
      </p:sp>
      <p:sp>
        <p:nvSpPr>
          <p:cNvPr id="12" name="Oval 11"/>
          <p:cNvSpPr/>
          <p:nvPr/>
        </p:nvSpPr>
        <p:spPr>
          <a:xfrm>
            <a:off x="6281928" y="2542032"/>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4</a:t>
            </a:r>
          </a:p>
        </p:txBody>
      </p:sp>
      <p:sp>
        <p:nvSpPr>
          <p:cNvPr id="13" name="TextBox 12"/>
          <p:cNvSpPr txBox="1"/>
          <p:nvPr/>
        </p:nvSpPr>
        <p:spPr>
          <a:xfrm>
            <a:off x="6830568" y="2514600"/>
            <a:ext cx="452628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Ask in Hindi</a:t>
            </a:r>
          </a:p>
        </p:txBody>
      </p:sp>
      <p:sp>
        <p:nvSpPr>
          <p:cNvPr id="14" name="TextBox 13"/>
          <p:cNvSpPr txBox="1"/>
          <p:nvPr/>
        </p:nvSpPr>
        <p:spPr>
          <a:xfrm>
            <a:off x="6830568" y="2843784"/>
            <a:ext cx="4526280" cy="369332"/>
          </a:xfrm>
          <a:prstGeom prst="rect">
            <a:avLst/>
          </a:prstGeom>
          <a:noFill/>
        </p:spPr>
        <p:txBody>
          <a:bodyPr wrap="square" lIns="0" tIns="0" rIns="0" bIns="0" anchor="t">
            <a:spAutoFit/>
          </a:bodyPr>
          <a:lstStyle/>
          <a:p>
            <a:pPr algn="l">
              <a:spcAft>
                <a:spcPts val="400"/>
              </a:spcAft>
            </a:pPr>
            <a:r>
              <a:rPr sz="1200" b="0" i="0" dirty="0">
                <a:solidFill>
                  <a:srgbClr val="63637E"/>
                </a:solidFill>
                <a:latin typeface="Calibri"/>
              </a:rPr>
              <a:t>A Hindi (or Korean,</a:t>
            </a:r>
            <a:r>
              <a:rPr lang="en-IN" sz="1200" b="0" i="0" dirty="0">
                <a:solidFill>
                  <a:srgbClr val="63637E"/>
                </a:solidFill>
                <a:latin typeface="Calibri"/>
              </a:rPr>
              <a:t> </a:t>
            </a:r>
            <a:r>
              <a:rPr sz="1200" b="0" i="0" dirty="0">
                <a:solidFill>
                  <a:srgbClr val="63637E"/>
                </a:solidFill>
                <a:latin typeface="Calibri"/>
              </a:rPr>
              <a:t>Hinglish) complaint is detected, translated and answered.</a:t>
            </a:r>
          </a:p>
        </p:txBody>
      </p:sp>
      <p:sp>
        <p:nvSpPr>
          <p:cNvPr id="15" name="Oval 14"/>
          <p:cNvSpPr/>
          <p:nvPr/>
        </p:nvSpPr>
        <p:spPr>
          <a:xfrm>
            <a:off x="841248" y="3639312"/>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5</a:t>
            </a:r>
          </a:p>
        </p:txBody>
      </p:sp>
      <p:sp>
        <p:nvSpPr>
          <p:cNvPr id="16" name="TextBox 15"/>
          <p:cNvSpPr txBox="1"/>
          <p:nvPr/>
        </p:nvSpPr>
        <p:spPr>
          <a:xfrm>
            <a:off x="1389888" y="3611880"/>
            <a:ext cx="452628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Break it on purpose</a:t>
            </a:r>
          </a:p>
        </p:txBody>
      </p:sp>
      <p:sp>
        <p:nvSpPr>
          <p:cNvPr id="17" name="TextBox 16"/>
          <p:cNvSpPr txBox="1"/>
          <p:nvPr/>
        </p:nvSpPr>
        <p:spPr>
          <a:xfrm>
            <a:off x="1389888" y="3941064"/>
            <a:ext cx="4526280" cy="685800"/>
          </a:xfrm>
          <a:prstGeom prst="rect">
            <a:avLst/>
          </a:prstGeom>
          <a:noFill/>
        </p:spPr>
        <p:txBody>
          <a:bodyPr wrap="square" lIns="0" tIns="0" rIns="0" bIns="0" anchor="t">
            <a:spAutoFit/>
          </a:bodyPr>
          <a:lstStyle/>
          <a:p>
            <a:pPr algn="l">
              <a:spcAft>
                <a:spcPts val="400"/>
              </a:spcAft>
            </a:pPr>
            <a:r>
              <a:rPr sz="1200" b="0" i="0">
                <a:solidFill>
                  <a:srgbClr val="63637E"/>
                </a:solidFill>
                <a:latin typeface="Calibri"/>
              </a:rPr>
              <a:t>Pair a battery complaint with swipe-gesture text — the system abstains and explains why.</a:t>
            </a:r>
          </a:p>
        </p:txBody>
      </p:sp>
      <p:sp>
        <p:nvSpPr>
          <p:cNvPr id="18" name="Oval 17"/>
          <p:cNvSpPr/>
          <p:nvPr/>
        </p:nvSpPr>
        <p:spPr>
          <a:xfrm>
            <a:off x="6281928" y="3639312"/>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6</a:t>
            </a:r>
          </a:p>
        </p:txBody>
      </p:sp>
      <p:sp>
        <p:nvSpPr>
          <p:cNvPr id="19" name="TextBox 18"/>
          <p:cNvSpPr txBox="1"/>
          <p:nvPr/>
        </p:nvSpPr>
        <p:spPr>
          <a:xfrm>
            <a:off x="6830568" y="3611880"/>
            <a:ext cx="452628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Tune live</a:t>
            </a:r>
          </a:p>
        </p:txBody>
      </p:sp>
      <p:sp>
        <p:nvSpPr>
          <p:cNvPr id="20" name="TextBox 19"/>
          <p:cNvSpPr txBox="1"/>
          <p:nvPr/>
        </p:nvSpPr>
        <p:spPr>
          <a:xfrm>
            <a:off x="6830568" y="3941064"/>
            <a:ext cx="4526280" cy="685800"/>
          </a:xfrm>
          <a:prstGeom prst="rect">
            <a:avLst/>
          </a:prstGeom>
          <a:noFill/>
        </p:spPr>
        <p:txBody>
          <a:bodyPr wrap="square" lIns="0" tIns="0" rIns="0" bIns="0" anchor="t">
            <a:spAutoFit/>
          </a:bodyPr>
          <a:lstStyle/>
          <a:p>
            <a:pPr algn="l">
              <a:spcAft>
                <a:spcPts val="400"/>
              </a:spcAft>
            </a:pPr>
            <a:r>
              <a:rPr sz="1200" b="0" i="0">
                <a:solidFill>
                  <a:srgbClr val="63637E"/>
                </a:solidFill>
                <a:latin typeface="Calibri"/>
              </a:rPr>
              <a:t>Raise the confidence-floor slider: weak deeplinks drop to manual/null instead of guessing.</a:t>
            </a:r>
          </a:p>
        </p:txBody>
      </p:sp>
      <p:sp>
        <p:nvSpPr>
          <p:cNvPr id="21" name="Rounded Rectangle 20"/>
          <p:cNvSpPr/>
          <p:nvPr/>
        </p:nvSpPr>
        <p:spPr>
          <a:xfrm>
            <a:off x="841248" y="4846320"/>
            <a:ext cx="10515600" cy="68580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115568" y="4846320"/>
            <a:ext cx="9966960" cy="685800"/>
          </a:xfrm>
          <a:prstGeom prst="rect">
            <a:avLst/>
          </a:prstGeom>
          <a:noFill/>
        </p:spPr>
        <p:txBody>
          <a:bodyPr wrap="square" lIns="0" tIns="0" rIns="0" bIns="0" anchor="ctr">
            <a:spAutoFit/>
          </a:bodyPr>
          <a:lstStyle/>
          <a:p>
            <a:pPr algn="l">
              <a:spcAft>
                <a:spcPts val="0"/>
              </a:spcAft>
            </a:pPr>
            <a:r>
              <a:rPr sz="1400" b="1" i="0">
                <a:solidFill>
                  <a:srgbClr val="14142B"/>
                </a:solidFill>
                <a:latin typeface="Calibri"/>
              </a:rPr>
              <a:t>Demo video (≤ 5 min):  </a:t>
            </a:r>
          </a:p>
        </p:txBody>
      </p:sp>
      <p:sp>
        <p:nvSpPr>
          <p:cNvPr id="23" name="TextBox 22"/>
          <p:cNvSpPr txBox="1"/>
          <p:nvPr/>
        </p:nvSpPr>
        <p:spPr>
          <a:xfrm>
            <a:off x="3584448" y="5081498"/>
            <a:ext cx="7498079" cy="215444"/>
          </a:xfrm>
          <a:prstGeom prst="rect">
            <a:avLst/>
          </a:prstGeom>
          <a:noFill/>
        </p:spPr>
        <p:txBody>
          <a:bodyPr wrap="square" lIns="0" tIns="0" rIns="0" bIns="0" anchor="ctr">
            <a:spAutoFit/>
          </a:bodyPr>
          <a:lstStyle/>
          <a:p>
            <a:r>
              <a:rPr lang="en-IN" sz="1400" dirty="0">
                <a:solidFill>
                  <a:srgbClr val="6D28D9"/>
                </a:solidFill>
              </a:rPr>
              <a:t>https://drive.google.com/file/d/10Exkw4bSvbSFb3ADYi13eaOImpLcP60E/view?usp=sharing</a:t>
            </a:r>
            <a:endParaRPr sz="1400" b="0" i="0" dirty="0">
              <a:solidFill>
                <a:srgbClr val="6D28D9"/>
              </a:solidFill>
              <a:latin typeface="Calibri"/>
            </a:endParaRP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Rounded Rectangle 2"/>
          <p:cNvSpPr/>
          <p:nvPr/>
        </p:nvSpPr>
        <p:spPr>
          <a:xfrm>
            <a:off x="841248" y="1417320"/>
            <a:ext cx="5120640" cy="86868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5568" y="1545336"/>
            <a:ext cx="4572000" cy="274320"/>
          </a:xfrm>
          <a:prstGeom prst="rect">
            <a:avLst/>
          </a:prstGeom>
          <a:noFill/>
        </p:spPr>
        <p:txBody>
          <a:bodyPr wrap="square" lIns="0" tIns="0" rIns="0" bIns="0" anchor="t">
            <a:spAutoFit/>
          </a:bodyPr>
          <a:lstStyle/>
          <a:p>
            <a:pPr algn="l">
              <a:spcAft>
                <a:spcPts val="400"/>
              </a:spcAft>
            </a:pPr>
            <a:r>
              <a:rPr sz="1200" b="1" i="0">
                <a:solidFill>
                  <a:srgbClr val="6D28D9"/>
                </a:solidFill>
                <a:latin typeface="Calibri"/>
              </a:rPr>
              <a:t>API</a:t>
            </a:r>
          </a:p>
        </p:txBody>
      </p:sp>
      <p:sp>
        <p:nvSpPr>
          <p:cNvPr id="5" name="TextBox 4"/>
          <p:cNvSpPr txBox="1"/>
          <p:nvPr/>
        </p:nvSpPr>
        <p:spPr>
          <a:xfrm>
            <a:off x="1115568" y="1828800"/>
            <a:ext cx="4572000" cy="411480"/>
          </a:xfrm>
          <a:prstGeom prst="rect">
            <a:avLst/>
          </a:prstGeom>
          <a:noFill/>
        </p:spPr>
        <p:txBody>
          <a:bodyPr wrap="square" lIns="0" tIns="0" rIns="0" bIns="0" anchor="t">
            <a:spAutoFit/>
          </a:bodyPr>
          <a:lstStyle/>
          <a:p>
            <a:pPr algn="l">
              <a:spcAft>
                <a:spcPts val="400"/>
              </a:spcAft>
            </a:pPr>
            <a:r>
              <a:rPr sz="1350" b="0" i="0">
                <a:solidFill>
                  <a:srgbClr val="14142B"/>
                </a:solidFill>
                <a:latin typeface="Calibri"/>
              </a:rPr>
              <a:t>FastAPI, fully async</a:t>
            </a:r>
          </a:p>
        </p:txBody>
      </p:sp>
      <p:sp>
        <p:nvSpPr>
          <p:cNvPr id="6" name="Rounded Rectangle 5"/>
          <p:cNvSpPr/>
          <p:nvPr/>
        </p:nvSpPr>
        <p:spPr>
          <a:xfrm>
            <a:off x="6236207" y="1417320"/>
            <a:ext cx="5120640" cy="86868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10527" y="1545336"/>
            <a:ext cx="4572000" cy="274320"/>
          </a:xfrm>
          <a:prstGeom prst="rect">
            <a:avLst/>
          </a:prstGeom>
          <a:noFill/>
        </p:spPr>
        <p:txBody>
          <a:bodyPr wrap="square" lIns="0" tIns="0" rIns="0" bIns="0" anchor="t">
            <a:spAutoFit/>
          </a:bodyPr>
          <a:lstStyle/>
          <a:p>
            <a:pPr algn="l">
              <a:spcAft>
                <a:spcPts val="400"/>
              </a:spcAft>
            </a:pPr>
            <a:r>
              <a:rPr sz="1200" b="1" i="0">
                <a:solidFill>
                  <a:srgbClr val="6D28D9"/>
                </a:solidFill>
                <a:latin typeface="Calibri"/>
              </a:rPr>
              <a:t>Validation</a:t>
            </a:r>
          </a:p>
        </p:txBody>
      </p:sp>
      <p:sp>
        <p:nvSpPr>
          <p:cNvPr id="8" name="TextBox 7"/>
          <p:cNvSpPr txBox="1"/>
          <p:nvPr/>
        </p:nvSpPr>
        <p:spPr>
          <a:xfrm>
            <a:off x="6510527" y="1828800"/>
            <a:ext cx="4572000" cy="411480"/>
          </a:xfrm>
          <a:prstGeom prst="rect">
            <a:avLst/>
          </a:prstGeom>
          <a:noFill/>
        </p:spPr>
        <p:txBody>
          <a:bodyPr wrap="square" lIns="0" tIns="0" rIns="0" bIns="0" anchor="t">
            <a:spAutoFit/>
          </a:bodyPr>
          <a:lstStyle/>
          <a:p>
            <a:pPr algn="l">
              <a:spcAft>
                <a:spcPts val="400"/>
              </a:spcAft>
            </a:pPr>
            <a:r>
              <a:rPr sz="1350" b="0" i="0">
                <a:solidFill>
                  <a:srgbClr val="14142B"/>
                </a:solidFill>
                <a:latin typeface="Calibri"/>
              </a:rPr>
              <a:t>Pydantic — strict schema + programmatic repair</a:t>
            </a:r>
          </a:p>
        </p:txBody>
      </p:sp>
      <p:sp>
        <p:nvSpPr>
          <p:cNvPr id="9" name="Rounded Rectangle 8"/>
          <p:cNvSpPr/>
          <p:nvPr/>
        </p:nvSpPr>
        <p:spPr>
          <a:xfrm>
            <a:off x="841248" y="2468880"/>
            <a:ext cx="5120640" cy="86868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15568" y="2596896"/>
            <a:ext cx="4572000" cy="274320"/>
          </a:xfrm>
          <a:prstGeom prst="rect">
            <a:avLst/>
          </a:prstGeom>
          <a:noFill/>
        </p:spPr>
        <p:txBody>
          <a:bodyPr wrap="square" lIns="0" tIns="0" rIns="0" bIns="0" anchor="t">
            <a:spAutoFit/>
          </a:bodyPr>
          <a:lstStyle/>
          <a:p>
            <a:pPr algn="l">
              <a:spcAft>
                <a:spcPts val="400"/>
              </a:spcAft>
            </a:pPr>
            <a:r>
              <a:rPr sz="1200" b="1" i="0">
                <a:solidFill>
                  <a:srgbClr val="6D28D9"/>
                </a:solidFill>
                <a:latin typeface="Calibri"/>
              </a:rPr>
              <a:t>Embeddings</a:t>
            </a:r>
          </a:p>
        </p:txBody>
      </p:sp>
      <p:sp>
        <p:nvSpPr>
          <p:cNvPr id="11" name="TextBox 10"/>
          <p:cNvSpPr txBox="1"/>
          <p:nvPr/>
        </p:nvSpPr>
        <p:spPr>
          <a:xfrm>
            <a:off x="1115568" y="2880360"/>
            <a:ext cx="4572000" cy="411480"/>
          </a:xfrm>
          <a:prstGeom prst="rect">
            <a:avLst/>
          </a:prstGeom>
          <a:noFill/>
        </p:spPr>
        <p:txBody>
          <a:bodyPr wrap="square" lIns="0" tIns="0" rIns="0" bIns="0" anchor="t">
            <a:spAutoFit/>
          </a:bodyPr>
          <a:lstStyle/>
          <a:p>
            <a:pPr algn="l">
              <a:spcAft>
                <a:spcPts val="400"/>
              </a:spcAft>
            </a:pPr>
            <a:r>
              <a:rPr sz="1350" b="0" i="0">
                <a:solidFill>
                  <a:srgbClr val="14142B"/>
                </a:solidFill>
                <a:latin typeface="Calibri"/>
              </a:rPr>
              <a:t>all-MiniLM-L6-v2 via sentence-transformers, local CPU</a:t>
            </a:r>
          </a:p>
        </p:txBody>
      </p:sp>
      <p:sp>
        <p:nvSpPr>
          <p:cNvPr id="12" name="Rounded Rectangle 11"/>
          <p:cNvSpPr/>
          <p:nvPr/>
        </p:nvSpPr>
        <p:spPr>
          <a:xfrm>
            <a:off x="6236207" y="2468880"/>
            <a:ext cx="5120640" cy="86868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10527" y="2596896"/>
            <a:ext cx="4572000" cy="274320"/>
          </a:xfrm>
          <a:prstGeom prst="rect">
            <a:avLst/>
          </a:prstGeom>
          <a:noFill/>
        </p:spPr>
        <p:txBody>
          <a:bodyPr wrap="square" lIns="0" tIns="0" rIns="0" bIns="0" anchor="t">
            <a:spAutoFit/>
          </a:bodyPr>
          <a:lstStyle/>
          <a:p>
            <a:pPr algn="l">
              <a:spcAft>
                <a:spcPts val="400"/>
              </a:spcAft>
            </a:pPr>
            <a:r>
              <a:rPr sz="1200" b="1" i="0">
                <a:solidFill>
                  <a:srgbClr val="6D28D9"/>
                </a:solidFill>
                <a:latin typeface="Calibri"/>
              </a:rPr>
              <a:t>Sparse retrieval</a:t>
            </a:r>
          </a:p>
        </p:txBody>
      </p:sp>
      <p:sp>
        <p:nvSpPr>
          <p:cNvPr id="14" name="TextBox 13"/>
          <p:cNvSpPr txBox="1"/>
          <p:nvPr/>
        </p:nvSpPr>
        <p:spPr>
          <a:xfrm>
            <a:off x="6510527" y="2880360"/>
            <a:ext cx="4572000" cy="411480"/>
          </a:xfrm>
          <a:prstGeom prst="rect">
            <a:avLst/>
          </a:prstGeom>
          <a:noFill/>
        </p:spPr>
        <p:txBody>
          <a:bodyPr wrap="square" lIns="0" tIns="0" rIns="0" bIns="0" anchor="t">
            <a:spAutoFit/>
          </a:bodyPr>
          <a:lstStyle/>
          <a:p>
            <a:pPr algn="l">
              <a:spcAft>
                <a:spcPts val="400"/>
              </a:spcAft>
            </a:pPr>
            <a:r>
              <a:rPr sz="1350" b="0" i="0">
                <a:solidFill>
                  <a:srgbClr val="14142B"/>
                </a:solidFill>
                <a:latin typeface="Calibri"/>
              </a:rPr>
              <a:t>BM25 (rank-bm25), coverage-normalized</a:t>
            </a:r>
          </a:p>
        </p:txBody>
      </p:sp>
      <p:sp>
        <p:nvSpPr>
          <p:cNvPr id="15" name="Rounded Rectangle 14"/>
          <p:cNvSpPr/>
          <p:nvPr/>
        </p:nvSpPr>
        <p:spPr>
          <a:xfrm>
            <a:off x="841248" y="3520439"/>
            <a:ext cx="5120640" cy="86868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15568" y="3648456"/>
            <a:ext cx="4572000" cy="274320"/>
          </a:xfrm>
          <a:prstGeom prst="rect">
            <a:avLst/>
          </a:prstGeom>
          <a:noFill/>
        </p:spPr>
        <p:txBody>
          <a:bodyPr wrap="square" lIns="0" tIns="0" rIns="0" bIns="0" anchor="t">
            <a:spAutoFit/>
          </a:bodyPr>
          <a:lstStyle/>
          <a:p>
            <a:pPr algn="l">
              <a:spcAft>
                <a:spcPts val="400"/>
              </a:spcAft>
            </a:pPr>
            <a:r>
              <a:rPr sz="1200" b="1" i="0">
                <a:solidFill>
                  <a:srgbClr val="6D28D9"/>
                </a:solidFill>
                <a:latin typeface="Calibri"/>
              </a:rPr>
              <a:t>LLM</a:t>
            </a:r>
          </a:p>
        </p:txBody>
      </p:sp>
      <p:sp>
        <p:nvSpPr>
          <p:cNvPr id="17" name="TextBox 16"/>
          <p:cNvSpPr txBox="1"/>
          <p:nvPr/>
        </p:nvSpPr>
        <p:spPr>
          <a:xfrm>
            <a:off x="1115568" y="3931920"/>
            <a:ext cx="4572000" cy="411480"/>
          </a:xfrm>
          <a:prstGeom prst="rect">
            <a:avLst/>
          </a:prstGeom>
          <a:noFill/>
        </p:spPr>
        <p:txBody>
          <a:bodyPr wrap="square" lIns="0" tIns="0" rIns="0" bIns="0" anchor="t">
            <a:spAutoFit/>
          </a:bodyPr>
          <a:lstStyle/>
          <a:p>
            <a:pPr algn="l">
              <a:spcAft>
                <a:spcPts val="400"/>
              </a:spcAft>
            </a:pPr>
            <a:r>
              <a:rPr sz="1350" b="0" i="0">
                <a:solidFill>
                  <a:srgbClr val="14142B"/>
                </a:solidFill>
                <a:latin typeface="Calibri"/>
              </a:rPr>
              <a:t>NVIDIA Nemotron-3 Super 120B, reasoning off; swappable via .env</a:t>
            </a:r>
          </a:p>
        </p:txBody>
      </p:sp>
      <p:sp>
        <p:nvSpPr>
          <p:cNvPr id="18" name="Rounded Rectangle 17"/>
          <p:cNvSpPr/>
          <p:nvPr/>
        </p:nvSpPr>
        <p:spPr>
          <a:xfrm>
            <a:off x="6236207" y="3520439"/>
            <a:ext cx="5120640" cy="86868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10527" y="3648456"/>
            <a:ext cx="4572000" cy="274320"/>
          </a:xfrm>
          <a:prstGeom prst="rect">
            <a:avLst/>
          </a:prstGeom>
          <a:noFill/>
        </p:spPr>
        <p:txBody>
          <a:bodyPr wrap="square" lIns="0" tIns="0" rIns="0" bIns="0" anchor="t">
            <a:spAutoFit/>
          </a:bodyPr>
          <a:lstStyle/>
          <a:p>
            <a:pPr algn="l">
              <a:spcAft>
                <a:spcPts val="400"/>
              </a:spcAft>
            </a:pPr>
            <a:r>
              <a:rPr sz="1200" b="1" i="0">
                <a:solidFill>
                  <a:srgbClr val="6D28D9"/>
                </a:solidFill>
                <a:latin typeface="Calibri"/>
              </a:rPr>
              <a:t>Testing</a:t>
            </a:r>
          </a:p>
        </p:txBody>
      </p:sp>
      <p:sp>
        <p:nvSpPr>
          <p:cNvPr id="20" name="TextBox 19"/>
          <p:cNvSpPr txBox="1"/>
          <p:nvPr/>
        </p:nvSpPr>
        <p:spPr>
          <a:xfrm>
            <a:off x="6510527" y="3931920"/>
            <a:ext cx="4572000" cy="411480"/>
          </a:xfrm>
          <a:prstGeom prst="rect">
            <a:avLst/>
          </a:prstGeom>
          <a:noFill/>
        </p:spPr>
        <p:txBody>
          <a:bodyPr wrap="square" lIns="0" tIns="0" rIns="0" bIns="0" anchor="t">
            <a:spAutoFit/>
          </a:bodyPr>
          <a:lstStyle/>
          <a:p>
            <a:pPr algn="l">
              <a:spcAft>
                <a:spcPts val="400"/>
              </a:spcAft>
            </a:pPr>
            <a:r>
              <a:rPr sz="1350" b="0" i="0">
                <a:solidFill>
                  <a:srgbClr val="14142B"/>
                </a:solidFill>
                <a:latin typeface="Calibri"/>
              </a:rPr>
              <a:t>pytest — 373 offline tests + a 500-request load test</a:t>
            </a:r>
          </a:p>
        </p:txBody>
      </p:sp>
      <p:sp>
        <p:nvSpPr>
          <p:cNvPr id="21" name="Rounded Rectangle 20"/>
          <p:cNvSpPr/>
          <p:nvPr/>
        </p:nvSpPr>
        <p:spPr>
          <a:xfrm>
            <a:off x="841248" y="4572000"/>
            <a:ext cx="5120640" cy="86868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115568" y="4700016"/>
            <a:ext cx="4572000" cy="274320"/>
          </a:xfrm>
          <a:prstGeom prst="rect">
            <a:avLst/>
          </a:prstGeom>
          <a:noFill/>
        </p:spPr>
        <p:txBody>
          <a:bodyPr wrap="square" lIns="0" tIns="0" rIns="0" bIns="0" anchor="t">
            <a:spAutoFit/>
          </a:bodyPr>
          <a:lstStyle/>
          <a:p>
            <a:pPr algn="l">
              <a:spcAft>
                <a:spcPts val="400"/>
              </a:spcAft>
            </a:pPr>
            <a:r>
              <a:rPr sz="1200" b="1" i="0">
                <a:solidFill>
                  <a:srgbClr val="6D28D9"/>
                </a:solidFill>
                <a:latin typeface="Calibri"/>
              </a:rPr>
              <a:t>Deployment</a:t>
            </a:r>
          </a:p>
        </p:txBody>
      </p:sp>
      <p:sp>
        <p:nvSpPr>
          <p:cNvPr id="23" name="TextBox 22"/>
          <p:cNvSpPr txBox="1"/>
          <p:nvPr/>
        </p:nvSpPr>
        <p:spPr>
          <a:xfrm>
            <a:off x="1115568" y="4983480"/>
            <a:ext cx="4572000" cy="411480"/>
          </a:xfrm>
          <a:prstGeom prst="rect">
            <a:avLst/>
          </a:prstGeom>
          <a:noFill/>
        </p:spPr>
        <p:txBody>
          <a:bodyPr wrap="square" lIns="0" tIns="0" rIns="0" bIns="0" anchor="t">
            <a:spAutoFit/>
          </a:bodyPr>
          <a:lstStyle/>
          <a:p>
            <a:pPr algn="l">
              <a:spcAft>
                <a:spcPts val="400"/>
              </a:spcAft>
            </a:pPr>
            <a:r>
              <a:rPr sz="1350" b="0" i="0">
                <a:solidFill>
                  <a:srgbClr val="14142B"/>
                </a:solidFill>
                <a:latin typeface="Calibri"/>
              </a:rPr>
              <a:t>Docker; /health 503 until ready; no secrets in the image</a:t>
            </a:r>
          </a:p>
        </p:txBody>
      </p:sp>
      <p:sp>
        <p:nvSpPr>
          <p:cNvPr id="24" name="Rounded Rectangle 23"/>
          <p:cNvSpPr/>
          <p:nvPr/>
        </p:nvSpPr>
        <p:spPr>
          <a:xfrm>
            <a:off x="6236207" y="4572000"/>
            <a:ext cx="5120640" cy="86868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510527" y="4700016"/>
            <a:ext cx="4572000" cy="274320"/>
          </a:xfrm>
          <a:prstGeom prst="rect">
            <a:avLst/>
          </a:prstGeom>
          <a:noFill/>
        </p:spPr>
        <p:txBody>
          <a:bodyPr wrap="square" lIns="0" tIns="0" rIns="0" bIns="0" anchor="t">
            <a:spAutoFit/>
          </a:bodyPr>
          <a:lstStyle/>
          <a:p>
            <a:pPr algn="l">
              <a:spcAft>
                <a:spcPts val="400"/>
              </a:spcAft>
            </a:pPr>
            <a:r>
              <a:rPr sz="1200" b="1" i="0">
                <a:solidFill>
                  <a:srgbClr val="6D28D9"/>
                </a:solidFill>
                <a:latin typeface="Calibri"/>
              </a:rPr>
              <a:t>Frontend</a:t>
            </a:r>
          </a:p>
        </p:txBody>
      </p:sp>
      <p:sp>
        <p:nvSpPr>
          <p:cNvPr id="26" name="TextBox 25"/>
          <p:cNvSpPr txBox="1"/>
          <p:nvPr/>
        </p:nvSpPr>
        <p:spPr>
          <a:xfrm>
            <a:off x="6510527" y="4983480"/>
            <a:ext cx="4572000" cy="411480"/>
          </a:xfrm>
          <a:prstGeom prst="rect">
            <a:avLst/>
          </a:prstGeom>
          <a:noFill/>
        </p:spPr>
        <p:txBody>
          <a:bodyPr wrap="square" lIns="0" tIns="0" rIns="0" bIns="0" anchor="t">
            <a:spAutoFit/>
          </a:bodyPr>
          <a:lstStyle/>
          <a:p>
            <a:pPr algn="l">
              <a:spcAft>
                <a:spcPts val="400"/>
              </a:spcAft>
            </a:pPr>
            <a:r>
              <a:rPr sz="1350" b="0" i="0">
                <a:solidFill>
                  <a:srgbClr val="14142B"/>
                </a:solidFill>
                <a:latin typeface="Calibri"/>
              </a:rPr>
              <a:t>Single HTML file, Tailwind, no build step</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Rounded Rectangle 2"/>
          <p:cNvSpPr/>
          <p:nvPr/>
        </p:nvSpPr>
        <p:spPr>
          <a:xfrm>
            <a:off x="841248" y="1417320"/>
            <a:ext cx="3840480" cy="4206240"/>
          </a:xfrm>
          <a:prstGeom prst="roundRect">
            <a:avLst>
              <a:gd name="adj" fmla="val 6000"/>
            </a:avLst>
          </a:prstGeom>
          <a:solidFill>
            <a:srgbClr val="6D28D9"/>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1828800"/>
            <a:ext cx="3840480" cy="731520"/>
          </a:xfrm>
          <a:prstGeom prst="rect">
            <a:avLst/>
          </a:prstGeom>
          <a:noFill/>
        </p:spPr>
        <p:txBody>
          <a:bodyPr wrap="square" lIns="0" tIns="0" rIns="0" bIns="0" anchor="t">
            <a:spAutoFit/>
          </a:bodyPr>
          <a:lstStyle/>
          <a:p>
            <a:pPr algn="ctr">
              <a:spcAft>
                <a:spcPts val="400"/>
              </a:spcAft>
            </a:pPr>
            <a:r>
              <a:rPr sz="4000" b="1" i="0">
                <a:solidFill>
                  <a:srgbClr val="DDD6FE"/>
                </a:solidFill>
                <a:latin typeface="Arial"/>
              </a:rPr>
              <a:t>~15 min</a:t>
            </a:r>
          </a:p>
        </p:txBody>
      </p:sp>
      <p:sp>
        <p:nvSpPr>
          <p:cNvPr id="5" name="TextBox 4"/>
          <p:cNvSpPr txBox="1"/>
          <p:nvPr/>
        </p:nvSpPr>
        <p:spPr>
          <a:xfrm>
            <a:off x="841248" y="2560320"/>
            <a:ext cx="3840480" cy="365760"/>
          </a:xfrm>
          <a:prstGeom prst="rect">
            <a:avLst/>
          </a:prstGeom>
          <a:noFill/>
        </p:spPr>
        <p:txBody>
          <a:bodyPr wrap="square" lIns="0" tIns="0" rIns="0" bIns="0" anchor="t">
            <a:spAutoFit/>
          </a:bodyPr>
          <a:lstStyle/>
          <a:p>
            <a:pPr algn="ctr">
              <a:spcAft>
                <a:spcPts val="400"/>
              </a:spcAft>
            </a:pPr>
            <a:r>
              <a:rPr sz="1300" b="0" i="0">
                <a:solidFill>
                  <a:srgbClr val="DDD6FE"/>
                </a:solidFill>
                <a:latin typeface="Calibri"/>
              </a:rPr>
              <a:t>manual triage per case today</a:t>
            </a:r>
          </a:p>
        </p:txBody>
      </p:sp>
      <p:sp>
        <p:nvSpPr>
          <p:cNvPr id="6" name="TextBox 5"/>
          <p:cNvSpPr txBox="1"/>
          <p:nvPr/>
        </p:nvSpPr>
        <p:spPr>
          <a:xfrm>
            <a:off x="841248" y="2971800"/>
            <a:ext cx="3840480" cy="457200"/>
          </a:xfrm>
          <a:prstGeom prst="rect">
            <a:avLst/>
          </a:prstGeom>
          <a:noFill/>
        </p:spPr>
        <p:txBody>
          <a:bodyPr wrap="square" lIns="0" tIns="0" rIns="0" bIns="0" anchor="t">
            <a:spAutoFit/>
          </a:bodyPr>
          <a:lstStyle/>
          <a:p>
            <a:pPr algn="ctr">
              <a:spcAft>
                <a:spcPts val="400"/>
              </a:spcAft>
            </a:pPr>
            <a:r>
              <a:rPr sz="2600" b="1" i="0">
                <a:solidFill>
                  <a:srgbClr val="FFFFFF"/>
                </a:solidFill>
                <a:latin typeface="Arial"/>
              </a:rPr>
              <a:t>↓</a:t>
            </a:r>
          </a:p>
        </p:txBody>
      </p:sp>
      <p:sp>
        <p:nvSpPr>
          <p:cNvPr id="7" name="TextBox 6"/>
          <p:cNvSpPr txBox="1"/>
          <p:nvPr/>
        </p:nvSpPr>
        <p:spPr>
          <a:xfrm>
            <a:off x="841248" y="3474720"/>
            <a:ext cx="3840480" cy="731520"/>
          </a:xfrm>
          <a:prstGeom prst="rect">
            <a:avLst/>
          </a:prstGeom>
          <a:noFill/>
        </p:spPr>
        <p:txBody>
          <a:bodyPr wrap="square" lIns="0" tIns="0" rIns="0" bIns="0" anchor="t">
            <a:spAutoFit/>
          </a:bodyPr>
          <a:lstStyle/>
          <a:p>
            <a:pPr algn="ctr">
              <a:spcAft>
                <a:spcPts val="400"/>
              </a:spcAft>
            </a:pPr>
            <a:r>
              <a:rPr sz="4000" b="1" i="0">
                <a:solidFill>
                  <a:srgbClr val="FFFFFF"/>
                </a:solidFill>
                <a:latin typeface="Arial"/>
              </a:rPr>
              <a:t>seconds</a:t>
            </a:r>
          </a:p>
        </p:txBody>
      </p:sp>
      <p:sp>
        <p:nvSpPr>
          <p:cNvPr id="8" name="TextBox 7"/>
          <p:cNvSpPr txBox="1"/>
          <p:nvPr/>
        </p:nvSpPr>
        <p:spPr>
          <a:xfrm>
            <a:off x="841248" y="4251960"/>
            <a:ext cx="3840480" cy="822960"/>
          </a:xfrm>
          <a:prstGeom prst="rect">
            <a:avLst/>
          </a:prstGeom>
          <a:noFill/>
        </p:spPr>
        <p:txBody>
          <a:bodyPr wrap="square" lIns="0" tIns="0" rIns="0" bIns="0" anchor="t">
            <a:spAutoFit/>
          </a:bodyPr>
          <a:lstStyle/>
          <a:p>
            <a:pPr algn="ctr">
              <a:spcAft>
                <a:spcPts val="400"/>
              </a:spcAft>
            </a:pPr>
            <a:r>
              <a:rPr sz="1300" b="0" i="0">
                <a:solidFill>
                  <a:srgbClr val="DDD6FE"/>
                </a:solidFill>
                <a:latin typeface="Calibri"/>
              </a:rPr>
              <a:t>new issue via the full pipeline;</a:t>
            </a:r>
          </a:p>
          <a:p>
            <a:pPr algn="ctr">
              <a:spcAft>
                <a:spcPts val="400"/>
              </a:spcAft>
            </a:pPr>
            <a:r>
              <a:rPr sz="1300" b="0" i="0">
                <a:solidFill>
                  <a:srgbClr val="DDD6FE"/>
                </a:solidFill>
                <a:latin typeface="Calibri"/>
              </a:rPr>
              <a:t>milliseconds for a repeat, via cache</a:t>
            </a:r>
          </a:p>
        </p:txBody>
      </p:sp>
      <p:sp>
        <p:nvSpPr>
          <p:cNvPr id="9" name="Oval 8"/>
          <p:cNvSpPr/>
          <p:nvPr/>
        </p:nvSpPr>
        <p:spPr>
          <a:xfrm>
            <a:off x="5047488" y="1444752"/>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1</a:t>
            </a:r>
          </a:p>
        </p:txBody>
      </p:sp>
      <p:sp>
        <p:nvSpPr>
          <p:cNvPr id="10" name="TextBox 9"/>
          <p:cNvSpPr txBox="1"/>
          <p:nvPr/>
        </p:nvSpPr>
        <p:spPr>
          <a:xfrm>
            <a:off x="5596128" y="1417320"/>
            <a:ext cx="576072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Agent assist</a:t>
            </a:r>
          </a:p>
        </p:txBody>
      </p:sp>
      <p:sp>
        <p:nvSpPr>
          <p:cNvPr id="11" name="TextBox 10"/>
          <p:cNvSpPr txBox="1"/>
          <p:nvPr/>
        </p:nvSpPr>
        <p:spPr>
          <a:xfrm>
            <a:off x="5596128" y="1755648"/>
            <a:ext cx="5760720" cy="594360"/>
          </a:xfrm>
          <a:prstGeom prst="rect">
            <a:avLst/>
          </a:prstGeom>
          <a:noFill/>
        </p:spPr>
        <p:txBody>
          <a:bodyPr wrap="square" lIns="0" tIns="0" rIns="0" bIns="0" anchor="t">
            <a:spAutoFit/>
          </a:bodyPr>
          <a:lstStyle/>
          <a:p>
            <a:pPr algn="l">
              <a:spcAft>
                <a:spcPts val="400"/>
              </a:spcAft>
            </a:pPr>
            <a:r>
              <a:rPr sz="1250" b="0" i="0">
                <a:solidFill>
                  <a:srgbClr val="63637E"/>
                </a:solidFill>
                <a:latin typeface="Calibri"/>
              </a:rPr>
              <a:t>Support agents get a validated, ordered plan instantly instead of writing one from internal docs.</a:t>
            </a:r>
          </a:p>
        </p:txBody>
      </p:sp>
      <p:sp>
        <p:nvSpPr>
          <p:cNvPr id="12" name="Oval 11"/>
          <p:cNvSpPr/>
          <p:nvPr/>
        </p:nvSpPr>
        <p:spPr>
          <a:xfrm>
            <a:off x="5047488" y="2496312"/>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2</a:t>
            </a:r>
          </a:p>
        </p:txBody>
      </p:sp>
      <p:sp>
        <p:nvSpPr>
          <p:cNvPr id="13" name="TextBox 12"/>
          <p:cNvSpPr txBox="1"/>
          <p:nvPr/>
        </p:nvSpPr>
        <p:spPr>
          <a:xfrm>
            <a:off x="5596128" y="2468880"/>
            <a:ext cx="576072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In-device self-service</a:t>
            </a:r>
          </a:p>
        </p:txBody>
      </p:sp>
      <p:sp>
        <p:nvSpPr>
          <p:cNvPr id="14" name="TextBox 13"/>
          <p:cNvSpPr txBox="1"/>
          <p:nvPr/>
        </p:nvSpPr>
        <p:spPr>
          <a:xfrm>
            <a:off x="5596128" y="2807208"/>
            <a:ext cx="5760720" cy="594360"/>
          </a:xfrm>
          <a:prstGeom prst="rect">
            <a:avLst/>
          </a:prstGeom>
          <a:noFill/>
        </p:spPr>
        <p:txBody>
          <a:bodyPr wrap="square" lIns="0" tIns="0" rIns="0" bIns="0" anchor="t">
            <a:spAutoFit/>
          </a:bodyPr>
          <a:lstStyle/>
          <a:p>
            <a:pPr algn="l">
              <a:spcAft>
                <a:spcPts val="400"/>
              </a:spcAft>
            </a:pPr>
            <a:r>
              <a:rPr sz="1250" b="0" i="0">
                <a:solidFill>
                  <a:srgbClr val="63637E"/>
                </a:solidFill>
                <a:latin typeface="Calibri"/>
              </a:rPr>
              <a:t>A voice or chat assistant hands the user a one-tap deeplink to the right Settings screen.</a:t>
            </a:r>
          </a:p>
        </p:txBody>
      </p:sp>
      <p:sp>
        <p:nvSpPr>
          <p:cNvPr id="15" name="Oval 14"/>
          <p:cNvSpPr/>
          <p:nvPr/>
        </p:nvSpPr>
        <p:spPr>
          <a:xfrm>
            <a:off x="5047488" y="3547872"/>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3</a:t>
            </a:r>
          </a:p>
        </p:txBody>
      </p:sp>
      <p:sp>
        <p:nvSpPr>
          <p:cNvPr id="16" name="TextBox 15"/>
          <p:cNvSpPr txBox="1"/>
          <p:nvPr/>
        </p:nvSpPr>
        <p:spPr>
          <a:xfrm>
            <a:off x="5596128" y="3520440"/>
            <a:ext cx="576072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Safe handoff to humans</a:t>
            </a:r>
          </a:p>
        </p:txBody>
      </p:sp>
      <p:sp>
        <p:nvSpPr>
          <p:cNvPr id="17" name="TextBox 16"/>
          <p:cNvSpPr txBox="1"/>
          <p:nvPr/>
        </p:nvSpPr>
        <p:spPr>
          <a:xfrm>
            <a:off x="5596128" y="3858768"/>
            <a:ext cx="5760720" cy="594360"/>
          </a:xfrm>
          <a:prstGeom prst="rect">
            <a:avLst/>
          </a:prstGeom>
          <a:noFill/>
        </p:spPr>
        <p:txBody>
          <a:bodyPr wrap="square" lIns="0" tIns="0" rIns="0" bIns="0" anchor="t">
            <a:spAutoFit/>
          </a:bodyPr>
          <a:lstStyle/>
          <a:p>
            <a:pPr algn="l">
              <a:spcAft>
                <a:spcPts val="400"/>
              </a:spcAft>
            </a:pPr>
            <a:r>
              <a:rPr sz="1250" b="0" i="0">
                <a:solidFill>
                  <a:srgbClr val="63637E"/>
                </a:solidFill>
                <a:latin typeface="Calibri"/>
              </a:rPr>
              <a:t>Low confidence → the system abstains with a stated reason, so the case routes to an agent, not a wrong fix.</a:t>
            </a:r>
          </a:p>
        </p:txBody>
      </p:sp>
      <p:sp>
        <p:nvSpPr>
          <p:cNvPr id="18" name="Oval 17"/>
          <p:cNvSpPr/>
          <p:nvPr/>
        </p:nvSpPr>
        <p:spPr>
          <a:xfrm>
            <a:off x="5047488" y="4599432"/>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4</a:t>
            </a:r>
          </a:p>
        </p:txBody>
      </p:sp>
      <p:sp>
        <p:nvSpPr>
          <p:cNvPr id="19" name="TextBox 18"/>
          <p:cNvSpPr txBox="1"/>
          <p:nvPr/>
        </p:nvSpPr>
        <p:spPr>
          <a:xfrm>
            <a:off x="5596128" y="4572000"/>
            <a:ext cx="5760720" cy="320040"/>
          </a:xfrm>
          <a:prstGeom prst="rect">
            <a:avLst/>
          </a:prstGeom>
          <a:noFill/>
        </p:spPr>
        <p:txBody>
          <a:bodyPr wrap="square" lIns="0" tIns="0" rIns="0" bIns="0" anchor="t">
            <a:spAutoFit/>
          </a:bodyPr>
          <a:lstStyle/>
          <a:p>
            <a:pPr algn="l">
              <a:spcAft>
                <a:spcPts val="400"/>
              </a:spcAft>
            </a:pPr>
            <a:r>
              <a:rPr sz="1500" b="1" i="0">
                <a:solidFill>
                  <a:srgbClr val="14142B"/>
                </a:solidFill>
                <a:latin typeface="Calibri"/>
              </a:rPr>
              <a:t>Reusable at scale</a:t>
            </a:r>
          </a:p>
        </p:txBody>
      </p:sp>
      <p:sp>
        <p:nvSpPr>
          <p:cNvPr id="20" name="TextBox 19"/>
          <p:cNvSpPr txBox="1"/>
          <p:nvPr/>
        </p:nvSpPr>
        <p:spPr>
          <a:xfrm>
            <a:off x="5596128" y="4910328"/>
            <a:ext cx="5760720" cy="594360"/>
          </a:xfrm>
          <a:prstGeom prst="rect">
            <a:avLst/>
          </a:prstGeom>
          <a:noFill/>
        </p:spPr>
        <p:txBody>
          <a:bodyPr wrap="square" lIns="0" tIns="0" rIns="0" bIns="0" anchor="t">
            <a:spAutoFit/>
          </a:bodyPr>
          <a:lstStyle/>
          <a:p>
            <a:pPr algn="l">
              <a:spcAft>
                <a:spcPts val="400"/>
              </a:spcAft>
            </a:pPr>
            <a:r>
              <a:rPr sz="1250" b="0" i="0">
                <a:solidFill>
                  <a:srgbClr val="63637E"/>
                </a:solidFill>
                <a:latin typeface="Calibri"/>
              </a:rPr>
              <a:t>Matching runs over the catalog, not hand-written scripts, so it extends to thousands of scenarios.</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Rounded Rectangle 2"/>
          <p:cNvSpPr/>
          <p:nvPr/>
        </p:nvSpPr>
        <p:spPr>
          <a:xfrm>
            <a:off x="841248" y="1417320"/>
            <a:ext cx="3383280" cy="416052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5568" y="1645920"/>
            <a:ext cx="2834640" cy="365760"/>
          </a:xfrm>
          <a:prstGeom prst="rect">
            <a:avLst/>
          </a:prstGeom>
          <a:noFill/>
        </p:spPr>
        <p:txBody>
          <a:bodyPr wrap="square" lIns="0" tIns="0" rIns="0" bIns="0" anchor="t">
            <a:spAutoFit/>
          </a:bodyPr>
          <a:lstStyle/>
          <a:p>
            <a:pPr algn="l">
              <a:spcAft>
                <a:spcPts val="400"/>
              </a:spcAft>
            </a:pPr>
            <a:r>
              <a:rPr sz="1700" b="1" i="0">
                <a:solidFill>
                  <a:srgbClr val="6D28D9"/>
                </a:solidFill>
                <a:latin typeface="Calibri"/>
              </a:rPr>
              <a:t>Innovation</a:t>
            </a:r>
          </a:p>
        </p:txBody>
      </p:sp>
      <p:sp>
        <p:nvSpPr>
          <p:cNvPr id="5" name="TextBox 4"/>
          <p:cNvSpPr txBox="1"/>
          <p:nvPr/>
        </p:nvSpPr>
        <p:spPr>
          <a:xfrm>
            <a:off x="1115568" y="2148840"/>
            <a:ext cx="2834640" cy="1885131"/>
          </a:xfrm>
          <a:prstGeom prst="rect">
            <a:avLst/>
          </a:prstGeom>
          <a:noFill/>
        </p:spPr>
        <p:txBody>
          <a:bodyPr wrap="square" lIns="0" tIns="0" rIns="0" bIns="0" anchor="t">
            <a:spAutoFit/>
          </a:bodyPr>
          <a:lstStyle/>
          <a:p>
            <a:pPr algn="l">
              <a:spcAft>
                <a:spcPts val="900"/>
              </a:spcAft>
            </a:pPr>
            <a:r>
              <a:rPr sz="1250" b="0" i="0" dirty="0">
                <a:solidFill>
                  <a:srgbClr val="14142B"/>
                </a:solidFill>
                <a:latin typeface="Calibri"/>
              </a:rPr>
              <a:t>•  Abstention-first: 6 named fallbacks, each with a plain-language reason</a:t>
            </a:r>
          </a:p>
          <a:p>
            <a:pPr algn="l">
              <a:spcAft>
                <a:spcPts val="900"/>
              </a:spcAft>
            </a:pPr>
            <a:r>
              <a:rPr sz="1250" b="0" i="0" dirty="0">
                <a:solidFill>
                  <a:srgbClr val="14142B"/>
                </a:solidFill>
                <a:latin typeface="Calibri"/>
              </a:rPr>
              <a:t>•  Source sentence shown for every step; ungrounded actions removed</a:t>
            </a:r>
          </a:p>
          <a:p>
            <a:pPr algn="l">
              <a:spcAft>
                <a:spcPts val="900"/>
              </a:spcAft>
            </a:pPr>
            <a:r>
              <a:rPr sz="1250" b="0" i="0" dirty="0">
                <a:solidFill>
                  <a:srgbClr val="14142B"/>
                </a:solidFill>
                <a:latin typeface="Calibri"/>
              </a:rPr>
              <a:t>•  Deeplink intent matched to the catalog's on / off / update / open types</a:t>
            </a:r>
          </a:p>
          <a:p>
            <a:pPr algn="l">
              <a:spcAft>
                <a:spcPts val="900"/>
              </a:spcAft>
            </a:pPr>
            <a:r>
              <a:rPr sz="1250" b="0" i="0" dirty="0">
                <a:solidFill>
                  <a:srgbClr val="14142B"/>
                </a:solidFill>
                <a:latin typeface="Calibri"/>
              </a:rPr>
              <a:t>•  Multilingual complaints: Hindi, Korean,</a:t>
            </a:r>
            <a:r>
              <a:rPr lang="en-IN" sz="1250" b="0" i="0" dirty="0">
                <a:solidFill>
                  <a:srgbClr val="14142B"/>
                </a:solidFill>
                <a:latin typeface="Calibri"/>
              </a:rPr>
              <a:t> </a:t>
            </a:r>
            <a:r>
              <a:rPr sz="1250" b="0" i="0" dirty="0">
                <a:solidFill>
                  <a:srgbClr val="14142B"/>
                </a:solidFill>
                <a:latin typeface="Calibri"/>
              </a:rPr>
              <a:t>Hinglish</a:t>
            </a:r>
          </a:p>
        </p:txBody>
      </p:sp>
      <p:sp>
        <p:nvSpPr>
          <p:cNvPr id="6" name="Rounded Rectangle 5"/>
          <p:cNvSpPr/>
          <p:nvPr/>
        </p:nvSpPr>
        <p:spPr>
          <a:xfrm>
            <a:off x="4407408" y="1417320"/>
            <a:ext cx="3383280" cy="416052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681728" y="1645920"/>
            <a:ext cx="2834640" cy="365760"/>
          </a:xfrm>
          <a:prstGeom prst="rect">
            <a:avLst/>
          </a:prstGeom>
          <a:noFill/>
        </p:spPr>
        <p:txBody>
          <a:bodyPr wrap="square" lIns="0" tIns="0" rIns="0" bIns="0" anchor="t">
            <a:spAutoFit/>
          </a:bodyPr>
          <a:lstStyle/>
          <a:p>
            <a:pPr algn="l">
              <a:spcAft>
                <a:spcPts val="400"/>
              </a:spcAft>
            </a:pPr>
            <a:r>
              <a:rPr sz="1700" b="1" i="0">
                <a:solidFill>
                  <a:srgbClr val="047857"/>
                </a:solidFill>
                <a:latin typeface="Calibri"/>
              </a:rPr>
              <a:t>Results</a:t>
            </a:r>
          </a:p>
        </p:txBody>
      </p:sp>
      <p:sp>
        <p:nvSpPr>
          <p:cNvPr id="8" name="TextBox 7"/>
          <p:cNvSpPr txBox="1"/>
          <p:nvPr/>
        </p:nvSpPr>
        <p:spPr>
          <a:xfrm>
            <a:off x="4681728" y="2148840"/>
            <a:ext cx="2834640" cy="3291840"/>
          </a:xfrm>
          <a:prstGeom prst="rect">
            <a:avLst/>
          </a:prstGeom>
          <a:noFill/>
        </p:spPr>
        <p:txBody>
          <a:bodyPr wrap="square" lIns="0" tIns="0" rIns="0" bIns="0" anchor="t">
            <a:spAutoFit/>
          </a:bodyPr>
          <a:lstStyle/>
          <a:p>
            <a:pPr algn="l">
              <a:spcAft>
                <a:spcPts val="900"/>
              </a:spcAft>
            </a:pPr>
            <a:r>
              <a:rPr sz="1250" b="0" i="0">
                <a:solidFill>
                  <a:srgbClr val="14142B"/>
                </a:solidFill>
                <a:latin typeface="Calibri"/>
              </a:rPr>
              <a:t>•  100% schema-valid and rule-compliant, 0 URL leaks (59 cases)</a:t>
            </a:r>
          </a:p>
          <a:p>
            <a:pPr algn="l">
              <a:spcAft>
                <a:spcPts val="900"/>
              </a:spcAft>
            </a:pPr>
            <a:r>
              <a:rPr sz="1250" b="0" i="0">
                <a:solidFill>
                  <a:srgbClr val="14142B"/>
                </a:solidFill>
                <a:latin typeface="Calibri"/>
              </a:rPr>
              <a:t>•  0 wrong deeplinks vs 13 for an LLM-only baseline, ~37× faster</a:t>
            </a:r>
          </a:p>
          <a:p>
            <a:pPr algn="l">
              <a:spcAft>
                <a:spcPts val="900"/>
              </a:spcAft>
            </a:pPr>
            <a:r>
              <a:rPr sz="1250" b="0" i="0">
                <a:solidFill>
                  <a:srgbClr val="14142B"/>
                </a:solidFill>
                <a:latin typeface="Calibri"/>
              </a:rPr>
              <a:t>•  Human review: steps 2.78 / 3, deeplinks 1.28 / 2 (49 plans)</a:t>
            </a:r>
          </a:p>
          <a:p>
            <a:pPr algn="l">
              <a:spcAft>
                <a:spcPts val="900"/>
              </a:spcAft>
            </a:pPr>
            <a:r>
              <a:rPr sz="1250" b="0" i="0">
                <a:solidFill>
                  <a:srgbClr val="14142B"/>
                </a:solidFill>
                <a:latin typeface="Calibri"/>
              </a:rPr>
              <a:t>•  87.5% paraphrase hits; 338 req/s at 50 concurrent users</a:t>
            </a:r>
          </a:p>
        </p:txBody>
      </p:sp>
      <p:sp>
        <p:nvSpPr>
          <p:cNvPr id="9" name="Rounded Rectangle 8"/>
          <p:cNvSpPr/>
          <p:nvPr/>
        </p:nvSpPr>
        <p:spPr>
          <a:xfrm>
            <a:off x="7973568" y="1417320"/>
            <a:ext cx="3383280" cy="4160520"/>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47888" y="1645920"/>
            <a:ext cx="2834640" cy="365760"/>
          </a:xfrm>
          <a:prstGeom prst="rect">
            <a:avLst/>
          </a:prstGeom>
          <a:noFill/>
        </p:spPr>
        <p:txBody>
          <a:bodyPr wrap="square" lIns="0" tIns="0" rIns="0" bIns="0" anchor="t">
            <a:spAutoFit/>
          </a:bodyPr>
          <a:lstStyle/>
          <a:p>
            <a:pPr algn="l">
              <a:spcAft>
                <a:spcPts val="400"/>
              </a:spcAft>
            </a:pPr>
            <a:r>
              <a:rPr sz="1700" b="1" i="0">
                <a:solidFill>
                  <a:srgbClr val="B91C1C"/>
                </a:solidFill>
                <a:latin typeface="Calibri"/>
              </a:rPr>
              <a:t>Limitations</a:t>
            </a:r>
          </a:p>
        </p:txBody>
      </p:sp>
      <p:sp>
        <p:nvSpPr>
          <p:cNvPr id="11" name="TextBox 10"/>
          <p:cNvSpPr txBox="1"/>
          <p:nvPr/>
        </p:nvSpPr>
        <p:spPr>
          <a:xfrm>
            <a:off x="8247888" y="2148840"/>
            <a:ext cx="2834640" cy="2077492"/>
          </a:xfrm>
          <a:prstGeom prst="rect">
            <a:avLst/>
          </a:prstGeom>
          <a:noFill/>
        </p:spPr>
        <p:txBody>
          <a:bodyPr wrap="square" lIns="0" tIns="0" rIns="0" bIns="0" anchor="t">
            <a:spAutoFit/>
          </a:bodyPr>
          <a:lstStyle/>
          <a:p>
            <a:pPr algn="l">
              <a:spcAft>
                <a:spcPts val="900"/>
              </a:spcAft>
            </a:pPr>
            <a:r>
              <a:rPr sz="1250" b="0" i="0" dirty="0">
                <a:solidFill>
                  <a:srgbClr val="14142B"/>
                </a:solidFill>
                <a:latin typeface="Calibri"/>
              </a:rPr>
              <a:t>•  Cold path: P50 ~4 s, but P95 9–19 s vs 8 s target (provider)</a:t>
            </a:r>
          </a:p>
          <a:p>
            <a:pPr algn="l">
              <a:spcAft>
                <a:spcPts val="900"/>
              </a:spcAft>
            </a:pPr>
            <a:r>
              <a:rPr sz="1250" b="0" i="0" dirty="0">
                <a:solidFill>
                  <a:srgbClr val="14142B"/>
                </a:solidFill>
                <a:latin typeface="Calibri"/>
              </a:rPr>
              <a:t>•  Samsung's 20 queries are all Display; other domains are synthetic</a:t>
            </a:r>
          </a:p>
          <a:p>
            <a:pPr algn="l">
              <a:spcAft>
                <a:spcPts val="900"/>
              </a:spcAft>
            </a:pPr>
            <a:r>
              <a:rPr sz="1250" b="0" i="0" dirty="0">
                <a:solidFill>
                  <a:srgbClr val="14142B"/>
                </a:solidFill>
                <a:latin typeface="Calibri"/>
              </a:rPr>
              <a:t>•  Lexical grounding misses some invented steps; human review still needed</a:t>
            </a:r>
          </a:p>
          <a:p>
            <a:pPr algn="l">
              <a:spcAft>
                <a:spcPts val="900"/>
              </a:spcAft>
            </a:pPr>
            <a:r>
              <a:rPr sz="1250" b="0" i="0" dirty="0">
                <a:solidFill>
                  <a:srgbClr val="14142B"/>
                </a:solidFill>
                <a:latin typeface="Calibri"/>
              </a:rPr>
              <a:t>•  45% of auto actions link a real screen; the rest use Samsung's placeholder (the price of 0 wrong)</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Oval 2"/>
          <p:cNvSpPr/>
          <p:nvPr/>
        </p:nvSpPr>
        <p:spPr>
          <a:xfrm>
            <a:off x="1881378" y="1508760"/>
            <a:ext cx="548640" cy="54864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1</a:t>
            </a:r>
          </a:p>
        </p:txBody>
      </p:sp>
      <p:cxnSp>
        <p:nvCxnSpPr>
          <p:cNvPr id="4" name="Connector 3"/>
          <p:cNvCxnSpPr/>
          <p:nvPr/>
        </p:nvCxnSpPr>
        <p:spPr>
          <a:xfrm>
            <a:off x="2475738" y="1783080"/>
            <a:ext cx="1988820" cy="0"/>
          </a:xfrm>
          <a:prstGeom prst="line">
            <a:avLst/>
          </a:prstGeom>
          <a:ln w="25400">
            <a:solidFill>
              <a:srgbClr val="DDD6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78408" y="2286000"/>
            <a:ext cx="2354580" cy="230832"/>
          </a:xfrm>
          <a:prstGeom prst="rect">
            <a:avLst/>
          </a:prstGeom>
          <a:noFill/>
        </p:spPr>
        <p:txBody>
          <a:bodyPr wrap="square" lIns="0" tIns="0" rIns="0" bIns="0" anchor="t">
            <a:spAutoFit/>
          </a:bodyPr>
          <a:lstStyle/>
          <a:p>
            <a:pPr algn="ctr">
              <a:spcAft>
                <a:spcPts val="400"/>
              </a:spcAft>
            </a:pPr>
            <a:r>
              <a:rPr lang="en-IN" sz="1500" b="1" i="0" dirty="0">
                <a:solidFill>
                  <a:srgbClr val="14142B"/>
                </a:solidFill>
                <a:latin typeface="Calibri"/>
              </a:rPr>
              <a:t>Scale to 10K+ scenarios</a:t>
            </a:r>
            <a:endParaRPr sz="1500" b="1" i="0" dirty="0">
              <a:solidFill>
                <a:srgbClr val="14142B"/>
              </a:solidFill>
              <a:latin typeface="Calibri"/>
            </a:endParaRPr>
          </a:p>
        </p:txBody>
      </p:sp>
      <p:sp>
        <p:nvSpPr>
          <p:cNvPr id="6" name="TextBox 5"/>
          <p:cNvSpPr txBox="1"/>
          <p:nvPr/>
        </p:nvSpPr>
        <p:spPr>
          <a:xfrm>
            <a:off x="978408" y="2697480"/>
            <a:ext cx="2354580" cy="553998"/>
          </a:xfrm>
          <a:prstGeom prst="rect">
            <a:avLst/>
          </a:prstGeom>
          <a:noFill/>
        </p:spPr>
        <p:txBody>
          <a:bodyPr wrap="square" lIns="0" tIns="0" rIns="0" bIns="0" anchor="t">
            <a:spAutoFit/>
          </a:bodyPr>
          <a:lstStyle/>
          <a:p>
            <a:pPr algn="ctr">
              <a:spcAft>
                <a:spcPts val="400"/>
              </a:spcAft>
            </a:pPr>
            <a:r>
              <a:rPr lang="en-IN" sz="1200" b="0" i="0" dirty="0">
                <a:solidFill>
                  <a:srgbClr val="63637E"/>
                </a:solidFill>
                <a:latin typeface="Calibri"/>
              </a:rPr>
              <a:t>Precomputed indexes, monitoring and load validation across retrieval, cache and API layers.</a:t>
            </a:r>
            <a:endParaRPr sz="1200" b="0" i="0" dirty="0">
              <a:solidFill>
                <a:srgbClr val="63637E"/>
              </a:solidFill>
              <a:latin typeface="Calibri"/>
            </a:endParaRPr>
          </a:p>
        </p:txBody>
      </p:sp>
      <p:sp>
        <p:nvSpPr>
          <p:cNvPr id="7" name="Oval 6"/>
          <p:cNvSpPr/>
          <p:nvPr/>
        </p:nvSpPr>
        <p:spPr>
          <a:xfrm>
            <a:off x="4510278" y="1508760"/>
            <a:ext cx="548640" cy="54864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2</a:t>
            </a:r>
          </a:p>
        </p:txBody>
      </p:sp>
      <p:cxnSp>
        <p:nvCxnSpPr>
          <p:cNvPr id="8" name="Connector 7"/>
          <p:cNvCxnSpPr/>
          <p:nvPr/>
        </p:nvCxnSpPr>
        <p:spPr>
          <a:xfrm>
            <a:off x="5104638" y="1783080"/>
            <a:ext cx="1988820" cy="0"/>
          </a:xfrm>
          <a:prstGeom prst="line">
            <a:avLst/>
          </a:prstGeom>
          <a:ln w="25400">
            <a:solidFill>
              <a:srgbClr val="DDD6F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7308" y="2286000"/>
            <a:ext cx="2354580" cy="230832"/>
          </a:xfrm>
          <a:prstGeom prst="rect">
            <a:avLst/>
          </a:prstGeom>
          <a:noFill/>
        </p:spPr>
        <p:txBody>
          <a:bodyPr wrap="square" lIns="0" tIns="0" rIns="0" bIns="0" anchor="t">
            <a:spAutoFit/>
          </a:bodyPr>
          <a:lstStyle/>
          <a:p>
            <a:pPr algn="ctr">
              <a:spcAft>
                <a:spcPts val="400"/>
              </a:spcAft>
            </a:pPr>
            <a:r>
              <a:rPr lang="en-IN" sz="1500" b="1" i="0" dirty="0">
                <a:solidFill>
                  <a:srgbClr val="14142B"/>
                </a:solidFill>
                <a:latin typeface="Calibri"/>
              </a:rPr>
              <a:t>Cut P95 Latency</a:t>
            </a:r>
            <a:endParaRPr sz="1500" b="1" i="0" dirty="0">
              <a:solidFill>
                <a:srgbClr val="14142B"/>
              </a:solidFill>
              <a:latin typeface="Calibri"/>
            </a:endParaRPr>
          </a:p>
        </p:txBody>
      </p:sp>
      <p:sp>
        <p:nvSpPr>
          <p:cNvPr id="10" name="TextBox 9"/>
          <p:cNvSpPr txBox="1"/>
          <p:nvPr/>
        </p:nvSpPr>
        <p:spPr>
          <a:xfrm>
            <a:off x="3607308" y="2730137"/>
            <a:ext cx="2354580" cy="553998"/>
          </a:xfrm>
          <a:prstGeom prst="rect">
            <a:avLst/>
          </a:prstGeom>
          <a:noFill/>
        </p:spPr>
        <p:txBody>
          <a:bodyPr wrap="square" lIns="0" tIns="0" rIns="0" bIns="0" anchor="t">
            <a:spAutoFit/>
          </a:bodyPr>
          <a:lstStyle/>
          <a:p>
            <a:pPr algn="ctr">
              <a:spcAft>
                <a:spcPts val="400"/>
              </a:spcAft>
            </a:pPr>
            <a:r>
              <a:rPr lang="en-IN" sz="1200" b="0" i="0" dirty="0">
                <a:solidFill>
                  <a:srgbClr val="63637E"/>
                </a:solidFill>
                <a:latin typeface="Calibri"/>
              </a:rPr>
              <a:t>Profile and parallelize the slowest steps, drop unnecessary LLM calls, route across providers and models.</a:t>
            </a:r>
            <a:endParaRPr sz="1200" b="0" i="0" dirty="0">
              <a:solidFill>
                <a:srgbClr val="63637E"/>
              </a:solidFill>
              <a:latin typeface="Calibri"/>
            </a:endParaRPr>
          </a:p>
        </p:txBody>
      </p:sp>
      <p:sp>
        <p:nvSpPr>
          <p:cNvPr id="11" name="Oval 10"/>
          <p:cNvSpPr/>
          <p:nvPr/>
        </p:nvSpPr>
        <p:spPr>
          <a:xfrm>
            <a:off x="7139178" y="1508760"/>
            <a:ext cx="548640" cy="54864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3</a:t>
            </a:r>
          </a:p>
        </p:txBody>
      </p:sp>
      <p:cxnSp>
        <p:nvCxnSpPr>
          <p:cNvPr id="12" name="Connector 11"/>
          <p:cNvCxnSpPr/>
          <p:nvPr/>
        </p:nvCxnSpPr>
        <p:spPr>
          <a:xfrm>
            <a:off x="7733538" y="1783080"/>
            <a:ext cx="1988820" cy="0"/>
          </a:xfrm>
          <a:prstGeom prst="line">
            <a:avLst/>
          </a:prstGeom>
          <a:ln w="25400">
            <a:solidFill>
              <a:srgbClr val="DDD6F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236208" y="2286000"/>
            <a:ext cx="2354580" cy="230832"/>
          </a:xfrm>
          <a:prstGeom prst="rect">
            <a:avLst/>
          </a:prstGeom>
          <a:noFill/>
        </p:spPr>
        <p:txBody>
          <a:bodyPr wrap="square" lIns="0" tIns="0" rIns="0" bIns="0" anchor="t">
            <a:spAutoFit/>
          </a:bodyPr>
          <a:lstStyle/>
          <a:p>
            <a:pPr algn="ctr">
              <a:spcAft>
                <a:spcPts val="400"/>
              </a:spcAft>
            </a:pPr>
            <a:r>
              <a:rPr lang="en-IN" sz="1500" b="1" i="0" dirty="0">
                <a:solidFill>
                  <a:srgbClr val="14142B"/>
                </a:solidFill>
                <a:latin typeface="Calibri"/>
              </a:rPr>
              <a:t>Semantic Grounding</a:t>
            </a:r>
            <a:endParaRPr sz="1500" b="1" i="0" dirty="0">
              <a:solidFill>
                <a:srgbClr val="14142B"/>
              </a:solidFill>
              <a:latin typeface="Calibri"/>
            </a:endParaRPr>
          </a:p>
        </p:txBody>
      </p:sp>
      <p:sp>
        <p:nvSpPr>
          <p:cNvPr id="14" name="TextBox 13"/>
          <p:cNvSpPr txBox="1"/>
          <p:nvPr/>
        </p:nvSpPr>
        <p:spPr>
          <a:xfrm>
            <a:off x="6236208" y="2697480"/>
            <a:ext cx="2354580" cy="369332"/>
          </a:xfrm>
          <a:prstGeom prst="rect">
            <a:avLst/>
          </a:prstGeom>
          <a:noFill/>
        </p:spPr>
        <p:txBody>
          <a:bodyPr wrap="square" lIns="0" tIns="0" rIns="0" bIns="0" anchor="t">
            <a:spAutoFit/>
          </a:bodyPr>
          <a:lstStyle/>
          <a:p>
            <a:pPr algn="ctr">
              <a:spcAft>
                <a:spcPts val="400"/>
              </a:spcAft>
            </a:pPr>
            <a:r>
              <a:rPr lang="en-IN" sz="1200" b="0" i="0" dirty="0">
                <a:solidFill>
                  <a:srgbClr val="63637E"/>
                </a:solidFill>
                <a:latin typeface="Calibri"/>
              </a:rPr>
              <a:t>Check steps by meaning, not shared words, to catch invented steps.</a:t>
            </a:r>
            <a:endParaRPr sz="1200" b="0" i="0" dirty="0">
              <a:solidFill>
                <a:srgbClr val="63637E"/>
              </a:solidFill>
              <a:latin typeface="Calibri"/>
            </a:endParaRPr>
          </a:p>
        </p:txBody>
      </p:sp>
      <p:sp>
        <p:nvSpPr>
          <p:cNvPr id="15" name="Oval 14"/>
          <p:cNvSpPr/>
          <p:nvPr/>
        </p:nvSpPr>
        <p:spPr>
          <a:xfrm>
            <a:off x="9768078" y="1508760"/>
            <a:ext cx="548640" cy="54864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4</a:t>
            </a:r>
          </a:p>
        </p:txBody>
      </p:sp>
      <p:sp>
        <p:nvSpPr>
          <p:cNvPr id="16" name="TextBox 15"/>
          <p:cNvSpPr txBox="1"/>
          <p:nvPr/>
        </p:nvSpPr>
        <p:spPr>
          <a:xfrm>
            <a:off x="8865108" y="2286000"/>
            <a:ext cx="2354580" cy="365760"/>
          </a:xfrm>
          <a:prstGeom prst="rect">
            <a:avLst/>
          </a:prstGeom>
          <a:noFill/>
        </p:spPr>
        <p:txBody>
          <a:bodyPr wrap="square" lIns="0" tIns="0" rIns="0" bIns="0" anchor="t">
            <a:spAutoFit/>
          </a:bodyPr>
          <a:lstStyle/>
          <a:p>
            <a:pPr algn="ctr">
              <a:spcAft>
                <a:spcPts val="400"/>
              </a:spcAft>
            </a:pPr>
            <a:r>
              <a:rPr sz="1500" b="1" i="0">
                <a:solidFill>
                  <a:srgbClr val="14142B"/>
                </a:solidFill>
                <a:latin typeface="Calibri"/>
              </a:rPr>
              <a:t>Closing the loop</a:t>
            </a:r>
          </a:p>
        </p:txBody>
      </p:sp>
      <p:sp>
        <p:nvSpPr>
          <p:cNvPr id="17" name="TextBox 16"/>
          <p:cNvSpPr txBox="1"/>
          <p:nvPr/>
        </p:nvSpPr>
        <p:spPr>
          <a:xfrm>
            <a:off x="8865108" y="2697480"/>
            <a:ext cx="2354580" cy="1463040"/>
          </a:xfrm>
          <a:prstGeom prst="rect">
            <a:avLst/>
          </a:prstGeom>
          <a:noFill/>
        </p:spPr>
        <p:txBody>
          <a:bodyPr wrap="square" lIns="0" tIns="0" rIns="0" bIns="0" anchor="t">
            <a:spAutoFit/>
          </a:bodyPr>
          <a:lstStyle/>
          <a:p>
            <a:pPr algn="ctr">
              <a:spcAft>
                <a:spcPts val="400"/>
              </a:spcAft>
            </a:pPr>
            <a:r>
              <a:rPr sz="1200" b="0" i="0" dirty="0">
                <a:solidFill>
                  <a:srgbClr val="63637E"/>
                </a:solidFill>
                <a:latin typeface="Calibri"/>
              </a:rPr>
              <a:t>Validation </a:t>
            </a:r>
            <a:r>
              <a:rPr sz="1200" b="0" i="0" dirty="0" err="1">
                <a:solidFill>
                  <a:srgbClr val="63637E"/>
                </a:solidFill>
                <a:latin typeface="Calibri"/>
              </a:rPr>
              <a:t>deeplinks</a:t>
            </a:r>
            <a:r>
              <a:rPr sz="1200" b="0" i="0" dirty="0">
                <a:solidFill>
                  <a:srgbClr val="63637E"/>
                </a:solidFill>
                <a:latin typeface="Calibri"/>
              </a:rPr>
              <a:t> confirm a fix worked; feedback demotes cached plans that don't.</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Rounded Rectangle 2"/>
          <p:cNvSpPr/>
          <p:nvPr/>
        </p:nvSpPr>
        <p:spPr>
          <a:xfrm>
            <a:off x="841248" y="1417320"/>
            <a:ext cx="3383280" cy="1874519"/>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5568" y="1618488"/>
            <a:ext cx="2834640" cy="365760"/>
          </a:xfrm>
          <a:prstGeom prst="rect">
            <a:avLst/>
          </a:prstGeom>
          <a:noFill/>
        </p:spPr>
        <p:txBody>
          <a:bodyPr wrap="square" lIns="0" tIns="0" rIns="0" bIns="0" anchor="t">
            <a:spAutoFit/>
          </a:bodyPr>
          <a:lstStyle/>
          <a:p>
            <a:pPr algn="l">
              <a:spcAft>
                <a:spcPts val="400"/>
              </a:spcAft>
            </a:pPr>
            <a:r>
              <a:rPr sz="1500" b="1" i="0">
                <a:solidFill>
                  <a:srgbClr val="6D28D9"/>
                </a:solidFill>
                <a:latin typeface="Calibri"/>
              </a:rPr>
              <a:t>Beats the LLM baseline</a:t>
            </a:r>
          </a:p>
        </p:txBody>
      </p:sp>
      <p:sp>
        <p:nvSpPr>
          <p:cNvPr id="5" name="TextBox 4"/>
          <p:cNvSpPr txBox="1"/>
          <p:nvPr/>
        </p:nvSpPr>
        <p:spPr>
          <a:xfrm>
            <a:off x="1115568" y="2057400"/>
            <a:ext cx="2834640" cy="1188720"/>
          </a:xfrm>
          <a:prstGeom prst="rect">
            <a:avLst/>
          </a:prstGeom>
          <a:noFill/>
        </p:spPr>
        <p:txBody>
          <a:bodyPr wrap="square" lIns="0" tIns="0" rIns="0" bIns="0" anchor="t">
            <a:spAutoFit/>
          </a:bodyPr>
          <a:lstStyle/>
          <a:p>
            <a:pPr algn="l">
              <a:spcAft>
                <a:spcPts val="400"/>
              </a:spcAft>
            </a:pPr>
            <a:r>
              <a:rPr sz="1250" b="0" i="0">
                <a:solidFill>
                  <a:srgbClr val="14142B"/>
                </a:solidFill>
                <a:latin typeface="Calibri"/>
              </a:rPr>
              <a:t>With the whole catalog in its prompt, an LLM linked 13 wrong screens. Ours: 0 wrong, ~37× faster, no tokens.</a:t>
            </a:r>
          </a:p>
        </p:txBody>
      </p:sp>
      <p:sp>
        <p:nvSpPr>
          <p:cNvPr id="6" name="Rounded Rectangle 5"/>
          <p:cNvSpPr/>
          <p:nvPr/>
        </p:nvSpPr>
        <p:spPr>
          <a:xfrm>
            <a:off x="4407408" y="1417320"/>
            <a:ext cx="3383280" cy="1874519"/>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681728" y="1618488"/>
            <a:ext cx="2834640" cy="365760"/>
          </a:xfrm>
          <a:prstGeom prst="rect">
            <a:avLst/>
          </a:prstGeom>
          <a:noFill/>
        </p:spPr>
        <p:txBody>
          <a:bodyPr wrap="square" lIns="0" tIns="0" rIns="0" bIns="0" anchor="t">
            <a:spAutoFit/>
          </a:bodyPr>
          <a:lstStyle/>
          <a:p>
            <a:pPr algn="l">
              <a:spcAft>
                <a:spcPts val="400"/>
              </a:spcAft>
            </a:pPr>
            <a:r>
              <a:rPr sz="1500" b="1" i="0">
                <a:solidFill>
                  <a:srgbClr val="6D28D9"/>
                </a:solidFill>
                <a:latin typeface="Calibri"/>
              </a:rPr>
              <a:t>Every step traceable</a:t>
            </a:r>
          </a:p>
        </p:txBody>
      </p:sp>
      <p:sp>
        <p:nvSpPr>
          <p:cNvPr id="8" name="TextBox 7"/>
          <p:cNvSpPr txBox="1"/>
          <p:nvPr/>
        </p:nvSpPr>
        <p:spPr>
          <a:xfrm>
            <a:off x="4681728" y="2057400"/>
            <a:ext cx="2834640" cy="1188720"/>
          </a:xfrm>
          <a:prstGeom prst="rect">
            <a:avLst/>
          </a:prstGeom>
          <a:noFill/>
        </p:spPr>
        <p:txBody>
          <a:bodyPr wrap="square" lIns="0" tIns="0" rIns="0" bIns="0" anchor="t">
            <a:spAutoFit/>
          </a:bodyPr>
          <a:lstStyle/>
          <a:p>
            <a:pPr algn="l">
              <a:spcAft>
                <a:spcPts val="400"/>
              </a:spcAft>
            </a:pPr>
            <a:r>
              <a:rPr sz="1250" b="0" i="0">
                <a:solidFill>
                  <a:srgbClr val="14142B"/>
                </a:solidFill>
                <a:latin typeface="Calibri"/>
              </a:rPr>
              <a:t>Each step shows the SIIS sentence behind it; actions the reference doesn't support are removed.</a:t>
            </a:r>
          </a:p>
        </p:txBody>
      </p:sp>
      <p:sp>
        <p:nvSpPr>
          <p:cNvPr id="9" name="Rounded Rectangle 8"/>
          <p:cNvSpPr/>
          <p:nvPr/>
        </p:nvSpPr>
        <p:spPr>
          <a:xfrm>
            <a:off x="7973568" y="1417320"/>
            <a:ext cx="3383280" cy="1874519"/>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47888" y="1618488"/>
            <a:ext cx="2834640" cy="365760"/>
          </a:xfrm>
          <a:prstGeom prst="rect">
            <a:avLst/>
          </a:prstGeom>
          <a:noFill/>
        </p:spPr>
        <p:txBody>
          <a:bodyPr wrap="square" lIns="0" tIns="0" rIns="0" bIns="0" anchor="t">
            <a:spAutoFit/>
          </a:bodyPr>
          <a:lstStyle/>
          <a:p>
            <a:pPr algn="l">
              <a:spcAft>
                <a:spcPts val="400"/>
              </a:spcAft>
            </a:pPr>
            <a:r>
              <a:rPr sz="1500" b="1" i="0">
                <a:solidFill>
                  <a:srgbClr val="6D28D9"/>
                </a:solidFill>
                <a:latin typeface="Calibri"/>
              </a:rPr>
              <a:t>Multilingual</a:t>
            </a:r>
          </a:p>
        </p:txBody>
      </p:sp>
      <p:sp>
        <p:nvSpPr>
          <p:cNvPr id="11" name="TextBox 10"/>
          <p:cNvSpPr txBox="1"/>
          <p:nvPr/>
        </p:nvSpPr>
        <p:spPr>
          <a:xfrm>
            <a:off x="8247888" y="2057400"/>
            <a:ext cx="2834640" cy="577081"/>
          </a:xfrm>
          <a:prstGeom prst="rect">
            <a:avLst/>
          </a:prstGeom>
          <a:noFill/>
        </p:spPr>
        <p:txBody>
          <a:bodyPr wrap="square" lIns="0" tIns="0" rIns="0" bIns="0" anchor="t">
            <a:spAutoFit/>
          </a:bodyPr>
          <a:lstStyle/>
          <a:p>
            <a:pPr algn="l">
              <a:spcAft>
                <a:spcPts val="400"/>
              </a:spcAft>
            </a:pPr>
            <a:r>
              <a:rPr sz="1250" b="0" i="0" dirty="0">
                <a:solidFill>
                  <a:srgbClr val="14142B"/>
                </a:solidFill>
                <a:latin typeface="Calibri"/>
              </a:rPr>
              <a:t>Hindi, Korean and Hinglish complaints are answered; 0 of 55 English queries misrouted.</a:t>
            </a:r>
          </a:p>
        </p:txBody>
      </p:sp>
      <p:sp>
        <p:nvSpPr>
          <p:cNvPr id="12" name="Rounded Rectangle 11"/>
          <p:cNvSpPr/>
          <p:nvPr/>
        </p:nvSpPr>
        <p:spPr>
          <a:xfrm>
            <a:off x="841248" y="3520439"/>
            <a:ext cx="3383280" cy="1874519"/>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15568" y="3721607"/>
            <a:ext cx="2834640" cy="365760"/>
          </a:xfrm>
          <a:prstGeom prst="rect">
            <a:avLst/>
          </a:prstGeom>
          <a:noFill/>
        </p:spPr>
        <p:txBody>
          <a:bodyPr wrap="square" lIns="0" tIns="0" rIns="0" bIns="0" anchor="t">
            <a:spAutoFit/>
          </a:bodyPr>
          <a:lstStyle/>
          <a:p>
            <a:pPr algn="l">
              <a:spcAft>
                <a:spcPts val="400"/>
              </a:spcAft>
            </a:pPr>
            <a:r>
              <a:rPr sz="1500" b="1" i="0">
                <a:solidFill>
                  <a:srgbClr val="6D28D9"/>
                </a:solidFill>
                <a:latin typeface="Calibri"/>
              </a:rPr>
              <a:t>Samsung's rules in code</a:t>
            </a:r>
          </a:p>
        </p:txBody>
      </p:sp>
      <p:sp>
        <p:nvSpPr>
          <p:cNvPr id="14" name="TextBox 13"/>
          <p:cNvSpPr txBox="1"/>
          <p:nvPr/>
        </p:nvSpPr>
        <p:spPr>
          <a:xfrm>
            <a:off x="1115568" y="4160520"/>
            <a:ext cx="2834640" cy="1188720"/>
          </a:xfrm>
          <a:prstGeom prst="rect">
            <a:avLst/>
          </a:prstGeom>
          <a:noFill/>
        </p:spPr>
        <p:txBody>
          <a:bodyPr wrap="square" lIns="0" tIns="0" rIns="0" bIns="0" anchor="t">
            <a:spAutoFit/>
          </a:bodyPr>
          <a:lstStyle/>
          <a:p>
            <a:pPr algn="l">
              <a:spcAft>
                <a:spcPts val="400"/>
              </a:spcAft>
            </a:pPr>
            <a:r>
              <a:rPr sz="1250" b="0" i="0">
                <a:solidFill>
                  <a:srgbClr val="14142B"/>
                </a:solidFill>
                <a:latin typeface="Calibri"/>
              </a:rPr>
              <a:t>Spec categories, one interaction per step, 8–10 paraphrases and catalog-verbatim validation are enforced, not prompted.</a:t>
            </a:r>
          </a:p>
        </p:txBody>
      </p:sp>
      <p:sp>
        <p:nvSpPr>
          <p:cNvPr id="15" name="Rounded Rectangle 14"/>
          <p:cNvSpPr/>
          <p:nvPr/>
        </p:nvSpPr>
        <p:spPr>
          <a:xfrm>
            <a:off x="4407408" y="3520439"/>
            <a:ext cx="3383280" cy="1874519"/>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81728" y="3721607"/>
            <a:ext cx="2834640" cy="365760"/>
          </a:xfrm>
          <a:prstGeom prst="rect">
            <a:avLst/>
          </a:prstGeom>
          <a:noFill/>
        </p:spPr>
        <p:txBody>
          <a:bodyPr wrap="square" lIns="0" tIns="0" rIns="0" bIns="0" anchor="t">
            <a:spAutoFit/>
          </a:bodyPr>
          <a:lstStyle/>
          <a:p>
            <a:pPr algn="l">
              <a:spcAft>
                <a:spcPts val="400"/>
              </a:spcAft>
            </a:pPr>
            <a:r>
              <a:rPr sz="1500" b="1" i="0">
                <a:solidFill>
                  <a:srgbClr val="6D28D9"/>
                </a:solidFill>
                <a:latin typeface="Calibri"/>
              </a:rPr>
              <a:t>Honest by design</a:t>
            </a:r>
          </a:p>
        </p:txBody>
      </p:sp>
      <p:sp>
        <p:nvSpPr>
          <p:cNvPr id="17" name="TextBox 16"/>
          <p:cNvSpPr txBox="1"/>
          <p:nvPr/>
        </p:nvSpPr>
        <p:spPr>
          <a:xfrm>
            <a:off x="4681728" y="4160520"/>
            <a:ext cx="2834640" cy="1188720"/>
          </a:xfrm>
          <a:prstGeom prst="rect">
            <a:avLst/>
          </a:prstGeom>
          <a:noFill/>
        </p:spPr>
        <p:txBody>
          <a:bodyPr wrap="square" lIns="0" tIns="0" rIns="0" bIns="0" anchor="t">
            <a:spAutoFit/>
          </a:bodyPr>
          <a:lstStyle/>
          <a:p>
            <a:pPr algn="l">
              <a:spcAft>
                <a:spcPts val="400"/>
              </a:spcAft>
            </a:pPr>
            <a:r>
              <a:rPr sz="1250" b="0" i="0">
                <a:solidFill>
                  <a:srgbClr val="14142B"/>
                </a:solidFill>
                <a:latin typeface="Calibri"/>
              </a:rPr>
              <a:t>A null answer beats a wrong one: every abstention is named, explained and tested.</a:t>
            </a:r>
          </a:p>
        </p:txBody>
      </p:sp>
      <p:sp>
        <p:nvSpPr>
          <p:cNvPr id="18" name="Rounded Rectangle 17"/>
          <p:cNvSpPr/>
          <p:nvPr/>
        </p:nvSpPr>
        <p:spPr>
          <a:xfrm>
            <a:off x="7973568" y="3520439"/>
            <a:ext cx="3383280" cy="1874519"/>
          </a:xfrm>
          <a:prstGeom prst="roundRect">
            <a:avLst>
              <a:gd name="adj" fmla="val 6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47888" y="3721607"/>
            <a:ext cx="2834640" cy="365760"/>
          </a:xfrm>
          <a:prstGeom prst="rect">
            <a:avLst/>
          </a:prstGeom>
          <a:noFill/>
        </p:spPr>
        <p:txBody>
          <a:bodyPr wrap="square" lIns="0" tIns="0" rIns="0" bIns="0" anchor="t">
            <a:spAutoFit/>
          </a:bodyPr>
          <a:lstStyle/>
          <a:p>
            <a:pPr algn="l">
              <a:spcAft>
                <a:spcPts val="400"/>
              </a:spcAft>
            </a:pPr>
            <a:r>
              <a:rPr sz="1500" b="1" i="0">
                <a:solidFill>
                  <a:srgbClr val="6D28D9"/>
                </a:solidFill>
                <a:latin typeface="Calibri"/>
              </a:rPr>
              <a:t>Engineered, not demoed</a:t>
            </a:r>
          </a:p>
        </p:txBody>
      </p:sp>
      <p:sp>
        <p:nvSpPr>
          <p:cNvPr id="20" name="TextBox 19"/>
          <p:cNvSpPr txBox="1"/>
          <p:nvPr/>
        </p:nvSpPr>
        <p:spPr>
          <a:xfrm>
            <a:off x="8247888" y="4160520"/>
            <a:ext cx="2834640" cy="1188720"/>
          </a:xfrm>
          <a:prstGeom prst="rect">
            <a:avLst/>
          </a:prstGeom>
          <a:noFill/>
        </p:spPr>
        <p:txBody>
          <a:bodyPr wrap="square" lIns="0" tIns="0" rIns="0" bIns="0" anchor="t">
            <a:spAutoFit/>
          </a:bodyPr>
          <a:lstStyle/>
          <a:p>
            <a:pPr algn="l">
              <a:spcAft>
                <a:spcPts val="400"/>
              </a:spcAft>
            </a:pPr>
            <a:r>
              <a:rPr sz="1250" b="0" i="0">
                <a:solidFill>
                  <a:srgbClr val="14142B"/>
                </a:solidFill>
                <a:latin typeface="Calibri"/>
              </a:rPr>
              <a:t>373 offline tests, a 500-request load test (0 errors) and human review of 49 plans.</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sp>
        <p:nvSpPr>
          <p:cNvPr id="3" name="Content Placeholder 2">
            <a:extLst>
              <a:ext uri="{FF2B5EF4-FFF2-40B4-BE49-F238E27FC236}">
                <a16:creationId xmlns:a16="http://schemas.microsoft.com/office/drawing/2014/main" id="{DAB3E6F6-9D00-4480-90E6-EC3C876F2628}"/>
              </a:ext>
            </a:extLst>
          </p:cNvPr>
          <p:cNvSpPr>
            <a:spLocks noGrp="1"/>
          </p:cNvSpPr>
          <p:nvPr>
            <p:ph idx="1"/>
          </p:nvPr>
        </p:nvSpPr>
        <p:spPr/>
        <p:txBody>
          <a:bodyPr/>
          <a:lstStyle/>
          <a:p>
            <a:pPr marL="177800" indent="-177800">
              <a:spcAft>
                <a:spcPts val="500"/>
              </a:spcAft>
              <a:buSzPct val="100000"/>
              <a:buChar char="•"/>
            </a:pPr>
            <a:r>
              <a:rPr lang="en-US" sz="2800" dirty="0">
                <a:solidFill>
                  <a:srgbClr val="63637E"/>
                </a:solidFill>
                <a:latin typeface="Calibri" pitchFamily="34" charset="0"/>
                <a:ea typeface="Calibri" pitchFamily="34" charset="-122"/>
                <a:cs typeface="Calibri" pitchFamily="34" charset="-120"/>
              </a:rPr>
              <a:t>Working prototype code — public or shared GitHub repo — Y</a:t>
            </a:r>
            <a:endParaRPr lang="en-US" sz="2800" dirty="0"/>
          </a:p>
          <a:p>
            <a:pPr marL="177800" indent="-177800">
              <a:spcAft>
                <a:spcPts val="500"/>
              </a:spcAft>
              <a:buSzPct val="100000"/>
              <a:buChar char="•"/>
            </a:pPr>
            <a:r>
              <a:rPr lang="en-US" sz="2800" dirty="0">
                <a:solidFill>
                  <a:srgbClr val="63637E"/>
                </a:solidFill>
                <a:latin typeface="Calibri" pitchFamily="34" charset="0"/>
                <a:ea typeface="Calibri" pitchFamily="34" charset="-122"/>
                <a:cs typeface="Calibri" pitchFamily="34" charset="-120"/>
              </a:rPr>
              <a:t>README with reproducible setup instructions — Y</a:t>
            </a:r>
            <a:endParaRPr lang="en-US" sz="2800" dirty="0"/>
          </a:p>
          <a:p>
            <a:pPr marL="177800" indent="-177800">
              <a:spcAft>
                <a:spcPts val="500"/>
              </a:spcAft>
              <a:buSzPct val="100000"/>
            </a:pPr>
            <a:r>
              <a:rPr lang="en-US" sz="2800" dirty="0">
                <a:solidFill>
                  <a:srgbClr val="63637E"/>
                </a:solidFill>
                <a:latin typeface="Calibri" pitchFamily="34" charset="0"/>
                <a:ea typeface="Calibri" pitchFamily="34" charset="-122"/>
                <a:cs typeface="Calibri" pitchFamily="34" charset="-120"/>
              </a:rPr>
              <a:t>Demo video, max 5 minutes — </a:t>
            </a:r>
            <a:r>
              <a:rPr lang="en-US" dirty="0">
                <a:solidFill>
                  <a:srgbClr val="63637E"/>
                </a:solidFill>
                <a:latin typeface="Calibri" pitchFamily="34" charset="0"/>
                <a:ea typeface="Calibri" pitchFamily="34" charset="-122"/>
                <a:cs typeface="Calibri" pitchFamily="34" charset="-120"/>
              </a:rPr>
              <a:t>https://drive.google.com/file/d/10Exkw4bSvbSFb3ADYi13eaOImpLcP60E/view?usp=sharing</a:t>
            </a:r>
            <a:endParaRPr lang="en-US" sz="2800" dirty="0"/>
          </a:p>
          <a:p>
            <a:pPr marL="177800" indent="-177800">
              <a:spcAft>
                <a:spcPts val="500"/>
              </a:spcAft>
              <a:buSzPct val="100000"/>
              <a:buChar char="•"/>
            </a:pPr>
            <a:r>
              <a:rPr lang="en-US" sz="2800" dirty="0">
                <a:solidFill>
                  <a:srgbClr val="63637E"/>
                </a:solidFill>
                <a:latin typeface="Calibri" pitchFamily="34" charset="0"/>
                <a:ea typeface="Calibri" pitchFamily="34" charset="-122"/>
                <a:cs typeface="Calibri" pitchFamily="34" charset="-120"/>
              </a:rPr>
              <a:t>Presentation file (PPT or PDF) — Y</a:t>
            </a:r>
            <a:endParaRPr lang="en-US" sz="2800" dirty="0"/>
          </a:p>
          <a:p>
            <a:pPr marL="0" indent="0">
              <a:buNone/>
            </a:pPr>
            <a:endParaRPr lang="en-IN" dirty="0"/>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85</TotalTime>
  <Words>1443</Words>
  <Application>Microsoft Office PowerPoint</Application>
  <PresentationFormat>Widescreen</PresentationFormat>
  <Paragraphs>183</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Aaryaman Arora</cp:lastModifiedBy>
  <cp:revision>17</cp:revision>
  <dcterms:created xsi:type="dcterms:W3CDTF">2026-09-07T12:01:01Z</dcterms:created>
  <dcterms:modified xsi:type="dcterms:W3CDTF">2026-09-30T17:37:14Z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